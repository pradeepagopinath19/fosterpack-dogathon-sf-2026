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frame: this is not another shelter database. The pitch is that rescue</a:t>
            </a:r>
          </a:p>
          <a:p>
            <a:r>
              <a:t>capacity is a foster-supply problem, and nobody is building for the foster</a:t>
            </a:r>
          </a:p>
          <a:p>
            <a:r>
              <a:t>lifecycle. SFSPCA is tenant #1 and we replace PetPoint outright — that is a</a:t>
            </a:r>
          </a:p>
          <a:p>
            <a:r>
              <a:t>deliberate, load-bearing decision, not scope creep.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argument in four lines. If the audience only remembers one</a:t>
            </a:r>
          </a:p>
          <a:p>
            <a:r>
              <a:t>slide, make it this one. The move from "records product" to "capacity product"</a:t>
            </a:r>
          </a:p>
          <a:p>
            <a:r>
              <a:t>is what justifies replacing PetPoint rather than integrating with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 the room in the crisis before selling the product. The 30–50% non-return</a:t>
            </a:r>
          </a:p>
          <a:p>
            <a:r>
              <a:t>stat is the pivot: everything downstream in this deck attacks that number.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strategic reframe. Foster homes are free, elastic capacity sitting unused in</a:t>
            </a:r>
          </a:p>
          <a:p>
            <a:r>
              <a:t>the community. The constraint is operational, not physical — which means it is</a:t>
            </a:r>
          </a:p>
          <a:p>
            <a:r>
              <a:t>a software problem.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P1 is the highest-impact gap and the clearest place we create value. P2 is the</a:t>
            </a:r>
          </a:p>
          <a:p>
            <a:r>
              <a:t>reason we replace PetPoint rather than integrate — fragmentation is unsolvable</a:t>
            </a:r>
          </a:p>
          <a:p>
            <a:r>
              <a:t>while the official record lives in someone else's system.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operating map for the rest of the deck. Every product and AI slide</a:t>
            </a:r>
          </a:p>
          <a:p>
            <a:r>
              <a:t>that follows maps back to a row here. The three the customer named as priorities</a:t>
            </a:r>
          </a:p>
          <a:p>
            <a:r>
              <a:t>— onboarding, beginner retention, social acquisition — are rows 1, 2, 4 and 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the tension: beginners need more contact, experienced fosters need almost</a:t>
            </a:r>
          </a:p>
          <a:p>
            <a:r>
              <a:t>none. A single notification policy fails both. Tiered Care Programs (F2.1–F2.4)</a:t>
            </a:r>
          </a:p>
          <a:p>
            <a:r>
              <a:t>exist precisely to resolve that.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this literally, hour by hour. This is the emotional centre of the pitch and</a:t>
            </a:r>
          </a:p>
          <a:p>
            <a:r>
              <a:t>the clearest illustration that retention is an operations problem, not a</a:t>
            </a:r>
          </a:p>
          <a:p>
            <a:r>
              <a:t>sentiment problem.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that this is a modest-revenue, high-mission market. The credible</a:t>
            </a:r>
          </a:p>
          <a:p>
            <a:r>
              <a:t>financial story is nonprofit SaaS plus grant funding, and the credible strategic</a:t>
            </a:r>
          </a:p>
          <a:p>
            <a:r>
              <a:t>story is owning a behavioural dataset nobody else is collecting.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four is the one people underestimate: the social loop is the only</a:t>
            </a:r>
          </a:p>
          <a:p>
            <a:r>
              <a:t>acquisition channel a shelter can run at zero marginal staff cost, and it is</a:t>
            </a:r>
          </a:p>
          <a:p>
            <a:r>
              <a:t>currently entirely manual and entirely unmeasured.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to land. First, we do not win by out-featuring Shelterluv on records —</a:t>
            </a:r>
          </a:p>
          <a:p>
            <a:r>
              <a:t>we win by owning a lifecycle nobody addresses. Second, name spreadsheets as the</a:t>
            </a:r>
          </a:p>
          <a:p>
            <a:r>
              <a:t>real competitor; any shelter software pitch that ignores that is not credible.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column is deliberately unglamorous — it signals we understand we still have</a:t>
            </a:r>
          </a:p>
          <a:p>
            <a:r>
              <a:t>to do the boring records job properly. The right column is the moat, and the</a:t>
            </a:r>
          </a:p>
          <a:p>
            <a:r>
              <a:t>closing line is the investor-grade version of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Pillar 1 is the price of admission — it buys the right to own the record.</a:t>
            </a:r>
          </a:p>
          <a:p>
            <a:r>
              <a:t>Pillars 2–4 are where the capacity gains live.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guardrails if the room is sceptical. We are a system of record now,</a:t>
            </a:r>
          </a:p>
          <a:p>
            <a:r>
              <a:t>so nothing can depend on a model being up or being right. The kill-switch rule —</a:t>
            </a:r>
          </a:p>
          <a:p>
            <a:r>
              <a:t>reject more often than accept and it gets turned off, not tuned — is the line</a:t>
            </a:r>
          </a:p>
          <a:p>
            <a:r>
              <a:t>that earns trust.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proves the AI is not decoration. Each row is a named</a:t>
            </a:r>
          </a:p>
          <a:p>
            <a:r>
              <a:t>capability from the PRD pointed at a named leak from slide 6.</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explicit that the 85% is a model and the 40% is the commitment. Offering a</a:t>
            </a:r>
          </a:p>
          <a:p>
            <a:r>
              <a:t>number you will beat is more persuasive to shelter leadership than a number you</a:t>
            </a:r>
          </a:p>
          <a:p>
            <a:r>
              <a:t>have to defend.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loop to name out loud: freed coordinator time is reinvested in recruiting and</a:t>
            </a:r>
          </a:p>
          <a:p>
            <a:r>
              <a:t>supporting more fosters, which creates more capacity, which frees more time. That</a:t>
            </a:r>
          </a:p>
          <a:p>
            <a:r>
              <a:t>compounding is the business case.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Defend the Northstar choice. Adoptions is a lagging vanity metric we do not fully</a:t>
            </a:r>
          </a:p>
          <a:p>
            <a:r>
              <a:t>control. Foster Care Nights Delivered is the one number that moves only when all</a:t>
            </a:r>
          </a:p>
          <a:p>
            <a:r>
              <a:t>four levers — acquisition, onboarding, retention, leverage — are working.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to call out. Journalling adoption is the #1 launch KPI because if fosters do</a:t>
            </a:r>
          </a:p>
          <a:p>
            <a:r>
              <a:t>not journal, the intelligence layer has nothing to reason over and the whole</a:t>
            </a:r>
          </a:p>
          <a:p>
            <a:r>
              <a:t>thesis collapses. And the AI kill-switch threshold is a published commitment, not</a:t>
            </a:r>
          </a:p>
          <a:p>
            <a:r>
              <a:t>an internal guideline.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your working. Shelter leadership have seen enough vendor claims. Naming the</a:t>
            </a:r>
          </a:p>
          <a:p>
            <a:r>
              <a:t>assumptions and explicitly excluding the compounding effect from the headline</a:t>
            </a:r>
          </a:p>
          <a:p>
            <a:r>
              <a:t>number makes the +118 credible rather than promotional.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This is the emotional close of the analysis section before we move to</a:t>
            </a:r>
          </a:p>
          <a:p>
            <a:r>
              <a:t>sequencing and the ask.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forum legal and policy track starts at M1 even though the engineering lands</a:t>
            </a:r>
          </a:p>
          <a:p>
            <a:r>
              <a:t>at M6. That is the single most commonly mis-sequenced item in this plan.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Leading with risk builds credibility with shelter leadership, who have been sold</a:t>
            </a:r>
          </a:p>
          <a:p>
            <a:r>
              <a:t>to before. Every mitigation here is already specified in the PRD, not invented</a:t>
            </a:r>
          </a:p>
          <a:p>
            <a:r>
              <a:t>for the pitch.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ask, not on the product. The three items are concrete, ordered, and</a:t>
            </a:r>
          </a:p>
          <a:p>
            <a:r>
              <a:t>each one is a decision someone in the room can actually make.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F6E63"/>
              </a:gs>
              <a:gs pos="100000">
                <a:srgbClr val="073B35"/>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572768"/>
            <a:ext cx="10637215" cy="274320"/>
          </a:xfrm>
          <a:prstGeom prst="rect">
            <a:avLst/>
          </a:prstGeom>
          <a:noFill/>
        </p:spPr>
        <p:txBody>
          <a:bodyPr wrap="square" anchor="t" lIns="0" rIns="0" tIns="0" bIns="0">
            <a:spAutoFit/>
          </a:bodyPr>
          <a:lstStyle/>
          <a:p>
            <a:pPr algn="l">
              <a:lnSpc>
                <a:spcPct val="100000"/>
              </a:lnSpc>
            </a:pPr>
            <a:r>
              <a:rPr sz="1050" b="1" i="0" spc="190">
                <a:solidFill>
                  <a:srgbClr val="F0A544"/>
                </a:solidFill>
                <a:latin typeface="Segoe UI"/>
              </a:rPr>
              <a:t>SHELTER CAPACITY IS A FOSTER PROBLEM</a:t>
            </a:r>
          </a:p>
        </p:txBody>
      </p:sp>
      <p:sp>
        <p:nvSpPr>
          <p:cNvPr id="4" name="TextBox 3"/>
          <p:cNvSpPr txBox="1"/>
          <p:nvPr/>
        </p:nvSpPr>
        <p:spPr>
          <a:xfrm>
            <a:off x="777240" y="1938528"/>
            <a:ext cx="10637215" cy="1371600"/>
          </a:xfrm>
          <a:prstGeom prst="rect">
            <a:avLst/>
          </a:prstGeom>
          <a:noFill/>
        </p:spPr>
        <p:txBody>
          <a:bodyPr wrap="square" anchor="t" lIns="0" rIns="0" tIns="0" bIns="0">
            <a:spAutoFit/>
          </a:bodyPr>
          <a:lstStyle/>
          <a:p>
            <a:pPr algn="l">
              <a:lnSpc>
                <a:spcPct val="108000"/>
              </a:lnSpc>
            </a:pPr>
            <a:r>
              <a:rPr sz="6800" b="1" i="0">
                <a:solidFill>
                  <a:srgbClr val="FFFFFF"/>
                </a:solidFill>
                <a:latin typeface="Segoe UI"/>
              </a:rPr>
              <a:t>The Foster Pack</a:t>
            </a:r>
          </a:p>
        </p:txBody>
      </p:sp>
      <p:sp>
        <p:nvSpPr>
          <p:cNvPr id="5" name="TextBox 4"/>
          <p:cNvSpPr txBox="1"/>
          <p:nvPr/>
        </p:nvSpPr>
        <p:spPr>
          <a:xfrm>
            <a:off x="777240" y="3127248"/>
            <a:ext cx="8595360" cy="1280160"/>
          </a:xfrm>
          <a:prstGeom prst="rect">
            <a:avLst/>
          </a:prstGeom>
          <a:noFill/>
        </p:spPr>
        <p:txBody>
          <a:bodyPr wrap="square" anchor="t" lIns="0" rIns="0" tIns="0" bIns="0">
            <a:spAutoFit/>
          </a:bodyPr>
          <a:lstStyle/>
          <a:p>
            <a:pPr algn="l">
              <a:lnSpc>
                <a:spcPct val="145000"/>
              </a:lnSpc>
            </a:pPr>
            <a:r>
              <a:rPr sz="1750" b="0" i="0">
                <a:solidFill>
                  <a:srgbClr val="D9EEEA"/>
                </a:solidFill>
                <a:latin typeface="Segoe UI"/>
              </a:rPr>
              <a:t>A shelter system of record that grows foster capacity — by fixing onboarding, holding on to beginner fosters, and turning every placement into organic reach.</a:t>
            </a:r>
          </a:p>
        </p:txBody>
      </p:sp>
      <p:sp>
        <p:nvSpPr>
          <p:cNvPr id="6" name="Rectangle 5"/>
          <p:cNvSpPr/>
          <p:nvPr/>
        </p:nvSpPr>
        <p:spPr>
          <a:xfrm>
            <a:off x="777240" y="4617720"/>
            <a:ext cx="1920240" cy="38100"/>
          </a:xfrm>
          <a:prstGeom prst="rect">
            <a:avLst/>
          </a:prstGeom>
          <a:solidFill>
            <a:srgbClr val="F0A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892040"/>
            <a:ext cx="8595360" cy="822960"/>
          </a:xfrm>
          <a:prstGeom prst="rect">
            <a:avLst/>
          </a:prstGeom>
          <a:noFill/>
        </p:spPr>
        <p:txBody>
          <a:bodyPr wrap="square" anchor="t" lIns="0" rIns="0" tIns="0" bIns="0">
            <a:spAutoFit/>
          </a:bodyPr>
          <a:lstStyle/>
          <a:p>
            <a:pPr algn="l">
              <a:lnSpc>
                <a:spcPct val="140000"/>
              </a:lnSpc>
            </a:pPr>
            <a:r>
              <a:rPr sz="1150" b="0" i="0">
                <a:solidFill>
                  <a:srgbClr val="9FD8CF"/>
                </a:solidFill>
                <a:latin typeface="Segoe UI"/>
              </a:rPr>
              <a:t>Launch partner: San Francisco SPCA   ·   Replaces PetPoint as system of record   ·   PRD v0.1</a:t>
            </a:r>
          </a:p>
        </p:txBody>
      </p:sp>
      <p:sp>
        <p:nvSpPr>
          <p:cNvPr id="8" name="TextBox 7"/>
          <p:cNvSpPr txBox="1"/>
          <p:nvPr/>
        </p:nvSpPr>
        <p:spPr>
          <a:xfrm>
            <a:off x="777240" y="6345936"/>
            <a:ext cx="7315200" cy="274320"/>
          </a:xfrm>
          <a:prstGeom prst="rect">
            <a:avLst/>
          </a:prstGeom>
          <a:noFill/>
        </p:spPr>
        <p:txBody>
          <a:bodyPr wrap="square" anchor="t" lIns="0" rIns="0" tIns="0" bIns="0">
            <a:spAutoFit/>
          </a:bodyPr>
          <a:lstStyle/>
          <a:p>
            <a:pPr algn="l">
              <a:lnSpc>
                <a:spcPct val="100000"/>
              </a:lnSpc>
            </a:pPr>
            <a:r>
              <a:rPr sz="900" b="0" i="0">
                <a:solidFill>
                  <a:srgbClr val="FFFFFF"/>
                </a:solidFill>
                <a:latin typeface="Segoe UI"/>
              </a:rPr>
              <a:t>The Foster Pack  ·  Confidential</a:t>
            </a:r>
          </a:p>
        </p:txBody>
      </p:sp>
      <p:sp>
        <p:nvSpPr>
          <p:cNvPr id="9" name="TextBox 8"/>
          <p:cNvSpPr txBox="1"/>
          <p:nvPr/>
        </p:nvSpPr>
        <p:spPr>
          <a:xfrm>
            <a:off x="10515600" y="6345936"/>
            <a:ext cx="896112" cy="274320"/>
          </a:xfrm>
          <a:prstGeom prst="rect">
            <a:avLst/>
          </a:prstGeom>
          <a:noFill/>
        </p:spPr>
        <p:txBody>
          <a:bodyPr wrap="square" anchor="t" lIns="0" rIns="0" tIns="0" bIns="0">
            <a:spAutoFit/>
          </a:bodyPr>
          <a:lstStyle/>
          <a:p>
            <a:pPr algn="r">
              <a:lnSpc>
                <a:spcPct val="100000"/>
              </a:lnSpc>
            </a:pPr>
            <a:r>
              <a:rPr sz="900" b="1" i="0">
                <a:solidFill>
                  <a:srgbClr val="FFFFFF"/>
                </a:solidFill>
                <a:latin typeface="Segoe UI"/>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30352"/>
            <a:ext cx="10637215" cy="274320"/>
          </a:xfrm>
          <a:prstGeom prst="rect">
            <a:avLst/>
          </a:prstGeom>
          <a:noFill/>
        </p:spPr>
        <p:txBody>
          <a:bodyPr wrap="square" anchor="t" lIns="0" rIns="0" tIns="0" bIns="0">
            <a:spAutoFit/>
          </a:bodyPr>
          <a:lstStyle/>
          <a:p>
            <a:pPr algn="l">
              <a:lnSpc>
                <a:spcPct val="100000"/>
              </a:lnSpc>
            </a:pPr>
            <a:r>
              <a:rPr sz="1050" b="1" i="0" spc="190">
                <a:solidFill>
                  <a:srgbClr val="0F6E63"/>
                </a:solidFill>
                <a:latin typeface="Segoe UI"/>
              </a:rPr>
              <a:t>THE THESIS</a:t>
            </a:r>
          </a:p>
        </p:txBody>
      </p:sp>
      <p:sp>
        <p:nvSpPr>
          <p:cNvPr id="4" name="TextBox 3"/>
          <p:cNvSpPr txBox="1"/>
          <p:nvPr/>
        </p:nvSpPr>
        <p:spPr>
          <a:xfrm>
            <a:off x="777240" y="841248"/>
            <a:ext cx="10637215" cy="1371600"/>
          </a:xfrm>
          <a:prstGeom prst="rect">
            <a:avLst/>
          </a:prstGeom>
          <a:noFill/>
        </p:spPr>
        <p:txBody>
          <a:bodyPr wrap="square" anchor="t" lIns="0" rIns="0" tIns="0" bIns="0">
            <a:spAutoFit/>
          </a:bodyPr>
          <a:lstStyle/>
          <a:p>
            <a:pPr algn="l">
              <a:lnSpc>
                <a:spcPct val="108000"/>
              </a:lnSpc>
            </a:pPr>
            <a:r>
              <a:rPr sz="3400" b="1" i="0">
                <a:solidFill>
                  <a:srgbClr val="1B1614"/>
                </a:solidFill>
                <a:latin typeface="Segoe UI"/>
              </a:rPr>
              <a:t>Shelters can't build kennels fast enough.</a:t>
            </a:r>
          </a:p>
          <a:p>
            <a:pPr algn="l">
              <a:lnSpc>
                <a:spcPct val="108000"/>
              </a:lnSpc>
            </a:pPr>
            <a:r>
              <a:rPr sz="3400" b="1" i="0">
                <a:solidFill>
                  <a:srgbClr val="1B1614"/>
                </a:solidFill>
                <a:latin typeface="Segoe UI"/>
              </a:rPr>
              <a:t>They can build foster homes.</a:t>
            </a:r>
          </a:p>
        </p:txBody>
      </p:sp>
      <p:sp>
        <p:nvSpPr>
          <p:cNvPr id="5" name="TextBox 4"/>
          <p:cNvSpPr txBox="1"/>
          <p:nvPr/>
        </p:nvSpPr>
        <p:spPr>
          <a:xfrm>
            <a:off x="777240" y="2331720"/>
            <a:ext cx="502920" cy="320040"/>
          </a:xfrm>
          <a:prstGeom prst="rect">
            <a:avLst/>
          </a:prstGeom>
          <a:noFill/>
        </p:spPr>
        <p:txBody>
          <a:bodyPr wrap="square" anchor="t" lIns="0" rIns="0" tIns="0" bIns="0">
            <a:spAutoFit/>
          </a:bodyPr>
          <a:lstStyle/>
          <a:p>
            <a:pPr algn="l">
              <a:lnSpc>
                <a:spcPct val="100000"/>
              </a:lnSpc>
            </a:pPr>
            <a:r>
              <a:rPr sz="1300" b="1" i="0">
                <a:solidFill>
                  <a:srgbClr val="0F6E63"/>
                </a:solidFill>
                <a:latin typeface="Segoe UI"/>
              </a:rPr>
              <a:t>01</a:t>
            </a:r>
          </a:p>
        </p:txBody>
      </p:sp>
      <p:sp>
        <p:nvSpPr>
          <p:cNvPr id="6" name="TextBox 5"/>
          <p:cNvSpPr txBox="1"/>
          <p:nvPr/>
        </p:nvSpPr>
        <p:spPr>
          <a:xfrm>
            <a:off x="1344168" y="2304288"/>
            <a:ext cx="10070287" cy="320040"/>
          </a:xfrm>
          <a:prstGeom prst="rect">
            <a:avLst/>
          </a:prstGeom>
          <a:noFill/>
        </p:spPr>
        <p:txBody>
          <a:bodyPr wrap="square" anchor="t" lIns="0" rIns="0" tIns="0" bIns="0">
            <a:spAutoFit/>
          </a:bodyPr>
          <a:lstStyle/>
          <a:p>
            <a:pPr algn="l">
              <a:lnSpc>
                <a:spcPct val="120000"/>
              </a:lnSpc>
            </a:pPr>
            <a:r>
              <a:rPr sz="1400" b="1" i="0">
                <a:solidFill>
                  <a:srgbClr val="1B1614"/>
                </a:solidFill>
                <a:latin typeface="Segoe UI"/>
              </a:rPr>
              <a:t>Kennel capacity is fixed. Foster capacity is elastic — and badly run.</a:t>
            </a:r>
          </a:p>
        </p:txBody>
      </p:sp>
      <p:sp>
        <p:nvSpPr>
          <p:cNvPr id="7" name="TextBox 6"/>
          <p:cNvSpPr txBox="1"/>
          <p:nvPr/>
        </p:nvSpPr>
        <p:spPr>
          <a:xfrm>
            <a:off x="1344168" y="2569464"/>
            <a:ext cx="10070287" cy="457200"/>
          </a:xfrm>
          <a:prstGeom prst="rect">
            <a:avLst/>
          </a:prstGeom>
          <a:noFill/>
        </p:spPr>
        <p:txBody>
          <a:bodyPr wrap="square" anchor="t" lIns="0" rIns="0" tIns="0" bIns="0">
            <a:spAutoFit/>
          </a:bodyPr>
          <a:lstStyle/>
          <a:p>
            <a:pPr algn="l">
              <a:lnSpc>
                <a:spcPct val="134000"/>
              </a:lnSpc>
            </a:pPr>
            <a:r>
              <a:rPr sz="1050" b="0" i="0">
                <a:solidFill>
                  <a:srgbClr val="5A504A"/>
                </a:solidFill>
                <a:latin typeface="Segoe UI"/>
              </a:rPr>
              <a:t>Every shelter already has more willing fosters than it can onboard, match, and keep.</a:t>
            </a:r>
          </a:p>
        </p:txBody>
      </p:sp>
      <p:sp>
        <p:nvSpPr>
          <p:cNvPr id="8" name="TextBox 7"/>
          <p:cNvSpPr txBox="1"/>
          <p:nvPr/>
        </p:nvSpPr>
        <p:spPr>
          <a:xfrm>
            <a:off x="777240" y="3264408"/>
            <a:ext cx="502920" cy="320040"/>
          </a:xfrm>
          <a:prstGeom prst="rect">
            <a:avLst/>
          </a:prstGeom>
          <a:noFill/>
        </p:spPr>
        <p:txBody>
          <a:bodyPr wrap="square" anchor="t" lIns="0" rIns="0" tIns="0" bIns="0">
            <a:spAutoFit/>
          </a:bodyPr>
          <a:lstStyle/>
          <a:p>
            <a:pPr algn="l">
              <a:lnSpc>
                <a:spcPct val="100000"/>
              </a:lnSpc>
            </a:pPr>
            <a:r>
              <a:rPr sz="1300" b="1" i="0">
                <a:solidFill>
                  <a:srgbClr val="0F6E63"/>
                </a:solidFill>
                <a:latin typeface="Segoe UI"/>
              </a:rPr>
              <a:t>02</a:t>
            </a:r>
          </a:p>
        </p:txBody>
      </p:sp>
      <p:sp>
        <p:nvSpPr>
          <p:cNvPr id="9" name="TextBox 8"/>
          <p:cNvSpPr txBox="1"/>
          <p:nvPr/>
        </p:nvSpPr>
        <p:spPr>
          <a:xfrm>
            <a:off x="1344168" y="3236976"/>
            <a:ext cx="10070287" cy="320040"/>
          </a:xfrm>
          <a:prstGeom prst="rect">
            <a:avLst/>
          </a:prstGeom>
          <a:noFill/>
        </p:spPr>
        <p:txBody>
          <a:bodyPr wrap="square" anchor="t" lIns="0" rIns="0" tIns="0" bIns="0">
            <a:spAutoFit/>
          </a:bodyPr>
          <a:lstStyle/>
          <a:p>
            <a:pPr algn="l">
              <a:lnSpc>
                <a:spcPct val="120000"/>
              </a:lnSpc>
            </a:pPr>
            <a:r>
              <a:rPr sz="1400" b="1" i="0">
                <a:solidFill>
                  <a:srgbClr val="1B1614"/>
                </a:solidFill>
                <a:latin typeface="Segoe UI"/>
              </a:rPr>
              <a:t>The bottleneck isn't willingness. It's the first 72 hours.</a:t>
            </a:r>
          </a:p>
        </p:txBody>
      </p:sp>
      <p:sp>
        <p:nvSpPr>
          <p:cNvPr id="10" name="TextBox 9"/>
          <p:cNvSpPr txBox="1"/>
          <p:nvPr/>
        </p:nvSpPr>
        <p:spPr>
          <a:xfrm>
            <a:off x="1344168" y="3502152"/>
            <a:ext cx="10070287" cy="457200"/>
          </a:xfrm>
          <a:prstGeom prst="rect">
            <a:avLst/>
          </a:prstGeom>
          <a:noFill/>
        </p:spPr>
        <p:txBody>
          <a:bodyPr wrap="square" anchor="t" lIns="0" rIns="0" tIns="0" bIns="0">
            <a:spAutoFit/>
          </a:bodyPr>
          <a:lstStyle/>
          <a:p>
            <a:pPr algn="l">
              <a:lnSpc>
                <a:spcPct val="134000"/>
              </a:lnSpc>
            </a:pPr>
            <a:r>
              <a:rPr sz="1050" b="0" i="0">
                <a:solidFill>
                  <a:srgbClr val="5A504A"/>
                </a:solidFill>
                <a:latin typeface="Segoe UI"/>
              </a:rPr>
              <a:t>30–50% of new fosters never take a second placement. That is the capacity leak.</a:t>
            </a:r>
          </a:p>
        </p:txBody>
      </p:sp>
      <p:sp>
        <p:nvSpPr>
          <p:cNvPr id="11" name="TextBox 10"/>
          <p:cNvSpPr txBox="1"/>
          <p:nvPr/>
        </p:nvSpPr>
        <p:spPr>
          <a:xfrm>
            <a:off x="777240" y="4197096"/>
            <a:ext cx="502920" cy="320040"/>
          </a:xfrm>
          <a:prstGeom prst="rect">
            <a:avLst/>
          </a:prstGeom>
          <a:noFill/>
        </p:spPr>
        <p:txBody>
          <a:bodyPr wrap="square" anchor="t" lIns="0" rIns="0" tIns="0" bIns="0">
            <a:spAutoFit/>
          </a:bodyPr>
          <a:lstStyle/>
          <a:p>
            <a:pPr algn="l">
              <a:lnSpc>
                <a:spcPct val="100000"/>
              </a:lnSpc>
            </a:pPr>
            <a:r>
              <a:rPr sz="1300" b="1" i="0">
                <a:solidFill>
                  <a:srgbClr val="0F6E63"/>
                </a:solidFill>
                <a:latin typeface="Segoe UI"/>
              </a:rPr>
              <a:t>03</a:t>
            </a:r>
          </a:p>
        </p:txBody>
      </p:sp>
      <p:sp>
        <p:nvSpPr>
          <p:cNvPr id="12" name="TextBox 11"/>
          <p:cNvSpPr txBox="1"/>
          <p:nvPr/>
        </p:nvSpPr>
        <p:spPr>
          <a:xfrm>
            <a:off x="1344168" y="4169664"/>
            <a:ext cx="10070287" cy="320040"/>
          </a:xfrm>
          <a:prstGeom prst="rect">
            <a:avLst/>
          </a:prstGeom>
          <a:noFill/>
        </p:spPr>
        <p:txBody>
          <a:bodyPr wrap="square" anchor="t" lIns="0" rIns="0" tIns="0" bIns="0">
            <a:spAutoFit/>
          </a:bodyPr>
          <a:lstStyle/>
          <a:p>
            <a:pPr algn="l">
              <a:lnSpc>
                <a:spcPct val="120000"/>
              </a:lnSpc>
            </a:pPr>
            <a:r>
              <a:rPr sz="1400" b="1" i="0">
                <a:solidFill>
                  <a:srgbClr val="1B1614"/>
                </a:solidFill>
                <a:latin typeface="Segoe UI"/>
              </a:rPr>
              <a:t>No existing system owns the foster lifecycle.</a:t>
            </a:r>
          </a:p>
        </p:txBody>
      </p:sp>
      <p:sp>
        <p:nvSpPr>
          <p:cNvPr id="13" name="TextBox 12"/>
          <p:cNvSpPr txBox="1"/>
          <p:nvPr/>
        </p:nvSpPr>
        <p:spPr>
          <a:xfrm>
            <a:off x="1344168" y="4434840"/>
            <a:ext cx="10070287" cy="457200"/>
          </a:xfrm>
          <a:prstGeom prst="rect">
            <a:avLst/>
          </a:prstGeom>
          <a:noFill/>
        </p:spPr>
        <p:txBody>
          <a:bodyPr wrap="square" anchor="t" lIns="0" rIns="0" tIns="0" bIns="0">
            <a:spAutoFit/>
          </a:bodyPr>
          <a:lstStyle/>
          <a:p>
            <a:pPr algn="l">
              <a:lnSpc>
                <a:spcPct val="134000"/>
              </a:lnSpc>
            </a:pPr>
            <a:r>
              <a:rPr sz="1050" b="0" i="0">
                <a:solidFill>
                  <a:srgbClr val="5A504A"/>
                </a:solidFill>
                <a:latin typeface="Segoe UI"/>
              </a:rPr>
              <a:t>Incumbents model fostering as a status field on an animal record. It is a human retention problem.</a:t>
            </a:r>
          </a:p>
        </p:txBody>
      </p:sp>
      <p:sp>
        <p:nvSpPr>
          <p:cNvPr id="14" name="TextBox 13"/>
          <p:cNvSpPr txBox="1"/>
          <p:nvPr/>
        </p:nvSpPr>
        <p:spPr>
          <a:xfrm>
            <a:off x="777240" y="5129784"/>
            <a:ext cx="502920" cy="320040"/>
          </a:xfrm>
          <a:prstGeom prst="rect">
            <a:avLst/>
          </a:prstGeom>
          <a:noFill/>
        </p:spPr>
        <p:txBody>
          <a:bodyPr wrap="square" anchor="t" lIns="0" rIns="0" tIns="0" bIns="0">
            <a:spAutoFit/>
          </a:bodyPr>
          <a:lstStyle/>
          <a:p>
            <a:pPr algn="l">
              <a:lnSpc>
                <a:spcPct val="100000"/>
              </a:lnSpc>
            </a:pPr>
            <a:r>
              <a:rPr sz="1300" b="1" i="0">
                <a:solidFill>
                  <a:srgbClr val="0F6E63"/>
                </a:solidFill>
                <a:latin typeface="Segoe UI"/>
              </a:rPr>
              <a:t>04</a:t>
            </a:r>
          </a:p>
        </p:txBody>
      </p:sp>
      <p:sp>
        <p:nvSpPr>
          <p:cNvPr id="15" name="TextBox 14"/>
          <p:cNvSpPr txBox="1"/>
          <p:nvPr/>
        </p:nvSpPr>
        <p:spPr>
          <a:xfrm>
            <a:off x="1344168" y="5102352"/>
            <a:ext cx="10070287" cy="320040"/>
          </a:xfrm>
          <a:prstGeom prst="rect">
            <a:avLst/>
          </a:prstGeom>
          <a:noFill/>
        </p:spPr>
        <p:txBody>
          <a:bodyPr wrap="square" anchor="t" lIns="0" rIns="0" tIns="0" bIns="0">
            <a:spAutoFit/>
          </a:bodyPr>
          <a:lstStyle/>
          <a:p>
            <a:pPr algn="l">
              <a:lnSpc>
                <a:spcPct val="120000"/>
              </a:lnSpc>
            </a:pPr>
            <a:r>
              <a:rPr sz="1400" b="1" i="0">
                <a:solidFill>
                  <a:srgbClr val="1B1614"/>
                </a:solidFill>
                <a:latin typeface="Segoe UI"/>
              </a:rPr>
              <a:t>We own the record, so we can fix the funnel.</a:t>
            </a:r>
          </a:p>
        </p:txBody>
      </p:sp>
      <p:sp>
        <p:nvSpPr>
          <p:cNvPr id="16" name="TextBox 15"/>
          <p:cNvSpPr txBox="1"/>
          <p:nvPr/>
        </p:nvSpPr>
        <p:spPr>
          <a:xfrm>
            <a:off x="1344168" y="5367528"/>
            <a:ext cx="10070287" cy="457200"/>
          </a:xfrm>
          <a:prstGeom prst="rect">
            <a:avLst/>
          </a:prstGeom>
          <a:noFill/>
        </p:spPr>
        <p:txBody>
          <a:bodyPr wrap="square" anchor="t" lIns="0" rIns="0" tIns="0" bIns="0">
            <a:spAutoFit/>
          </a:bodyPr>
          <a:lstStyle/>
          <a:p>
            <a:pPr algn="l">
              <a:lnSpc>
                <a:spcPct val="134000"/>
              </a:lnSpc>
            </a:pPr>
            <a:r>
              <a:rPr sz="1050" b="0" i="0">
                <a:solidFill>
                  <a:srgbClr val="5A504A"/>
                </a:solidFill>
                <a:latin typeface="Segoe UI"/>
              </a:rPr>
              <a:t>Onboard in under 24 hours, coach beginners through week one, and turn each placement into recruitment reach.</a:t>
            </a:r>
          </a:p>
        </p:txBody>
      </p:sp>
      <p:sp>
        <p:nvSpPr>
          <p:cNvPr id="17" name="TextBox 16"/>
          <p:cNvSpPr txBox="1"/>
          <p:nvPr/>
        </p:nvSpPr>
        <p:spPr>
          <a:xfrm>
            <a:off x="777240" y="6345936"/>
            <a:ext cx="7315200" cy="274320"/>
          </a:xfrm>
          <a:prstGeom prst="rect">
            <a:avLst/>
          </a:prstGeom>
          <a:noFill/>
        </p:spPr>
        <p:txBody>
          <a:bodyPr wrap="square" anchor="t" lIns="0" rIns="0" tIns="0" bIns="0">
            <a:spAutoFit/>
          </a:bodyPr>
          <a:lstStyle/>
          <a:p>
            <a:pPr algn="l">
              <a:lnSpc>
                <a:spcPct val="100000"/>
              </a:lnSpc>
            </a:pPr>
            <a:r>
              <a:rPr sz="900" b="0" i="0">
                <a:solidFill>
                  <a:srgbClr val="7C6F66"/>
                </a:solidFill>
                <a:latin typeface="Segoe UI"/>
              </a:rPr>
              <a:t>The Foster Pack  ·  Confidential</a:t>
            </a:r>
          </a:p>
        </p:txBody>
      </p:sp>
      <p:sp>
        <p:nvSpPr>
          <p:cNvPr id="18" name="TextBox 17"/>
          <p:cNvSpPr txBox="1"/>
          <p:nvPr/>
        </p:nvSpPr>
        <p:spPr>
          <a:xfrm>
            <a:off x="10515600" y="6345936"/>
            <a:ext cx="896112" cy="274320"/>
          </a:xfrm>
          <a:prstGeom prst="rect">
            <a:avLst/>
          </a:prstGeom>
          <a:noFill/>
        </p:spPr>
        <p:txBody>
          <a:bodyPr wrap="square" anchor="t" lIns="0" rIns="0" tIns="0" bIns="0">
            <a:spAutoFit/>
          </a:bodyPr>
          <a:lstStyle/>
          <a:p>
            <a:pPr algn="r">
              <a:lnSpc>
                <a:spcPct val="100000"/>
              </a:lnSpc>
            </a:pPr>
            <a:r>
              <a:rPr sz="900" b="1" i="0">
                <a:solidFill>
                  <a:srgbClr val="7C6F66"/>
                </a:solidFill>
                <a:latin typeface="Segoe U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A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30352"/>
            <a:ext cx="10637215" cy="274320"/>
          </a:xfrm>
          <a:prstGeom prst="rect">
            <a:avLst/>
          </a:prstGeom>
          <a:noFill/>
        </p:spPr>
        <p:txBody>
          <a:bodyPr wrap="square" anchor="t" lIns="0" rIns="0" tIns="0" bIns="0">
            <a:spAutoFit/>
          </a:bodyPr>
          <a:lstStyle/>
          <a:p>
            <a:pPr algn="l">
              <a:lnSpc>
                <a:spcPct val="100000"/>
              </a:lnSpc>
            </a:pPr>
            <a:r>
              <a:rPr sz="1050" b="1" i="0" spc="190">
                <a:solidFill>
                  <a:srgbClr val="F0A544"/>
                </a:solidFill>
                <a:latin typeface="Segoe UI"/>
              </a:rPr>
              <a:t>THE CAPACITY CRISIS</a:t>
            </a:r>
          </a:p>
        </p:txBody>
      </p:sp>
      <p:sp>
        <p:nvSpPr>
          <p:cNvPr id="4" name="TextBox 3"/>
          <p:cNvSpPr txBox="1"/>
          <p:nvPr/>
        </p:nvSpPr>
        <p:spPr>
          <a:xfrm>
            <a:off x="777240" y="841248"/>
            <a:ext cx="10637215" cy="1371600"/>
          </a:xfrm>
          <a:prstGeom prst="rect">
            <a:avLst/>
          </a:prstGeom>
          <a:noFill/>
        </p:spPr>
        <p:txBody>
          <a:bodyPr wrap="square" anchor="t" lIns="0" rIns="0" tIns="0" bIns="0">
            <a:spAutoFit/>
          </a:bodyPr>
          <a:lstStyle/>
          <a:p>
            <a:pPr algn="l">
              <a:lnSpc>
                <a:spcPct val="108000"/>
              </a:lnSpc>
            </a:pPr>
            <a:r>
              <a:rPr sz="3800" b="1" i="0">
                <a:solidFill>
                  <a:srgbClr val="FFFFFF"/>
                </a:solidFill>
                <a:latin typeface="Segoe UI"/>
              </a:rPr>
              <a:t>5.8M animals entered US shelters last year.</a:t>
            </a:r>
          </a:p>
        </p:txBody>
      </p:sp>
      <p:sp>
        <p:nvSpPr>
          <p:cNvPr id="5" name="TextBox 4"/>
          <p:cNvSpPr txBox="1"/>
          <p:nvPr/>
        </p:nvSpPr>
        <p:spPr>
          <a:xfrm>
            <a:off x="777240" y="1810512"/>
            <a:ext cx="9692640" cy="914400"/>
          </a:xfrm>
          <a:prstGeom prst="rect">
            <a:avLst/>
          </a:prstGeom>
          <a:noFill/>
        </p:spPr>
        <p:txBody>
          <a:bodyPr wrap="square" anchor="t" lIns="0" rIns="0" tIns="0" bIns="0">
            <a:spAutoFit/>
          </a:bodyPr>
          <a:lstStyle/>
          <a:p>
            <a:pPr algn="l">
              <a:lnSpc>
                <a:spcPct val="142000"/>
              </a:lnSpc>
            </a:pPr>
            <a:r>
              <a:rPr sz="1450" b="0" i="0">
                <a:solidFill>
                  <a:srgbClr val="C9C1BA"/>
                </a:solidFill>
                <a:latin typeface="Segoe UI"/>
              </a:rPr>
              <a:t>Large dogs are staying longer than ever. A third of shelters are operating above practical capacity. Foster homes are the only way to make more room this quarter.</a:t>
            </a:r>
          </a:p>
        </p:txBody>
      </p:sp>
      <p:sp>
        <p:nvSpPr>
          <p:cNvPr id="6" name="Rounded Rectangle 5"/>
          <p:cNvSpPr/>
          <p:nvPr/>
        </p:nvSpPr>
        <p:spPr>
          <a:xfrm>
            <a:off x="777240" y="2999232"/>
            <a:ext cx="2487168" cy="2139696"/>
          </a:xfrm>
          <a:prstGeom prst="roundRect">
            <a:avLst>
              <a:gd name="adj" fmla="val 5000"/>
            </a:avLst>
          </a:prstGeom>
          <a:solidFill>
            <a:srgbClr val="1A17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3200400"/>
            <a:ext cx="2011680" cy="640080"/>
          </a:xfrm>
          <a:prstGeom prst="rect">
            <a:avLst/>
          </a:prstGeom>
          <a:noFill/>
        </p:spPr>
        <p:txBody>
          <a:bodyPr wrap="square" anchor="t" lIns="0" rIns="0" tIns="0" bIns="0">
            <a:spAutoFit/>
          </a:bodyPr>
          <a:lstStyle/>
          <a:p>
            <a:pPr algn="l">
              <a:lnSpc>
                <a:spcPct val="100000"/>
              </a:lnSpc>
            </a:pPr>
            <a:r>
              <a:rPr sz="3400" b="1" i="0">
                <a:solidFill>
                  <a:srgbClr val="F0A544"/>
                </a:solidFill>
                <a:latin typeface="Segoe UI"/>
              </a:rPr>
              <a:t>2.8M</a:t>
            </a:r>
          </a:p>
        </p:txBody>
      </p:sp>
      <p:sp>
        <p:nvSpPr>
          <p:cNvPr id="8" name="TextBox 7"/>
          <p:cNvSpPr txBox="1"/>
          <p:nvPr/>
        </p:nvSpPr>
        <p:spPr>
          <a:xfrm>
            <a:off x="1014984" y="3785616"/>
            <a:ext cx="2011680" cy="457200"/>
          </a:xfrm>
          <a:prstGeom prst="rect">
            <a:avLst/>
          </a:prstGeom>
          <a:noFill/>
        </p:spPr>
        <p:txBody>
          <a:bodyPr wrap="square" anchor="t" lIns="0" rIns="0" tIns="0" bIns="0">
            <a:spAutoFit/>
          </a:bodyPr>
          <a:lstStyle/>
          <a:p>
            <a:pPr algn="l">
              <a:lnSpc>
                <a:spcPct val="125000"/>
              </a:lnSpc>
            </a:pPr>
            <a:r>
              <a:rPr sz="1100" b="1" i="0">
                <a:solidFill>
                  <a:srgbClr val="FFFFFF"/>
                </a:solidFill>
                <a:latin typeface="Segoe UI"/>
              </a:rPr>
              <a:t>dogs entered US shelters</a:t>
            </a:r>
          </a:p>
        </p:txBody>
      </p:sp>
      <p:sp>
        <p:nvSpPr>
          <p:cNvPr id="9" name="TextBox 8"/>
          <p:cNvSpPr txBox="1"/>
          <p:nvPr/>
        </p:nvSpPr>
        <p:spPr>
          <a:xfrm>
            <a:off x="1014984" y="4572000"/>
            <a:ext cx="2011680" cy="457200"/>
          </a:xfrm>
          <a:prstGeom prst="rect">
            <a:avLst/>
          </a:prstGeom>
          <a:noFill/>
        </p:spPr>
        <p:txBody>
          <a:bodyPr wrap="square" anchor="t" lIns="0" rIns="0" tIns="0" bIns="0">
            <a:spAutoFit/>
          </a:bodyPr>
          <a:lstStyle/>
          <a:p>
            <a:pPr algn="l">
              <a:lnSpc>
                <a:spcPct val="128000"/>
              </a:lnSpc>
            </a:pPr>
            <a:r>
              <a:rPr sz="950" b="0" i="0">
                <a:solidFill>
                  <a:srgbClr val="938A82"/>
                </a:solidFill>
                <a:latin typeface="Segoe UI"/>
              </a:rPr>
              <a:t>Down 2% year over year</a:t>
            </a:r>
          </a:p>
        </p:txBody>
      </p:sp>
      <p:sp>
        <p:nvSpPr>
          <p:cNvPr id="10" name="Rounded Rectangle 9"/>
          <p:cNvSpPr/>
          <p:nvPr/>
        </p:nvSpPr>
        <p:spPr>
          <a:xfrm>
            <a:off x="3483864" y="2999232"/>
            <a:ext cx="2487168" cy="2139696"/>
          </a:xfrm>
          <a:prstGeom prst="roundRect">
            <a:avLst>
              <a:gd name="adj" fmla="val 5000"/>
            </a:avLst>
          </a:prstGeom>
          <a:solidFill>
            <a:srgbClr val="1A17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21608" y="3200400"/>
            <a:ext cx="2011680" cy="640080"/>
          </a:xfrm>
          <a:prstGeom prst="rect">
            <a:avLst/>
          </a:prstGeom>
          <a:noFill/>
        </p:spPr>
        <p:txBody>
          <a:bodyPr wrap="square" anchor="t" lIns="0" rIns="0" tIns="0" bIns="0">
            <a:spAutoFit/>
          </a:bodyPr>
          <a:lstStyle/>
          <a:p>
            <a:pPr algn="l">
              <a:lnSpc>
                <a:spcPct val="100000"/>
              </a:lnSpc>
            </a:pPr>
            <a:r>
              <a:rPr sz="3400" b="1" i="0">
                <a:solidFill>
                  <a:srgbClr val="F0A544"/>
                </a:solidFill>
                <a:latin typeface="Segoe UI"/>
              </a:rPr>
              <a:t>320K</a:t>
            </a:r>
          </a:p>
        </p:txBody>
      </p:sp>
      <p:sp>
        <p:nvSpPr>
          <p:cNvPr id="12" name="TextBox 11"/>
          <p:cNvSpPr txBox="1"/>
          <p:nvPr/>
        </p:nvSpPr>
        <p:spPr>
          <a:xfrm>
            <a:off x="3721608" y="3785616"/>
            <a:ext cx="2011680" cy="457200"/>
          </a:xfrm>
          <a:prstGeom prst="rect">
            <a:avLst/>
          </a:prstGeom>
          <a:noFill/>
        </p:spPr>
        <p:txBody>
          <a:bodyPr wrap="square" anchor="t" lIns="0" rIns="0" tIns="0" bIns="0">
            <a:spAutoFit/>
          </a:bodyPr>
          <a:lstStyle/>
          <a:p>
            <a:pPr algn="l">
              <a:lnSpc>
                <a:spcPct val="125000"/>
              </a:lnSpc>
            </a:pPr>
            <a:r>
              <a:rPr sz="1100" b="1" i="0">
                <a:solidFill>
                  <a:srgbClr val="FFFFFF"/>
                </a:solidFill>
                <a:latin typeface="Segoe UI"/>
              </a:rPr>
              <a:t>dogs euthanized annually</a:t>
            </a:r>
          </a:p>
        </p:txBody>
      </p:sp>
      <p:sp>
        <p:nvSpPr>
          <p:cNvPr id="13" name="TextBox 12"/>
          <p:cNvSpPr txBox="1"/>
          <p:nvPr/>
        </p:nvSpPr>
        <p:spPr>
          <a:xfrm>
            <a:off x="3721608" y="4572000"/>
            <a:ext cx="2011680" cy="457200"/>
          </a:xfrm>
          <a:prstGeom prst="rect">
            <a:avLst/>
          </a:prstGeom>
          <a:noFill/>
        </p:spPr>
        <p:txBody>
          <a:bodyPr wrap="square" anchor="t" lIns="0" rIns="0" tIns="0" bIns="0">
            <a:spAutoFit/>
          </a:bodyPr>
          <a:lstStyle/>
          <a:p>
            <a:pPr algn="l">
              <a:lnSpc>
                <a:spcPct val="128000"/>
              </a:lnSpc>
            </a:pPr>
            <a:r>
              <a:rPr sz="950" b="0" i="0">
                <a:solidFill>
                  <a:srgbClr val="938A82"/>
                </a:solidFill>
                <a:latin typeface="Segoe UI"/>
              </a:rPr>
              <a:t>Space and length-of-stay lead the causes</a:t>
            </a:r>
          </a:p>
        </p:txBody>
      </p:sp>
      <p:sp>
        <p:nvSpPr>
          <p:cNvPr id="14" name="Rounded Rectangle 13"/>
          <p:cNvSpPr/>
          <p:nvPr/>
        </p:nvSpPr>
        <p:spPr>
          <a:xfrm>
            <a:off x="6190488" y="2999232"/>
            <a:ext cx="2487168" cy="2139696"/>
          </a:xfrm>
          <a:prstGeom prst="roundRect">
            <a:avLst>
              <a:gd name="adj" fmla="val 5000"/>
            </a:avLst>
          </a:prstGeom>
          <a:solidFill>
            <a:srgbClr val="1A17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8232" y="3200400"/>
            <a:ext cx="2011680" cy="640080"/>
          </a:xfrm>
          <a:prstGeom prst="rect">
            <a:avLst/>
          </a:prstGeom>
          <a:noFill/>
        </p:spPr>
        <p:txBody>
          <a:bodyPr wrap="square" anchor="t" lIns="0" rIns="0" tIns="0" bIns="0">
            <a:spAutoFit/>
          </a:bodyPr>
          <a:lstStyle/>
          <a:p>
            <a:pPr algn="l">
              <a:lnSpc>
                <a:spcPct val="100000"/>
              </a:lnSpc>
            </a:pPr>
            <a:r>
              <a:rPr sz="3400" b="1" i="0">
                <a:solidFill>
                  <a:srgbClr val="F0A544"/>
                </a:solidFill>
                <a:latin typeface="Segoe UI"/>
              </a:rPr>
              <a:t>1 in 3</a:t>
            </a:r>
          </a:p>
        </p:txBody>
      </p:sp>
      <p:sp>
        <p:nvSpPr>
          <p:cNvPr id="16" name="TextBox 15"/>
          <p:cNvSpPr txBox="1"/>
          <p:nvPr/>
        </p:nvSpPr>
        <p:spPr>
          <a:xfrm>
            <a:off x="6428232" y="3785616"/>
            <a:ext cx="2011680" cy="457200"/>
          </a:xfrm>
          <a:prstGeom prst="rect">
            <a:avLst/>
          </a:prstGeom>
          <a:noFill/>
        </p:spPr>
        <p:txBody>
          <a:bodyPr wrap="square" anchor="t" lIns="0" rIns="0" tIns="0" bIns="0">
            <a:spAutoFit/>
          </a:bodyPr>
          <a:lstStyle/>
          <a:p>
            <a:pPr algn="l">
              <a:lnSpc>
                <a:spcPct val="125000"/>
              </a:lnSpc>
            </a:pPr>
            <a:r>
              <a:rPr sz="1100" b="1" i="0">
                <a:solidFill>
                  <a:srgbClr val="FFFFFF"/>
                </a:solidFill>
                <a:latin typeface="Segoe UI"/>
              </a:rPr>
              <a:t>shelters above capacity</a:t>
            </a:r>
          </a:p>
        </p:txBody>
      </p:sp>
      <p:sp>
        <p:nvSpPr>
          <p:cNvPr id="17" name="TextBox 16"/>
          <p:cNvSpPr txBox="1"/>
          <p:nvPr/>
        </p:nvSpPr>
        <p:spPr>
          <a:xfrm>
            <a:off x="6428232" y="4572000"/>
            <a:ext cx="2011680" cy="457200"/>
          </a:xfrm>
          <a:prstGeom prst="rect">
            <a:avLst/>
          </a:prstGeom>
          <a:noFill/>
        </p:spPr>
        <p:txBody>
          <a:bodyPr wrap="square" anchor="t" lIns="0" rIns="0" tIns="0" bIns="0">
            <a:spAutoFit/>
          </a:bodyPr>
          <a:lstStyle/>
          <a:p>
            <a:pPr algn="l">
              <a:lnSpc>
                <a:spcPct val="128000"/>
              </a:lnSpc>
            </a:pPr>
            <a:r>
              <a:rPr sz="950" b="0" i="0">
                <a:solidFill>
                  <a:srgbClr val="938A82"/>
                </a:solidFill>
                <a:latin typeface="Segoe UI"/>
              </a:rPr>
              <a:t>Despite 68% meeting no-kill benchmarks</a:t>
            </a:r>
          </a:p>
        </p:txBody>
      </p:sp>
      <p:sp>
        <p:nvSpPr>
          <p:cNvPr id="18" name="Rounded Rectangle 17"/>
          <p:cNvSpPr/>
          <p:nvPr/>
        </p:nvSpPr>
        <p:spPr>
          <a:xfrm>
            <a:off x="8897112" y="2999232"/>
            <a:ext cx="2487168" cy="2139696"/>
          </a:xfrm>
          <a:prstGeom prst="roundRect">
            <a:avLst>
              <a:gd name="adj" fmla="val 5000"/>
            </a:avLst>
          </a:prstGeom>
          <a:solidFill>
            <a:srgbClr val="1A17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4856" y="3200400"/>
            <a:ext cx="2011680" cy="640080"/>
          </a:xfrm>
          <a:prstGeom prst="rect">
            <a:avLst/>
          </a:prstGeom>
          <a:noFill/>
        </p:spPr>
        <p:txBody>
          <a:bodyPr wrap="square" anchor="t" lIns="0" rIns="0" tIns="0" bIns="0">
            <a:spAutoFit/>
          </a:bodyPr>
          <a:lstStyle/>
          <a:p>
            <a:pPr algn="l">
              <a:lnSpc>
                <a:spcPct val="100000"/>
              </a:lnSpc>
            </a:pPr>
            <a:r>
              <a:rPr sz="3400" b="1" i="0">
                <a:solidFill>
                  <a:srgbClr val="F0A544"/>
                </a:solidFill>
                <a:latin typeface="Segoe UI"/>
              </a:rPr>
              <a:t>30–50%</a:t>
            </a:r>
          </a:p>
        </p:txBody>
      </p:sp>
      <p:sp>
        <p:nvSpPr>
          <p:cNvPr id="20" name="TextBox 19"/>
          <p:cNvSpPr txBox="1"/>
          <p:nvPr/>
        </p:nvSpPr>
        <p:spPr>
          <a:xfrm>
            <a:off x="9134856" y="3785616"/>
            <a:ext cx="2011680" cy="457200"/>
          </a:xfrm>
          <a:prstGeom prst="rect">
            <a:avLst/>
          </a:prstGeom>
          <a:noFill/>
        </p:spPr>
        <p:txBody>
          <a:bodyPr wrap="square" anchor="t" lIns="0" rIns="0" tIns="0" bIns="0">
            <a:spAutoFit/>
          </a:bodyPr>
          <a:lstStyle/>
          <a:p>
            <a:pPr algn="l">
              <a:lnSpc>
                <a:spcPct val="125000"/>
              </a:lnSpc>
            </a:pPr>
            <a:r>
              <a:rPr sz="1100" b="1" i="0">
                <a:solidFill>
                  <a:srgbClr val="FFFFFF"/>
                </a:solidFill>
                <a:latin typeface="Segoe UI"/>
              </a:rPr>
              <a:t>of new fosters never return</a:t>
            </a:r>
          </a:p>
        </p:txBody>
      </p:sp>
      <p:sp>
        <p:nvSpPr>
          <p:cNvPr id="21" name="TextBox 20"/>
          <p:cNvSpPr txBox="1"/>
          <p:nvPr/>
        </p:nvSpPr>
        <p:spPr>
          <a:xfrm>
            <a:off x="9134856" y="4572000"/>
            <a:ext cx="2011680" cy="457200"/>
          </a:xfrm>
          <a:prstGeom prst="rect">
            <a:avLst/>
          </a:prstGeom>
          <a:noFill/>
        </p:spPr>
        <p:txBody>
          <a:bodyPr wrap="square" anchor="t" lIns="0" rIns="0" tIns="0" bIns="0">
            <a:spAutoFit/>
          </a:bodyPr>
          <a:lstStyle/>
          <a:p>
            <a:pPr algn="l">
              <a:lnSpc>
                <a:spcPct val="128000"/>
              </a:lnSpc>
            </a:pPr>
            <a:r>
              <a:rPr sz="950" b="0" i="0">
                <a:solidFill>
                  <a:srgbClr val="938A82"/>
                </a:solidFill>
                <a:latin typeface="Segoe UI"/>
              </a:rPr>
              <a:t>The single largest source of lost capacity</a:t>
            </a:r>
          </a:p>
        </p:txBody>
      </p:sp>
      <p:sp>
        <p:nvSpPr>
          <p:cNvPr id="22" name="TextBox 21"/>
          <p:cNvSpPr txBox="1"/>
          <p:nvPr/>
        </p:nvSpPr>
        <p:spPr>
          <a:xfrm>
            <a:off x="777240" y="6053328"/>
            <a:ext cx="10637215" cy="274320"/>
          </a:xfrm>
          <a:prstGeom prst="rect">
            <a:avLst/>
          </a:prstGeom>
          <a:noFill/>
        </p:spPr>
        <p:txBody>
          <a:bodyPr wrap="square" anchor="t" lIns="0" rIns="0" tIns="0" bIns="0">
            <a:spAutoFit/>
          </a:bodyPr>
          <a:lstStyle/>
          <a:p>
            <a:pPr algn="l">
              <a:lnSpc>
                <a:spcPct val="120000"/>
              </a:lnSpc>
            </a:pPr>
            <a:r>
              <a:rPr sz="900" b="0" i="1">
                <a:solidFill>
                  <a:srgbClr val="8A8179"/>
                </a:solidFill>
                <a:latin typeface="Segoe UI"/>
              </a:rPr>
              <a:t>Sources: Shelter Animals Count 2025 Annual Data Report · ASPCA US Animal Shelter Statistics · Best Friends 2025 National Shelter Data Report · Maddie's Fund foster turnover research.</a:t>
            </a:r>
          </a:p>
        </p:txBody>
      </p:sp>
      <p:sp>
        <p:nvSpPr>
          <p:cNvPr id="23" name="TextBox 22"/>
          <p:cNvSpPr txBox="1"/>
          <p:nvPr/>
        </p:nvSpPr>
        <p:spPr>
          <a:xfrm>
            <a:off x="777240" y="6345936"/>
            <a:ext cx="7315200" cy="274320"/>
          </a:xfrm>
          <a:prstGeom prst="rect">
            <a:avLst/>
          </a:prstGeom>
          <a:noFill/>
        </p:spPr>
        <p:txBody>
          <a:bodyPr wrap="square" anchor="t" lIns="0" rIns="0" tIns="0" bIns="0">
            <a:spAutoFit/>
          </a:bodyPr>
          <a:lstStyle/>
          <a:p>
            <a:pPr algn="l">
              <a:lnSpc>
                <a:spcPct val="100000"/>
              </a:lnSpc>
            </a:pPr>
            <a:r>
              <a:rPr sz="900" b="0" i="0">
                <a:solidFill>
                  <a:srgbClr val="FFFFFF"/>
                </a:solidFill>
                <a:latin typeface="Segoe UI"/>
              </a:rPr>
              <a:t>The Foster Pack  ·  Confidential</a:t>
            </a:r>
          </a:p>
        </p:txBody>
      </p:sp>
      <p:sp>
        <p:nvSpPr>
          <p:cNvPr id="24" name="TextBox 23"/>
          <p:cNvSpPr txBox="1"/>
          <p:nvPr/>
        </p:nvSpPr>
        <p:spPr>
          <a:xfrm>
            <a:off x="10515600" y="6345936"/>
            <a:ext cx="896112" cy="274320"/>
          </a:xfrm>
          <a:prstGeom prst="rect">
            <a:avLst/>
          </a:prstGeom>
          <a:noFill/>
        </p:spPr>
        <p:txBody>
          <a:bodyPr wrap="square" anchor="t" lIns="0" rIns="0" tIns="0" bIns="0">
            <a:spAutoFit/>
          </a:bodyPr>
          <a:lstStyle/>
          <a:p>
            <a:pPr algn="r">
              <a:lnSpc>
                <a:spcPct val="100000"/>
              </a:lnSpc>
            </a:pPr>
            <a:r>
              <a:rPr sz="900" b="1" i="0">
                <a:solidFill>
                  <a:srgbClr val="FFFFFF"/>
                </a:solidFill>
                <a:latin typeface="Segoe U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30352"/>
            <a:ext cx="10637215" cy="274320"/>
          </a:xfrm>
          <a:prstGeom prst="rect">
            <a:avLst/>
          </a:prstGeom>
          <a:noFill/>
        </p:spPr>
        <p:txBody>
          <a:bodyPr wrap="square" anchor="t" lIns="0" rIns="0" tIns="0" bIns="0">
            <a:spAutoFit/>
          </a:bodyPr>
          <a:lstStyle/>
          <a:p>
            <a:pPr algn="l">
              <a:lnSpc>
                <a:spcPct val="100000"/>
              </a:lnSpc>
            </a:pPr>
            <a:r>
              <a:rPr sz="1050" b="1" i="0" spc="190">
                <a:solidFill>
                  <a:srgbClr val="0F6E63"/>
                </a:solidFill>
                <a:latin typeface="Segoe UI"/>
              </a:rPr>
              <a:t>WHY FOSTER IS THE ONLY LEVER</a:t>
            </a:r>
          </a:p>
        </p:txBody>
      </p:sp>
      <p:sp>
        <p:nvSpPr>
          <p:cNvPr id="4" name="TextBox 3"/>
          <p:cNvSpPr txBox="1"/>
          <p:nvPr/>
        </p:nvSpPr>
        <p:spPr>
          <a:xfrm>
            <a:off x="777240" y="841248"/>
            <a:ext cx="10637215" cy="1371600"/>
          </a:xfrm>
          <a:prstGeom prst="rect">
            <a:avLst/>
          </a:prstGeom>
          <a:noFill/>
        </p:spPr>
        <p:txBody>
          <a:bodyPr wrap="square" anchor="t" lIns="0" rIns="0" tIns="0" bIns="0">
            <a:spAutoFit/>
          </a:bodyPr>
          <a:lstStyle/>
          <a:p>
            <a:pPr algn="l">
              <a:lnSpc>
                <a:spcPct val="108000"/>
              </a:lnSpc>
            </a:pPr>
            <a:r>
              <a:rPr sz="3600" b="1" i="0">
                <a:solidFill>
                  <a:srgbClr val="1B1614"/>
                </a:solidFill>
                <a:latin typeface="Segoe UI"/>
              </a:rPr>
              <a:t>Rescue capacity = kennels + foster homes.</a:t>
            </a:r>
          </a:p>
        </p:txBody>
      </p:sp>
      <p:sp>
        <p:nvSpPr>
          <p:cNvPr id="5" name="Rounded Rectangle 4"/>
          <p:cNvSpPr/>
          <p:nvPr/>
        </p:nvSpPr>
        <p:spPr>
          <a:xfrm>
            <a:off x="777240" y="2029968"/>
            <a:ext cx="5193792" cy="2487168"/>
          </a:xfrm>
          <a:prstGeom prst="roundRect">
            <a:avLst>
              <a:gd name="adj" fmla="val 5000"/>
            </a:avLst>
          </a:prstGeom>
          <a:solidFill>
            <a:srgbClr val="F0E7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 y="2286000"/>
            <a:ext cx="4572000" cy="365760"/>
          </a:xfrm>
          <a:prstGeom prst="rect">
            <a:avLst/>
          </a:prstGeom>
          <a:noFill/>
        </p:spPr>
        <p:txBody>
          <a:bodyPr wrap="square" anchor="t" lIns="0" rIns="0" tIns="0" bIns="0">
            <a:spAutoFit/>
          </a:bodyPr>
          <a:lstStyle/>
          <a:p>
            <a:pPr algn="l">
              <a:lnSpc>
                <a:spcPct val="100000"/>
              </a:lnSpc>
            </a:pPr>
            <a:r>
              <a:rPr sz="1050" b="1" i="0" spc="160">
                <a:solidFill>
                  <a:srgbClr val="C4553D"/>
                </a:solidFill>
                <a:latin typeface="Segoe UI"/>
              </a:rPr>
              <a:t>KENNELS — FIXED</a:t>
            </a:r>
          </a:p>
        </p:txBody>
      </p:sp>
      <p:sp>
        <p:nvSpPr>
          <p:cNvPr id="7" name="TextBox 6"/>
          <p:cNvSpPr txBox="1"/>
          <p:nvPr/>
        </p:nvSpPr>
        <p:spPr>
          <a:xfrm>
            <a:off x="1088136" y="2670048"/>
            <a:ext cx="4572000" cy="1737360"/>
          </a:xfrm>
          <a:prstGeom prst="rect">
            <a:avLst/>
          </a:prstGeom>
          <a:noFill/>
        </p:spPr>
        <p:txBody>
          <a:bodyPr wrap="square" anchor="t" lIns="0" rIns="0" tIns="0" bIns="0">
            <a:spAutoFit/>
          </a:bodyPr>
          <a:lstStyle/>
          <a:p>
            <a:pPr algn="l">
              <a:lnSpc>
                <a:spcPct val="145000"/>
              </a:lnSpc>
            </a:pPr>
            <a:r>
              <a:rPr sz="1300" b="0" i="0">
                <a:solidFill>
                  <a:srgbClr val="5A504A"/>
                </a:solidFill>
                <a:latin typeface="Segoe UI"/>
              </a:rPr>
              <a:t>Capital budget. Zoning. Construction. Hiring. Measured in years and millions of dollars.</a:t>
            </a:r>
          </a:p>
          <a:p>
            <a:pPr algn="l">
              <a:lnSpc>
                <a:spcPct val="145000"/>
              </a:lnSpc>
            </a:pPr>
            <a:r>
              <a:rPr sz="1300" b="0" i="0">
                <a:solidFill>
                  <a:srgbClr val="5A504A"/>
                </a:solidFill>
                <a:latin typeface="Segoe UI"/>
              </a:rPr>
              <a:t/>
            </a:r>
          </a:p>
          <a:p>
            <a:pPr algn="l">
              <a:lnSpc>
                <a:spcPct val="145000"/>
              </a:lnSpc>
            </a:pPr>
            <a:r>
              <a:rPr sz="1300" b="0" i="0">
                <a:solidFill>
                  <a:srgbClr val="5A504A"/>
                </a:solidFill>
                <a:latin typeface="Segoe UI"/>
              </a:rPr>
              <a:t>A building expansion cannot respond to a July intake surge.</a:t>
            </a:r>
          </a:p>
        </p:txBody>
      </p:sp>
      <p:sp>
        <p:nvSpPr>
          <p:cNvPr id="8" name="Rounded Rectangle 7"/>
          <p:cNvSpPr/>
          <p:nvPr/>
        </p:nvSpPr>
        <p:spPr>
          <a:xfrm>
            <a:off x="6236208" y="2029968"/>
            <a:ext cx="5193792" cy="2487168"/>
          </a:xfrm>
          <a:prstGeom prst="roundRect">
            <a:avLst>
              <a:gd name="adj" fmla="val 5000"/>
            </a:avLst>
          </a:prstGeom>
          <a:solidFill>
            <a:srgbClr val="0F6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47104" y="2286000"/>
            <a:ext cx="4572000" cy="365760"/>
          </a:xfrm>
          <a:prstGeom prst="rect">
            <a:avLst/>
          </a:prstGeom>
          <a:noFill/>
        </p:spPr>
        <p:txBody>
          <a:bodyPr wrap="square" anchor="t" lIns="0" rIns="0" tIns="0" bIns="0">
            <a:spAutoFit/>
          </a:bodyPr>
          <a:lstStyle/>
          <a:p>
            <a:pPr algn="l">
              <a:lnSpc>
                <a:spcPct val="100000"/>
              </a:lnSpc>
            </a:pPr>
            <a:r>
              <a:rPr sz="1050" b="1" i="0" spc="160">
                <a:solidFill>
                  <a:srgbClr val="9FD8CF"/>
                </a:solidFill>
                <a:latin typeface="Segoe UI"/>
              </a:rPr>
              <a:t>FOSTER HOMES — ELASTIC</a:t>
            </a:r>
          </a:p>
        </p:txBody>
      </p:sp>
      <p:sp>
        <p:nvSpPr>
          <p:cNvPr id="10" name="TextBox 9"/>
          <p:cNvSpPr txBox="1"/>
          <p:nvPr/>
        </p:nvSpPr>
        <p:spPr>
          <a:xfrm>
            <a:off x="6547104" y="2670048"/>
            <a:ext cx="4572000" cy="1737360"/>
          </a:xfrm>
          <a:prstGeom prst="rect">
            <a:avLst/>
          </a:prstGeom>
          <a:noFill/>
        </p:spPr>
        <p:txBody>
          <a:bodyPr wrap="square" anchor="t" lIns="0" rIns="0" tIns="0" bIns="0">
            <a:spAutoFit/>
          </a:bodyPr>
          <a:lstStyle/>
          <a:p>
            <a:pPr algn="l">
              <a:lnSpc>
                <a:spcPct val="145000"/>
              </a:lnSpc>
            </a:pPr>
            <a:r>
              <a:rPr sz="1300" b="0" i="0">
                <a:solidFill>
                  <a:srgbClr val="D9EEEA"/>
                </a:solidFill>
                <a:latin typeface="Segoe UI"/>
              </a:rPr>
              <a:t>Capacity that already exists, unused, inside the community. No capital cost.</a:t>
            </a:r>
          </a:p>
          <a:p>
            <a:pPr algn="l">
              <a:lnSpc>
                <a:spcPct val="145000"/>
              </a:lnSpc>
            </a:pPr>
            <a:r>
              <a:rPr sz="1300" b="0" i="0">
                <a:solidFill>
                  <a:srgbClr val="D9EEEA"/>
                </a:solidFill>
                <a:latin typeface="Segoe UI"/>
              </a:rPr>
              <a:t/>
            </a:r>
          </a:p>
          <a:p>
            <a:pPr algn="l">
              <a:lnSpc>
                <a:spcPct val="145000"/>
              </a:lnSpc>
            </a:pPr>
            <a:r>
              <a:rPr sz="1300" b="0" i="0">
                <a:solidFill>
                  <a:srgbClr val="D9EEEA"/>
                </a:solidFill>
                <a:latin typeface="Segoe UI"/>
              </a:rPr>
              <a:t>Activated in days — if onboarding, matching, and support actually work.</a:t>
            </a:r>
          </a:p>
        </p:txBody>
      </p:sp>
      <p:sp>
        <p:nvSpPr>
          <p:cNvPr id="11" name="Rounded Rectangle 10"/>
          <p:cNvSpPr/>
          <p:nvPr/>
        </p:nvSpPr>
        <p:spPr>
          <a:xfrm>
            <a:off x="777240" y="4736592"/>
            <a:ext cx="10637215" cy="1060704"/>
          </a:xfrm>
          <a:prstGeom prst="roundRect">
            <a:avLst>
              <a:gd name="adj" fmla="val 5000"/>
            </a:avLst>
          </a:prstGeom>
          <a:solidFill>
            <a:srgbClr val="FFFFFF"/>
          </a:solidFill>
          <a:ln w="12700">
            <a:solidFill>
              <a:srgbClr val="E4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4937760"/>
            <a:ext cx="9905695" cy="731520"/>
          </a:xfrm>
          <a:prstGeom prst="rect">
            <a:avLst/>
          </a:prstGeom>
          <a:noFill/>
        </p:spPr>
        <p:txBody>
          <a:bodyPr wrap="square" anchor="t" lIns="0" rIns="0" tIns="0" bIns="0">
            <a:spAutoFit/>
          </a:bodyPr>
          <a:lstStyle/>
          <a:p>
            <a:pPr algn="l">
              <a:lnSpc>
                <a:spcPct val="138000"/>
              </a:lnSpc>
            </a:pPr>
            <a:r>
              <a:rPr sz="1550" b="1" i="0">
                <a:solidFill>
                  <a:srgbClr val="1B1614"/>
                </a:solidFill>
                <a:latin typeface="Segoe UI"/>
              </a:rPr>
              <a:t>A shelter that adds 30 durable foster homes creates more usable capacity than a multi-million-dollar building expansion — and does it this quarter.</a:t>
            </a:r>
          </a:p>
        </p:txBody>
      </p:sp>
      <p:sp>
        <p:nvSpPr>
          <p:cNvPr id="13" name="TextBox 12"/>
          <p:cNvSpPr txBox="1"/>
          <p:nvPr/>
        </p:nvSpPr>
        <p:spPr>
          <a:xfrm>
            <a:off x="777240" y="6345936"/>
            <a:ext cx="7315200" cy="274320"/>
          </a:xfrm>
          <a:prstGeom prst="rect">
            <a:avLst/>
          </a:prstGeom>
          <a:noFill/>
        </p:spPr>
        <p:txBody>
          <a:bodyPr wrap="square" anchor="t" lIns="0" rIns="0" tIns="0" bIns="0">
            <a:spAutoFit/>
          </a:bodyPr>
          <a:lstStyle/>
          <a:p>
            <a:pPr algn="l">
              <a:lnSpc>
                <a:spcPct val="100000"/>
              </a:lnSpc>
            </a:pPr>
            <a:r>
              <a:rPr sz="900" b="0" i="0">
                <a:solidFill>
                  <a:srgbClr val="7C6F66"/>
                </a:solidFill>
                <a:latin typeface="Segoe UI"/>
              </a:rPr>
              <a:t>The Foster Pack  ·  Confidential</a:t>
            </a:r>
          </a:p>
        </p:txBody>
      </p:sp>
      <p:sp>
        <p:nvSpPr>
          <p:cNvPr id="14" name="TextBox 13"/>
          <p:cNvSpPr txBox="1"/>
          <p:nvPr/>
        </p:nvSpPr>
        <p:spPr>
          <a:xfrm>
            <a:off x="10515600" y="6345936"/>
            <a:ext cx="896112" cy="274320"/>
          </a:xfrm>
          <a:prstGeom prst="rect">
            <a:avLst/>
          </a:prstGeom>
          <a:noFill/>
        </p:spPr>
        <p:txBody>
          <a:bodyPr wrap="square" anchor="t" lIns="0" rIns="0" tIns="0" bIns="0">
            <a:spAutoFit/>
          </a:bodyPr>
          <a:lstStyle/>
          <a:p>
            <a:pPr algn="r">
              <a:lnSpc>
                <a:spcPct val="100000"/>
              </a:lnSpc>
            </a:pPr>
            <a:r>
              <a:rPr sz="900" b="1" i="0">
                <a:solidFill>
                  <a:srgbClr val="7C6F66"/>
                </a:solidFill>
                <a:latin typeface="Segoe U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30352"/>
            <a:ext cx="10637215" cy="274320"/>
          </a:xfrm>
          <a:prstGeom prst="rect">
            <a:avLst/>
          </a:prstGeom>
          <a:noFill/>
        </p:spPr>
        <p:txBody>
          <a:bodyPr wrap="square" anchor="t" lIns="0" rIns="0" tIns="0" bIns="0">
            <a:spAutoFit/>
          </a:bodyPr>
          <a:lstStyle/>
          <a:p>
            <a:pPr algn="l">
              <a:lnSpc>
                <a:spcPct val="100000"/>
              </a:lnSpc>
            </a:pPr>
            <a:r>
              <a:rPr sz="1050" b="1" i="0" spc="190">
                <a:solidFill>
                  <a:srgbClr val="0F6E63"/>
                </a:solidFill>
                <a:latin typeface="Segoe UI"/>
              </a:rPr>
              <a:t>KEY PROBLEM STATEMENT</a:t>
            </a:r>
          </a:p>
        </p:txBody>
      </p:sp>
      <p:sp>
        <p:nvSpPr>
          <p:cNvPr id="4" name="TextBox 3"/>
          <p:cNvSpPr txBox="1"/>
          <p:nvPr/>
        </p:nvSpPr>
        <p:spPr>
          <a:xfrm>
            <a:off x="777240" y="841248"/>
            <a:ext cx="10637215" cy="1371600"/>
          </a:xfrm>
          <a:prstGeom prst="rect">
            <a:avLst/>
          </a:prstGeom>
          <a:noFill/>
        </p:spPr>
        <p:txBody>
          <a:bodyPr wrap="square" anchor="t" lIns="0" rIns="0" tIns="0" bIns="0">
            <a:spAutoFit/>
          </a:bodyPr>
          <a:lstStyle/>
          <a:p>
            <a:pPr algn="l">
              <a:lnSpc>
                <a:spcPct val="108000"/>
              </a:lnSpc>
            </a:pPr>
            <a:r>
              <a:rPr sz="3600" b="1" i="0">
                <a:solidFill>
                  <a:srgbClr val="1B1614"/>
                </a:solidFill>
                <a:latin typeface="Segoe UI"/>
              </a:rPr>
              <a:t>Three compounding failures.</a:t>
            </a:r>
          </a:p>
        </p:txBody>
      </p:sp>
      <p:sp>
        <p:nvSpPr>
          <p:cNvPr id="5" name="TextBox 4"/>
          <p:cNvSpPr txBox="1"/>
          <p:nvPr/>
        </p:nvSpPr>
        <p:spPr>
          <a:xfrm>
            <a:off x="777240" y="1737360"/>
            <a:ext cx="9692640" cy="914400"/>
          </a:xfrm>
          <a:prstGeom prst="rect">
            <a:avLst/>
          </a:prstGeom>
          <a:noFill/>
        </p:spPr>
        <p:txBody>
          <a:bodyPr wrap="square" anchor="t" lIns="0" rIns="0" tIns="0" bIns="0">
            <a:spAutoFit/>
          </a:bodyPr>
          <a:lstStyle/>
          <a:p>
            <a:pPr algn="l">
              <a:lnSpc>
                <a:spcPct val="142000"/>
              </a:lnSpc>
            </a:pPr>
            <a:r>
              <a:rPr sz="1450" b="0" i="0">
                <a:solidFill>
                  <a:srgbClr val="5A504A"/>
                </a:solidFill>
                <a:latin typeface="Segoe UI"/>
              </a:rPr>
              <a:t>Each one makes the next worse. Together they cap how many dogs a shelter can move through foster care.</a:t>
            </a:r>
          </a:p>
        </p:txBody>
      </p:sp>
      <p:sp>
        <p:nvSpPr>
          <p:cNvPr id="6" name="Rounded Rectangle 5"/>
          <p:cNvSpPr/>
          <p:nvPr/>
        </p:nvSpPr>
        <p:spPr>
          <a:xfrm>
            <a:off x="777240" y="2395728"/>
            <a:ext cx="10637215" cy="1042415"/>
          </a:xfrm>
          <a:prstGeom prst="roundRect">
            <a:avLst>
              <a:gd name="adj" fmla="val 5000"/>
            </a:avLst>
          </a:prstGeom>
          <a:solidFill>
            <a:srgbClr val="FFFFFF"/>
          </a:solidFill>
          <a:ln w="12700">
            <a:solidFill>
              <a:srgbClr val="E4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51560" y="2670048"/>
            <a:ext cx="566928" cy="475488"/>
          </a:xfrm>
          <a:prstGeom prst="roundRect">
            <a:avLst>
              <a:gd name="adj" fmla="val 18000"/>
            </a:avLst>
          </a:prstGeom>
          <a:solidFill>
            <a:srgbClr val="C4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779776"/>
            <a:ext cx="566928" cy="274320"/>
          </a:xfrm>
          <a:prstGeom prst="rect">
            <a:avLst/>
          </a:prstGeom>
          <a:noFill/>
        </p:spPr>
        <p:txBody>
          <a:bodyPr wrap="square" anchor="t" lIns="0" rIns="0" tIns="0" bIns="0">
            <a:spAutoFit/>
          </a:bodyPr>
          <a:lstStyle/>
          <a:p>
            <a:pPr algn="ctr">
              <a:lnSpc>
                <a:spcPct val="100000"/>
              </a:lnSpc>
            </a:pPr>
            <a:r>
              <a:rPr sz="1300" b="1" i="0">
                <a:solidFill>
                  <a:srgbClr val="FFFFFF"/>
                </a:solidFill>
                <a:latin typeface="Segoe UI"/>
              </a:rPr>
              <a:t>P1</a:t>
            </a:r>
          </a:p>
        </p:txBody>
      </p:sp>
      <p:sp>
        <p:nvSpPr>
          <p:cNvPr id="9" name="TextBox 8"/>
          <p:cNvSpPr txBox="1"/>
          <p:nvPr/>
        </p:nvSpPr>
        <p:spPr>
          <a:xfrm>
            <a:off x="1783080" y="2578608"/>
            <a:ext cx="9265615" cy="292608"/>
          </a:xfrm>
          <a:prstGeom prst="rect">
            <a:avLst/>
          </a:prstGeom>
          <a:noFill/>
        </p:spPr>
        <p:txBody>
          <a:bodyPr wrap="square" anchor="t" lIns="0" rIns="0" tIns="0" bIns="0">
            <a:spAutoFit/>
          </a:bodyPr>
          <a:lstStyle/>
          <a:p>
            <a:pPr algn="l">
              <a:lnSpc>
                <a:spcPct val="115000"/>
              </a:lnSpc>
            </a:pPr>
            <a:r>
              <a:rPr sz="1400" b="1" i="0">
                <a:solidFill>
                  <a:srgbClr val="1B1614"/>
                </a:solidFill>
                <a:latin typeface="Segoe UI"/>
              </a:rPr>
              <a:t>There is no foster or volunteer database.</a:t>
            </a:r>
          </a:p>
        </p:txBody>
      </p:sp>
      <p:sp>
        <p:nvSpPr>
          <p:cNvPr id="10" name="TextBox 9"/>
          <p:cNvSpPr txBox="1"/>
          <p:nvPr/>
        </p:nvSpPr>
        <p:spPr>
          <a:xfrm>
            <a:off x="1783080" y="2880360"/>
            <a:ext cx="9265615" cy="548640"/>
          </a:xfrm>
          <a:prstGeom prst="rect">
            <a:avLst/>
          </a:prstGeom>
          <a:noFill/>
        </p:spPr>
        <p:txBody>
          <a:bodyPr wrap="square" anchor="t" lIns="0" rIns="0" tIns="0" bIns="0">
            <a:spAutoFit/>
          </a:bodyPr>
          <a:lstStyle/>
          <a:p>
            <a:pPr algn="l">
              <a:lnSpc>
                <a:spcPct val="134000"/>
              </a:lnSpc>
            </a:pPr>
            <a:r>
              <a:rPr sz="1019" b="0" i="0">
                <a:solidFill>
                  <a:srgbClr val="5A504A"/>
                </a:solidFill>
                <a:latin typeface="Segoe UI"/>
              </a:rPr>
              <a:t>No queryable roster of who is available, what they're qualified for, how far they'll travel, or how reliable they've been. Every placement and every unscheduled vet run is brokered by one exhausted human through group texts and memory.</a:t>
            </a:r>
          </a:p>
        </p:txBody>
      </p:sp>
      <p:sp>
        <p:nvSpPr>
          <p:cNvPr id="11" name="Rounded Rectangle 10"/>
          <p:cNvSpPr/>
          <p:nvPr/>
        </p:nvSpPr>
        <p:spPr>
          <a:xfrm>
            <a:off x="777240" y="3602736"/>
            <a:ext cx="10637215" cy="1042415"/>
          </a:xfrm>
          <a:prstGeom prst="roundRect">
            <a:avLst>
              <a:gd name="adj" fmla="val 5000"/>
            </a:avLst>
          </a:prstGeom>
          <a:solidFill>
            <a:srgbClr val="FFFFFF"/>
          </a:solidFill>
          <a:ln w="12700">
            <a:solidFill>
              <a:srgbClr val="E4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51560" y="3877056"/>
            <a:ext cx="566928" cy="475488"/>
          </a:xfrm>
          <a:prstGeom prst="roundRect">
            <a:avLst>
              <a:gd name="adj" fmla="val 18000"/>
            </a:avLst>
          </a:prstGeom>
          <a:solidFill>
            <a:srgbClr val="F0A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986784"/>
            <a:ext cx="566928" cy="274320"/>
          </a:xfrm>
          <a:prstGeom prst="rect">
            <a:avLst/>
          </a:prstGeom>
          <a:noFill/>
        </p:spPr>
        <p:txBody>
          <a:bodyPr wrap="square" anchor="t" lIns="0" rIns="0" tIns="0" bIns="0">
            <a:spAutoFit/>
          </a:bodyPr>
          <a:lstStyle/>
          <a:p>
            <a:pPr algn="ctr">
              <a:lnSpc>
                <a:spcPct val="100000"/>
              </a:lnSpc>
            </a:pPr>
            <a:r>
              <a:rPr sz="1300" b="1" i="0">
                <a:solidFill>
                  <a:srgbClr val="FFFFFF"/>
                </a:solidFill>
                <a:latin typeface="Segoe UI"/>
              </a:rPr>
              <a:t>P2</a:t>
            </a:r>
          </a:p>
        </p:txBody>
      </p:sp>
      <p:sp>
        <p:nvSpPr>
          <p:cNvPr id="14" name="TextBox 13"/>
          <p:cNvSpPr txBox="1"/>
          <p:nvPr/>
        </p:nvSpPr>
        <p:spPr>
          <a:xfrm>
            <a:off x="1783080" y="3785616"/>
            <a:ext cx="9265615" cy="292608"/>
          </a:xfrm>
          <a:prstGeom prst="rect">
            <a:avLst/>
          </a:prstGeom>
          <a:noFill/>
        </p:spPr>
        <p:txBody>
          <a:bodyPr wrap="square" anchor="t" lIns="0" rIns="0" tIns="0" bIns="0">
            <a:spAutoFit/>
          </a:bodyPr>
          <a:lstStyle/>
          <a:p>
            <a:pPr algn="l">
              <a:lnSpc>
                <a:spcPct val="115000"/>
              </a:lnSpc>
            </a:pPr>
            <a:r>
              <a:rPr sz="1400" b="1" i="0">
                <a:solidFill>
                  <a:srgbClr val="1B1614"/>
                </a:solidFill>
                <a:latin typeface="Segoe UI"/>
              </a:rPr>
              <a:t>The dog's story is fragmented across systems never built to hold it.</a:t>
            </a:r>
          </a:p>
        </p:txBody>
      </p:sp>
      <p:sp>
        <p:nvSpPr>
          <p:cNvPr id="15" name="TextBox 14"/>
          <p:cNvSpPr txBox="1"/>
          <p:nvPr/>
        </p:nvSpPr>
        <p:spPr>
          <a:xfrm>
            <a:off x="1783080" y="4087368"/>
            <a:ext cx="9265615" cy="548640"/>
          </a:xfrm>
          <a:prstGeom prst="rect">
            <a:avLst/>
          </a:prstGeom>
          <a:noFill/>
        </p:spPr>
        <p:txBody>
          <a:bodyPr wrap="square" anchor="t" lIns="0" rIns="0" tIns="0" bIns="0">
            <a:spAutoFit/>
          </a:bodyPr>
          <a:lstStyle/>
          <a:p>
            <a:pPr algn="l">
              <a:lnSpc>
                <a:spcPct val="134000"/>
              </a:lnSpc>
            </a:pPr>
            <a:r>
              <a:rPr sz="1019" b="0" i="0">
                <a:solidFill>
                  <a:srgbClr val="5A504A"/>
                </a:solidFill>
                <a:latin typeface="Segoe UI"/>
              </a:rPr>
              <a:t>PetPoint tracks intake and outcome. It has nowhere to put what the foster actually sees — she panics at skateboards, he settles instantly in a crate. That narrative is the strongest predictor of adoption fit, and it evaporates at every handoff.</a:t>
            </a:r>
          </a:p>
        </p:txBody>
      </p:sp>
      <p:sp>
        <p:nvSpPr>
          <p:cNvPr id="16" name="Rounded Rectangle 15"/>
          <p:cNvSpPr/>
          <p:nvPr/>
        </p:nvSpPr>
        <p:spPr>
          <a:xfrm>
            <a:off x="777240" y="4809744"/>
            <a:ext cx="10637215" cy="1042415"/>
          </a:xfrm>
          <a:prstGeom prst="roundRect">
            <a:avLst>
              <a:gd name="adj" fmla="val 5000"/>
            </a:avLst>
          </a:prstGeom>
          <a:solidFill>
            <a:srgbClr val="FFFFFF"/>
          </a:solidFill>
          <a:ln w="12700">
            <a:solidFill>
              <a:srgbClr val="E4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51560" y="5084064"/>
            <a:ext cx="566928" cy="475488"/>
          </a:xfrm>
          <a:prstGeom prst="roundRect">
            <a:avLst>
              <a:gd name="adj" fmla="val 18000"/>
            </a:avLst>
          </a:prstGeom>
          <a:solidFill>
            <a:srgbClr val="0F6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5193792"/>
            <a:ext cx="566928" cy="274320"/>
          </a:xfrm>
          <a:prstGeom prst="rect">
            <a:avLst/>
          </a:prstGeom>
          <a:noFill/>
        </p:spPr>
        <p:txBody>
          <a:bodyPr wrap="square" anchor="t" lIns="0" rIns="0" tIns="0" bIns="0">
            <a:spAutoFit/>
          </a:bodyPr>
          <a:lstStyle/>
          <a:p>
            <a:pPr algn="ctr">
              <a:lnSpc>
                <a:spcPct val="100000"/>
              </a:lnSpc>
            </a:pPr>
            <a:r>
              <a:rPr sz="1300" b="1" i="0">
                <a:solidFill>
                  <a:srgbClr val="FFFFFF"/>
                </a:solidFill>
                <a:latin typeface="Segoe UI"/>
              </a:rPr>
              <a:t>P3</a:t>
            </a:r>
          </a:p>
        </p:txBody>
      </p:sp>
      <p:sp>
        <p:nvSpPr>
          <p:cNvPr id="19" name="TextBox 18"/>
          <p:cNvSpPr txBox="1"/>
          <p:nvPr/>
        </p:nvSpPr>
        <p:spPr>
          <a:xfrm>
            <a:off x="1783080" y="4992624"/>
            <a:ext cx="9265615" cy="292608"/>
          </a:xfrm>
          <a:prstGeom prst="rect">
            <a:avLst/>
          </a:prstGeom>
          <a:noFill/>
        </p:spPr>
        <p:txBody>
          <a:bodyPr wrap="square" anchor="t" lIns="0" rIns="0" tIns="0" bIns="0">
            <a:spAutoFit/>
          </a:bodyPr>
          <a:lstStyle/>
          <a:p>
            <a:pPr algn="l">
              <a:lnSpc>
                <a:spcPct val="115000"/>
              </a:lnSpc>
            </a:pPr>
            <a:r>
              <a:rPr sz="1400" b="1" i="0">
                <a:solidFill>
                  <a:srgbClr val="1B1614"/>
                </a:solidFill>
                <a:latin typeface="Segoe UI"/>
              </a:rPr>
              <a:t>Institutional knowledge is never shared.</a:t>
            </a:r>
          </a:p>
        </p:txBody>
      </p:sp>
      <p:sp>
        <p:nvSpPr>
          <p:cNvPr id="20" name="TextBox 19"/>
          <p:cNvSpPr txBox="1"/>
          <p:nvPr/>
        </p:nvSpPr>
        <p:spPr>
          <a:xfrm>
            <a:off x="1783080" y="5294376"/>
            <a:ext cx="9265615" cy="548640"/>
          </a:xfrm>
          <a:prstGeom prst="rect">
            <a:avLst/>
          </a:prstGeom>
          <a:noFill/>
        </p:spPr>
        <p:txBody>
          <a:bodyPr wrap="square" anchor="t" lIns="0" rIns="0" tIns="0" bIns="0">
            <a:spAutoFit/>
          </a:bodyPr>
          <a:lstStyle/>
          <a:p>
            <a:pPr algn="l">
              <a:lnSpc>
                <a:spcPct val="134000"/>
              </a:lnSpc>
            </a:pPr>
            <a:r>
              <a:rPr sz="1019" b="0" i="0">
                <a:solidFill>
                  <a:srgbClr val="5A504A"/>
                </a:solidFill>
                <a:latin typeface="Segoe UI"/>
              </a:rPr>
              <a:t>A first-time foster whose dog starts sneezing at 9pm has no fast path to an answer. Experienced fosters, volunteers, and staff collectively know it — nothing connects them.</a:t>
            </a:r>
          </a:p>
        </p:txBody>
      </p:sp>
      <p:sp>
        <p:nvSpPr>
          <p:cNvPr id="21" name="TextBox 20"/>
          <p:cNvSpPr txBox="1"/>
          <p:nvPr/>
        </p:nvSpPr>
        <p:spPr>
          <a:xfrm>
            <a:off x="777240" y="6345936"/>
            <a:ext cx="7315200" cy="274320"/>
          </a:xfrm>
          <a:prstGeom prst="rect">
            <a:avLst/>
          </a:prstGeom>
          <a:noFill/>
        </p:spPr>
        <p:txBody>
          <a:bodyPr wrap="square" anchor="t" lIns="0" rIns="0" tIns="0" bIns="0">
            <a:spAutoFit/>
          </a:bodyPr>
          <a:lstStyle/>
          <a:p>
            <a:pPr algn="l">
              <a:lnSpc>
                <a:spcPct val="100000"/>
              </a:lnSpc>
            </a:pPr>
            <a:r>
              <a:rPr sz="900" b="0" i="0">
                <a:solidFill>
                  <a:srgbClr val="7C6F66"/>
                </a:solidFill>
                <a:latin typeface="Segoe UI"/>
              </a:rPr>
              <a:t>The Foster Pack  ·  Confidential</a:t>
            </a:r>
          </a:p>
        </p:txBody>
      </p:sp>
      <p:sp>
        <p:nvSpPr>
          <p:cNvPr id="22" name="TextBox 21"/>
          <p:cNvSpPr txBox="1"/>
          <p:nvPr/>
        </p:nvSpPr>
        <p:spPr>
          <a:xfrm>
            <a:off x="10515600" y="6345936"/>
            <a:ext cx="896112" cy="274320"/>
          </a:xfrm>
          <a:prstGeom prst="rect">
            <a:avLst/>
          </a:prstGeom>
          <a:noFill/>
        </p:spPr>
        <p:txBody>
          <a:bodyPr wrap="square" anchor="t" lIns="0" rIns="0" tIns="0" bIns="0">
            <a:spAutoFit/>
          </a:bodyPr>
          <a:lstStyle/>
          <a:p>
            <a:pPr algn="r">
              <a:lnSpc>
                <a:spcPct val="100000"/>
              </a:lnSpc>
            </a:pPr>
            <a:r>
              <a:rPr sz="900" b="1" i="0">
                <a:solidFill>
                  <a:srgbClr val="7C6F66"/>
                </a:solidFill>
                <a:latin typeface="Segoe U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30352"/>
            <a:ext cx="10637215" cy="274320"/>
          </a:xfrm>
          <a:prstGeom prst="rect">
            <a:avLst/>
          </a:prstGeom>
          <a:noFill/>
        </p:spPr>
        <p:txBody>
          <a:bodyPr wrap="square" anchor="t" lIns="0" rIns="0" tIns="0" bIns="0">
            <a:spAutoFit/>
          </a:bodyPr>
          <a:lstStyle/>
          <a:p>
            <a:pPr algn="l">
              <a:lnSpc>
                <a:spcPct val="100000"/>
              </a:lnSpc>
            </a:pPr>
            <a:r>
              <a:rPr sz="1050" b="1" i="0" spc="190">
                <a:solidFill>
                  <a:srgbClr val="0F6E63"/>
                </a:solidFill>
                <a:latin typeface="Segoe UI"/>
              </a:rPr>
              <a:t>WHERE CAPACITY IS LOST</a:t>
            </a:r>
          </a:p>
        </p:txBody>
      </p:sp>
      <p:sp>
        <p:nvSpPr>
          <p:cNvPr id="4" name="TextBox 3"/>
          <p:cNvSpPr txBox="1"/>
          <p:nvPr/>
        </p:nvSpPr>
        <p:spPr>
          <a:xfrm>
            <a:off x="777240" y="841248"/>
            <a:ext cx="10637215" cy="1371600"/>
          </a:xfrm>
          <a:prstGeom prst="rect">
            <a:avLst/>
          </a:prstGeom>
          <a:noFill/>
        </p:spPr>
        <p:txBody>
          <a:bodyPr wrap="square" anchor="t" lIns="0" rIns="0" tIns="0" bIns="0">
            <a:spAutoFit/>
          </a:bodyPr>
          <a:lstStyle/>
          <a:p>
            <a:pPr algn="l">
              <a:lnSpc>
                <a:spcPct val="108000"/>
              </a:lnSpc>
            </a:pPr>
            <a:r>
              <a:rPr sz="3600" b="1" i="0">
                <a:solidFill>
                  <a:srgbClr val="1B1614"/>
                </a:solidFill>
                <a:latin typeface="Segoe UI"/>
              </a:rPr>
              <a:t>The foster funnel leaks at every stage.</a:t>
            </a:r>
          </a:p>
        </p:txBody>
      </p:sp>
      <p:graphicFrame>
        <p:nvGraphicFramePr>
          <p:cNvPr id="5" name="Table 4"/>
          <p:cNvGraphicFramePr>
            <a:graphicFrameLocks noGrp="1"/>
          </p:cNvGraphicFramePr>
          <p:nvPr/>
        </p:nvGraphicFramePr>
        <p:xfrm>
          <a:off x="777240" y="1883664"/>
          <a:ext cx="10637215" cy="3767328"/>
        </p:xfrm>
        <a:graphic>
          <a:graphicData uri="http://schemas.openxmlformats.org/drawingml/2006/table">
            <a:tbl>
              <a:tblPr firstRow="0" bandRow="0">
                <a:tableStyleId>{2D5ABB26-0587-4C30-8999-92F81FD0307C}</a:tableStyleId>
              </a:tblPr>
              <a:tblGrid>
                <a:gridCol w="2057400"/>
                <a:gridCol w="4114800"/>
                <a:gridCol w="4465015"/>
              </a:tblGrid>
              <a:tr h="365760">
                <a:tc>
                  <a:txBody>
                    <a:bodyPr wrap="square"/>
                    <a:lstStyle/>
                    <a:p>
                      <a:pPr>
                        <a:lnSpc>
                          <a:spcPct val="120000"/>
                        </a:lnSpc>
                      </a:pPr>
                      <a:r>
                        <a:rPr sz="980" b="1">
                          <a:solidFill>
                            <a:srgbClr val="FFFFFF"/>
                          </a:solidFill>
                          <a:latin typeface="Segoe UI"/>
                        </a:rPr>
                        <a:t>Stage</a:t>
                      </a:r>
                    </a:p>
                  </a:txBody>
                  <a:tcPr marL="118872" marR="118872" marT="64008" marB="64008" anchor="ctr">
                    <a:solidFill>
                      <a:srgbClr val="0F6E63"/>
                    </a:solidFill>
                  </a:tcPr>
                </a:tc>
                <a:tc>
                  <a:txBody>
                    <a:bodyPr wrap="square"/>
                    <a:lstStyle/>
                    <a:p>
                      <a:pPr>
                        <a:lnSpc>
                          <a:spcPct val="120000"/>
                        </a:lnSpc>
                      </a:pPr>
                      <a:r>
                        <a:rPr sz="980" b="1">
                          <a:solidFill>
                            <a:srgbClr val="FFFFFF"/>
                          </a:solidFill>
                          <a:latin typeface="Segoe UI"/>
                        </a:rPr>
                        <a:t>What happens today</a:t>
                      </a:r>
                    </a:p>
                  </a:txBody>
                  <a:tcPr marL="118872" marR="118872" marT="64008" marB="64008" anchor="ctr">
                    <a:solidFill>
                      <a:srgbClr val="0F6E63"/>
                    </a:solidFill>
                  </a:tcPr>
                </a:tc>
                <a:tc>
                  <a:txBody>
                    <a:bodyPr wrap="square"/>
                    <a:lstStyle/>
                    <a:p>
                      <a:pPr>
                        <a:lnSpc>
                          <a:spcPct val="120000"/>
                        </a:lnSpc>
                      </a:pPr>
                      <a:r>
                        <a:rPr sz="980" b="1">
                          <a:solidFill>
                            <a:srgbClr val="FFFFFF"/>
                          </a:solidFill>
                          <a:latin typeface="Segoe UI"/>
                        </a:rPr>
                        <a:t>The leak</a:t>
                      </a:r>
                    </a:p>
                  </a:txBody>
                  <a:tcPr marL="118872" marR="118872" marT="64008" marB="64008" anchor="ctr">
                    <a:solidFill>
                      <a:srgbClr val="0F6E63"/>
                    </a:solidFill>
                  </a:tcPr>
                </a:tc>
              </a:tr>
              <a:tr h="566928">
                <a:tc>
                  <a:txBody>
                    <a:bodyPr wrap="square"/>
                    <a:lstStyle/>
                    <a:p>
                      <a:pPr>
                        <a:lnSpc>
                          <a:spcPct val="120000"/>
                        </a:lnSpc>
                      </a:pPr>
                      <a:r>
                        <a:rPr sz="980" b="1">
                          <a:solidFill>
                            <a:srgbClr val="1B1614"/>
                          </a:solidFill>
                          <a:latin typeface="Segoe UI"/>
                        </a:rPr>
                        <a:t>Acquisition</a:t>
                      </a:r>
                    </a:p>
                  </a:txBody>
                  <a:tcPr marL="118872" marR="118872" marT="64008" marB="64008" anchor="ctr">
                    <a:solidFill>
                      <a:srgbClr val="FFFFFF"/>
                    </a:solidFill>
                  </a:tcPr>
                </a:tc>
                <a:tc>
                  <a:txBody>
                    <a:bodyPr wrap="square"/>
                    <a:lstStyle/>
                    <a:p>
                      <a:pPr>
                        <a:lnSpc>
                          <a:spcPct val="120000"/>
                        </a:lnSpc>
                      </a:pPr>
                      <a:r>
                        <a:rPr sz="980" b="0">
                          <a:solidFill>
                            <a:srgbClr val="5A504A"/>
                          </a:solidFill>
                          <a:latin typeface="Segoe UI"/>
                        </a:rPr>
                        <a:t>Word of mouth, an occasional Instagram post, a table at an adoption event</a:t>
                      </a:r>
                    </a:p>
                  </a:txBody>
                  <a:tcPr marL="118872" marR="118872" marT="64008" marB="64008" anchor="ctr">
                    <a:solidFill>
                      <a:srgbClr val="FFFFFF"/>
                    </a:solidFill>
                  </a:tcPr>
                </a:tc>
                <a:tc>
                  <a:txBody>
                    <a:bodyPr wrap="square"/>
                    <a:lstStyle/>
                    <a:p>
                      <a:pPr>
                        <a:lnSpc>
                          <a:spcPct val="120000"/>
                        </a:lnSpc>
                      </a:pPr>
                      <a:r>
                        <a:rPr sz="980" b="0">
                          <a:solidFill>
                            <a:srgbClr val="5A504A"/>
                          </a:solidFill>
                          <a:latin typeface="Segoe UI"/>
                        </a:rPr>
                        <a:t>Shelters recruit from the same small pool. Reach is unmeasured and unowned.</a:t>
                      </a:r>
                    </a:p>
                  </a:txBody>
                  <a:tcPr marL="118872" marR="118872" marT="64008" marB="64008" anchor="ctr">
                    <a:solidFill>
                      <a:srgbClr val="FFFFFF"/>
                    </a:solidFill>
                  </a:tcPr>
                </a:tc>
              </a:tr>
              <a:tr h="566928">
                <a:tc>
                  <a:txBody>
                    <a:bodyPr wrap="square"/>
                    <a:lstStyle/>
                    <a:p>
                      <a:pPr>
                        <a:lnSpc>
                          <a:spcPct val="120000"/>
                        </a:lnSpc>
                      </a:pPr>
                      <a:r>
                        <a:rPr sz="980" b="1">
                          <a:solidFill>
                            <a:srgbClr val="1B1614"/>
                          </a:solidFill>
                          <a:latin typeface="Segoe UI"/>
                        </a:rPr>
                        <a:t>Application &amp; onboarding</a:t>
                      </a:r>
                    </a:p>
                  </a:txBody>
                  <a:tcPr marL="118872" marR="118872" marT="64008" marB="64008" anchor="ctr">
                    <a:solidFill>
                      <a:srgbClr val="F6F1E9"/>
                    </a:solidFill>
                  </a:tcPr>
                </a:tc>
                <a:tc>
                  <a:txBody>
                    <a:bodyPr wrap="square"/>
                    <a:lstStyle/>
                    <a:p>
                      <a:pPr>
                        <a:lnSpc>
                          <a:spcPct val="120000"/>
                        </a:lnSpc>
                      </a:pPr>
                      <a:r>
                        <a:rPr sz="980" b="0">
                          <a:solidFill>
                            <a:srgbClr val="5A504A"/>
                          </a:solidFill>
                          <a:latin typeface="Segoe UI"/>
                        </a:rPr>
                        <a:t>PDF packets, home checks, email tag, orientation scheduling</a:t>
                      </a:r>
                    </a:p>
                  </a:txBody>
                  <a:tcPr marL="118872" marR="118872" marT="64008" marB="64008" anchor="ctr">
                    <a:solidFill>
                      <a:srgbClr val="F6F1E9"/>
                    </a:solidFill>
                  </a:tcPr>
                </a:tc>
                <a:tc>
                  <a:txBody>
                    <a:bodyPr wrap="square"/>
                    <a:lstStyle/>
                    <a:p>
                      <a:pPr>
                        <a:lnSpc>
                          <a:spcPct val="120000"/>
                        </a:lnSpc>
                      </a:pPr>
                      <a:r>
                        <a:rPr sz="980" b="0">
                          <a:solidFill>
                            <a:srgbClr val="5A504A"/>
                          </a:solidFill>
                          <a:latin typeface="Segoe UI"/>
                        </a:rPr>
                        <a:t>Programs requiring home checks report ~74% fewer foster placements.</a:t>
                      </a:r>
                    </a:p>
                  </a:txBody>
                  <a:tcPr marL="118872" marR="118872" marT="64008" marB="64008" anchor="ctr">
                    <a:solidFill>
                      <a:srgbClr val="F6F1E9"/>
                    </a:solidFill>
                  </a:tcPr>
                </a:tc>
              </a:tr>
              <a:tr h="566928">
                <a:tc>
                  <a:txBody>
                    <a:bodyPr wrap="square"/>
                    <a:lstStyle/>
                    <a:p>
                      <a:pPr>
                        <a:lnSpc>
                          <a:spcPct val="120000"/>
                        </a:lnSpc>
                      </a:pPr>
                      <a:r>
                        <a:rPr sz="980" b="1">
                          <a:solidFill>
                            <a:srgbClr val="1B1614"/>
                          </a:solidFill>
                          <a:latin typeface="Segoe UI"/>
                        </a:rPr>
                        <a:t>First placement</a:t>
                      </a:r>
                    </a:p>
                  </a:txBody>
                  <a:tcPr marL="118872" marR="118872" marT="64008" marB="64008" anchor="ctr">
                    <a:solidFill>
                      <a:srgbClr val="FFFFFF"/>
                    </a:solidFill>
                  </a:tcPr>
                </a:tc>
                <a:tc>
                  <a:txBody>
                    <a:bodyPr wrap="square"/>
                    <a:lstStyle/>
                    <a:p>
                      <a:pPr>
                        <a:lnSpc>
                          <a:spcPct val="120000"/>
                        </a:lnSpc>
                      </a:pPr>
                      <a:r>
                        <a:rPr sz="980" b="0">
                          <a:solidFill>
                            <a:srgbClr val="5A504A"/>
                          </a:solidFill>
                          <a:latin typeface="Segoe UI"/>
                        </a:rPr>
                        <a:t>Approved fosters wait days to weeks for a match</a:t>
                      </a:r>
                    </a:p>
                  </a:txBody>
                  <a:tcPr marL="118872" marR="118872" marT="64008" marB="64008" anchor="ctr">
                    <a:solidFill>
                      <a:srgbClr val="FFFFFF"/>
                    </a:solidFill>
                  </a:tcPr>
                </a:tc>
                <a:tc>
                  <a:txBody>
                    <a:bodyPr wrap="square"/>
                    <a:lstStyle/>
                    <a:p>
                      <a:pPr>
                        <a:lnSpc>
                          <a:spcPct val="120000"/>
                        </a:lnSpc>
                      </a:pPr>
                      <a:r>
                        <a:rPr sz="980" b="0">
                          <a:solidFill>
                            <a:srgbClr val="5A504A"/>
                          </a:solidFill>
                          <a:latin typeface="Segoe UI"/>
                        </a:rPr>
                        <a:t>The fastest-growing foster programs match a new foster within 24 hours.</a:t>
                      </a:r>
                    </a:p>
                  </a:txBody>
                  <a:tcPr marL="118872" marR="118872" marT="64008" marB="64008" anchor="ctr">
                    <a:solidFill>
                      <a:srgbClr val="FFFFFF"/>
                    </a:solidFill>
                  </a:tcPr>
                </a:tc>
              </a:tr>
              <a:tr h="566928">
                <a:tc>
                  <a:txBody>
                    <a:bodyPr wrap="square"/>
                    <a:lstStyle/>
                    <a:p>
                      <a:pPr>
                        <a:lnSpc>
                          <a:spcPct val="120000"/>
                        </a:lnSpc>
                      </a:pPr>
                      <a:r>
                        <a:rPr sz="980" b="1">
                          <a:solidFill>
                            <a:srgbClr val="1B1614"/>
                          </a:solidFill>
                          <a:latin typeface="Segoe UI"/>
                        </a:rPr>
                        <a:t>First 72 hours</a:t>
                      </a:r>
                    </a:p>
                  </a:txBody>
                  <a:tcPr marL="118872" marR="118872" marT="64008" marB="64008" anchor="ctr">
                    <a:solidFill>
                      <a:srgbClr val="F6F1E9"/>
                    </a:solidFill>
                  </a:tcPr>
                </a:tc>
                <a:tc>
                  <a:txBody>
                    <a:bodyPr wrap="square"/>
                    <a:lstStyle/>
                    <a:p>
                      <a:pPr>
                        <a:lnSpc>
                          <a:spcPct val="120000"/>
                        </a:lnSpc>
                      </a:pPr>
                      <a:r>
                        <a:rPr sz="980" b="0">
                          <a:solidFill>
                            <a:srgbClr val="5A504A"/>
                          </a:solidFill>
                          <a:latin typeface="Segoe UI"/>
                        </a:rPr>
                        <a:t>Foster is alone with a frightened dog that won't eat</a:t>
                      </a:r>
                    </a:p>
                  </a:txBody>
                  <a:tcPr marL="118872" marR="118872" marT="64008" marB="64008" anchor="ctr">
                    <a:solidFill>
                      <a:srgbClr val="F6F1E9"/>
                    </a:solidFill>
                  </a:tcPr>
                </a:tc>
                <a:tc>
                  <a:txBody>
                    <a:bodyPr wrap="square"/>
                    <a:lstStyle/>
                    <a:p>
                      <a:pPr>
                        <a:lnSpc>
                          <a:spcPct val="120000"/>
                        </a:lnSpc>
                      </a:pPr>
                      <a:r>
                        <a:rPr sz="980" b="0">
                          <a:solidFill>
                            <a:srgbClr val="5A504A"/>
                          </a:solidFill>
                          <a:latin typeface="Segoe UI"/>
                        </a:rPr>
                        <a:t>The single highest churn moment. Nothing normalises a wobbly week one.</a:t>
                      </a:r>
                    </a:p>
                  </a:txBody>
                  <a:tcPr marL="118872" marR="118872" marT="64008" marB="64008" anchor="ctr">
                    <a:solidFill>
                      <a:srgbClr val="F6F1E9"/>
                    </a:solidFill>
                  </a:tcPr>
                </a:tc>
              </a:tr>
              <a:tr h="566928">
                <a:tc>
                  <a:txBody>
                    <a:bodyPr wrap="square"/>
                    <a:lstStyle/>
                    <a:p>
                      <a:pPr>
                        <a:lnSpc>
                          <a:spcPct val="120000"/>
                        </a:lnSpc>
                      </a:pPr>
                      <a:r>
                        <a:rPr sz="980" b="1">
                          <a:solidFill>
                            <a:srgbClr val="1B1614"/>
                          </a:solidFill>
                          <a:latin typeface="Segoe UI"/>
                        </a:rPr>
                        <a:t>Retention</a:t>
                      </a:r>
                    </a:p>
                  </a:txBody>
                  <a:tcPr marL="118872" marR="118872" marT="64008" marB="64008" anchor="ctr">
                    <a:solidFill>
                      <a:srgbClr val="FFFFFF"/>
                    </a:solidFill>
                  </a:tcPr>
                </a:tc>
                <a:tc>
                  <a:txBody>
                    <a:bodyPr wrap="square"/>
                    <a:lstStyle/>
                    <a:p>
                      <a:pPr>
                        <a:lnSpc>
                          <a:spcPct val="120000"/>
                        </a:lnSpc>
                      </a:pPr>
                      <a:r>
                        <a:rPr sz="980" b="0">
                          <a:solidFill>
                            <a:srgbClr val="5A504A"/>
                          </a:solidFill>
                          <a:latin typeface="Segoe UI"/>
                        </a:rPr>
                        <a:t>No structure after placement #1; contact is ad hoc or absent</a:t>
                      </a:r>
                    </a:p>
                  </a:txBody>
                  <a:tcPr marL="118872" marR="118872" marT="64008" marB="64008" anchor="ctr">
                    <a:solidFill>
                      <a:srgbClr val="FFFFFF"/>
                    </a:solidFill>
                  </a:tcPr>
                </a:tc>
                <a:tc>
                  <a:txBody>
                    <a:bodyPr wrap="square"/>
                    <a:lstStyle/>
                    <a:p>
                      <a:pPr>
                        <a:lnSpc>
                          <a:spcPct val="120000"/>
                        </a:lnSpc>
                      </a:pPr>
                      <a:r>
                        <a:rPr sz="980" b="0">
                          <a:solidFill>
                            <a:srgbClr val="5A504A"/>
                          </a:solidFill>
                          <a:latin typeface="Segoe UI"/>
                        </a:rPr>
                        <a:t>30–50% never foster again. Volunteer turnover runs 30–40% per year.</a:t>
                      </a:r>
                    </a:p>
                  </a:txBody>
                  <a:tcPr marL="118872" marR="118872" marT="64008" marB="64008" anchor="ctr">
                    <a:solidFill>
                      <a:srgbClr val="FFFFFF"/>
                    </a:solidFill>
                  </a:tcPr>
                </a:tc>
              </a:tr>
              <a:tr h="566928">
                <a:tc>
                  <a:txBody>
                    <a:bodyPr wrap="square"/>
                    <a:lstStyle/>
                    <a:p>
                      <a:pPr>
                        <a:lnSpc>
                          <a:spcPct val="120000"/>
                        </a:lnSpc>
                      </a:pPr>
                      <a:r>
                        <a:rPr sz="980" b="1">
                          <a:solidFill>
                            <a:srgbClr val="1B1614"/>
                          </a:solidFill>
                          <a:latin typeface="Segoe UI"/>
                        </a:rPr>
                        <a:t>Experienced fosters</a:t>
                      </a:r>
                    </a:p>
                  </a:txBody>
                  <a:tcPr marL="118872" marR="118872" marT="64008" marB="64008" anchor="ctr">
                    <a:solidFill>
                      <a:srgbClr val="F6F1E9"/>
                    </a:solidFill>
                  </a:tcPr>
                </a:tc>
                <a:tc>
                  <a:txBody>
                    <a:bodyPr wrap="square"/>
                    <a:lstStyle/>
                    <a:p>
                      <a:pPr>
                        <a:lnSpc>
                          <a:spcPct val="120000"/>
                        </a:lnSpc>
                      </a:pPr>
                      <a:r>
                        <a:rPr sz="980" b="0">
                          <a:solidFill>
                            <a:srgbClr val="5A504A"/>
                          </a:solidFill>
                          <a:latin typeface="Segoe UI"/>
                        </a:rPr>
                        <a:t>Broadcast texts and bulk email to everyone, always</a:t>
                      </a:r>
                    </a:p>
                  </a:txBody>
                  <a:tcPr marL="118872" marR="118872" marT="64008" marB="64008" anchor="ctr">
                    <a:solidFill>
                      <a:srgbClr val="F6F1E9"/>
                    </a:solidFill>
                  </a:tcPr>
                </a:tc>
                <a:tc>
                  <a:txBody>
                    <a:bodyPr wrap="square"/>
                    <a:lstStyle/>
                    <a:p>
                      <a:pPr>
                        <a:lnSpc>
                          <a:spcPct val="120000"/>
                        </a:lnSpc>
                      </a:pPr>
                      <a:r>
                        <a:rPr sz="980" b="0">
                          <a:solidFill>
                            <a:srgbClr val="5A504A"/>
                          </a:solidFill>
                          <a:latin typeface="Segoe UI"/>
                        </a:rPr>
                        <a:t>Over-notification is the top churn risk for the fosters you can least afford to lose.</a:t>
                      </a:r>
                    </a:p>
                  </a:txBody>
                  <a:tcPr marL="118872" marR="118872" marT="64008" marB="64008" anchor="ctr">
                    <a:solidFill>
                      <a:srgbClr val="F6F1E9"/>
                    </a:solidFill>
                  </a:tcPr>
                </a:tc>
              </a:tr>
            </a:tbl>
          </a:graphicData>
        </a:graphic>
      </p:graphicFrame>
      <p:sp>
        <p:nvSpPr>
          <p:cNvPr id="6" name="TextBox 5"/>
          <p:cNvSpPr txBox="1"/>
          <p:nvPr/>
        </p:nvSpPr>
        <p:spPr>
          <a:xfrm>
            <a:off x="777240" y="6053328"/>
            <a:ext cx="10637215" cy="274320"/>
          </a:xfrm>
          <a:prstGeom prst="rect">
            <a:avLst/>
          </a:prstGeom>
          <a:noFill/>
        </p:spPr>
        <p:txBody>
          <a:bodyPr wrap="square" anchor="t" lIns="0" rIns="0" tIns="0" bIns="0">
            <a:spAutoFit/>
          </a:bodyPr>
          <a:lstStyle/>
          <a:p>
            <a:pPr algn="l">
              <a:lnSpc>
                <a:spcPct val="120000"/>
              </a:lnSpc>
            </a:pPr>
            <a:r>
              <a:rPr sz="900" b="0" i="1">
                <a:solidFill>
                  <a:srgbClr val="7C6F66"/>
                </a:solidFill>
                <a:latin typeface="Segoe UI"/>
              </a:rPr>
              <a:t>Sources: Maddie's Fund National Foster Survey and foster caregiver turnover study · Journal of Applied Animal Welfare Science (2024), Dog Foster Volunteer Retention.</a:t>
            </a:r>
          </a:p>
        </p:txBody>
      </p:sp>
      <p:sp>
        <p:nvSpPr>
          <p:cNvPr id="7" name="TextBox 6"/>
          <p:cNvSpPr txBox="1"/>
          <p:nvPr/>
        </p:nvSpPr>
        <p:spPr>
          <a:xfrm>
            <a:off x="777240" y="6345936"/>
            <a:ext cx="7315200" cy="274320"/>
          </a:xfrm>
          <a:prstGeom prst="rect">
            <a:avLst/>
          </a:prstGeom>
          <a:noFill/>
        </p:spPr>
        <p:txBody>
          <a:bodyPr wrap="square" anchor="t" lIns="0" rIns="0" tIns="0" bIns="0">
            <a:spAutoFit/>
          </a:bodyPr>
          <a:lstStyle/>
          <a:p>
            <a:pPr algn="l">
              <a:lnSpc>
                <a:spcPct val="100000"/>
              </a:lnSpc>
            </a:pPr>
            <a:r>
              <a:rPr sz="900" b="0" i="0">
                <a:solidFill>
                  <a:srgbClr val="7C6F66"/>
                </a:solidFill>
                <a:latin typeface="Segoe UI"/>
              </a:rPr>
              <a:t>The Foster Pack  ·  Confidential</a:t>
            </a:r>
          </a:p>
        </p:txBody>
      </p:sp>
      <p:sp>
        <p:nvSpPr>
          <p:cNvPr id="8" name="TextBox 7"/>
          <p:cNvSpPr txBox="1"/>
          <p:nvPr/>
        </p:nvSpPr>
        <p:spPr>
          <a:xfrm>
            <a:off x="10515600" y="6345936"/>
            <a:ext cx="896112" cy="274320"/>
          </a:xfrm>
          <a:prstGeom prst="rect">
            <a:avLst/>
          </a:prstGeom>
          <a:noFill/>
        </p:spPr>
        <p:txBody>
          <a:bodyPr wrap="square" anchor="t" lIns="0" rIns="0" tIns="0" bIns="0">
            <a:spAutoFit/>
          </a:bodyPr>
          <a:lstStyle/>
          <a:p>
            <a:pPr algn="r">
              <a:lnSpc>
                <a:spcPct val="100000"/>
              </a:lnSpc>
            </a:pPr>
            <a:r>
              <a:rPr sz="900" b="1" i="0">
                <a:solidFill>
                  <a:srgbClr val="7C6F66"/>
                </a:solidFill>
                <a:latin typeface="Segoe U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30352"/>
            <a:ext cx="10637215" cy="274320"/>
          </a:xfrm>
          <a:prstGeom prst="rect">
            <a:avLst/>
          </a:prstGeom>
          <a:noFill/>
        </p:spPr>
        <p:txBody>
          <a:bodyPr wrap="square" anchor="t" lIns="0" rIns="0" tIns="0" bIns="0">
            <a:spAutoFit/>
          </a:bodyPr>
          <a:lstStyle/>
          <a:p>
            <a:pPr algn="l">
              <a:lnSpc>
                <a:spcPct val="100000"/>
              </a:lnSpc>
            </a:pPr>
            <a:r>
              <a:rPr sz="1050" b="1" i="0" spc="190">
                <a:solidFill>
                  <a:srgbClr val="0F6E63"/>
                </a:solidFill>
                <a:latin typeface="Segoe UI"/>
              </a:rPr>
              <a:t>USERS</a:t>
            </a:r>
          </a:p>
        </p:txBody>
      </p:sp>
      <p:sp>
        <p:nvSpPr>
          <p:cNvPr id="4" name="TextBox 3"/>
          <p:cNvSpPr txBox="1"/>
          <p:nvPr/>
        </p:nvSpPr>
        <p:spPr>
          <a:xfrm>
            <a:off x="777240" y="841248"/>
            <a:ext cx="10637215" cy="1371600"/>
          </a:xfrm>
          <a:prstGeom prst="rect">
            <a:avLst/>
          </a:prstGeom>
          <a:noFill/>
        </p:spPr>
        <p:txBody>
          <a:bodyPr wrap="square" anchor="t" lIns="0" rIns="0" tIns="0" bIns="0">
            <a:spAutoFit/>
          </a:bodyPr>
          <a:lstStyle/>
          <a:p>
            <a:pPr algn="l">
              <a:lnSpc>
                <a:spcPct val="108000"/>
              </a:lnSpc>
            </a:pPr>
            <a:r>
              <a:rPr sz="3600" b="1" i="0">
                <a:solidFill>
                  <a:srgbClr val="1B1614"/>
                </a:solidFill>
                <a:latin typeface="Segoe UI"/>
              </a:rPr>
              <a:t>Six people. One record.</a:t>
            </a:r>
          </a:p>
        </p:txBody>
      </p:sp>
      <p:sp>
        <p:nvSpPr>
          <p:cNvPr id="5" name="TextBox 4"/>
          <p:cNvSpPr txBox="1"/>
          <p:nvPr/>
        </p:nvSpPr>
        <p:spPr>
          <a:xfrm>
            <a:off x="777240" y="1737360"/>
            <a:ext cx="9692640" cy="914400"/>
          </a:xfrm>
          <a:prstGeom prst="rect">
            <a:avLst/>
          </a:prstGeom>
          <a:noFill/>
        </p:spPr>
        <p:txBody>
          <a:bodyPr wrap="square" anchor="t" lIns="0" rIns="0" tIns="0" bIns="0">
            <a:spAutoFit/>
          </a:bodyPr>
          <a:lstStyle/>
          <a:p>
            <a:pPr algn="l">
              <a:lnSpc>
                <a:spcPct val="142000"/>
              </a:lnSpc>
            </a:pPr>
            <a:r>
              <a:rPr sz="1450" b="0" i="0">
                <a:solidFill>
                  <a:srgbClr val="5A504A"/>
                </a:solidFill>
                <a:latin typeface="Segoe UI"/>
              </a:rPr>
              <a:t>Every persona has a different failure mode. The product's job is to serve all six without letting any one of them churn.</a:t>
            </a:r>
          </a:p>
        </p:txBody>
      </p:sp>
      <p:sp>
        <p:nvSpPr>
          <p:cNvPr id="6" name="Rounded Rectangle 5"/>
          <p:cNvSpPr/>
          <p:nvPr/>
        </p:nvSpPr>
        <p:spPr>
          <a:xfrm>
            <a:off x="777240" y="2267712"/>
            <a:ext cx="3392424" cy="1700784"/>
          </a:xfrm>
          <a:prstGeom prst="roundRect">
            <a:avLst>
              <a:gd name="adj" fmla="val 5000"/>
            </a:avLst>
          </a:prstGeom>
          <a:solidFill>
            <a:srgbClr val="FFFFFF"/>
          </a:solidFill>
          <a:ln w="12700">
            <a:solidFill>
              <a:srgbClr val="E4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67712"/>
            <a:ext cx="3392424" cy="40640"/>
          </a:xfrm>
          <a:prstGeom prst="rect">
            <a:avLst/>
          </a:prstGeom>
          <a:solidFill>
            <a:srgbClr val="C4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2487168"/>
            <a:ext cx="2916936" cy="274320"/>
          </a:xfrm>
          <a:prstGeom prst="rect">
            <a:avLst/>
          </a:prstGeom>
          <a:noFill/>
        </p:spPr>
        <p:txBody>
          <a:bodyPr wrap="square" anchor="t" lIns="0" rIns="0" tIns="0" bIns="0">
            <a:spAutoFit/>
          </a:bodyPr>
          <a:lstStyle/>
          <a:p>
            <a:pPr algn="l">
              <a:lnSpc>
                <a:spcPct val="110000"/>
              </a:lnSpc>
            </a:pPr>
            <a:r>
              <a:rPr sz="1250" b="1" i="0">
                <a:solidFill>
                  <a:srgbClr val="1B1614"/>
                </a:solidFill>
                <a:latin typeface="Segoe UI"/>
              </a:rPr>
              <a:t>Foster — Beginner</a:t>
            </a:r>
          </a:p>
        </p:txBody>
      </p:sp>
      <p:sp>
        <p:nvSpPr>
          <p:cNvPr id="9" name="TextBox 8"/>
          <p:cNvSpPr txBox="1"/>
          <p:nvPr/>
        </p:nvSpPr>
        <p:spPr>
          <a:xfrm>
            <a:off x="1014984" y="2770632"/>
            <a:ext cx="2916936" cy="219456"/>
          </a:xfrm>
          <a:prstGeom prst="rect">
            <a:avLst/>
          </a:prstGeom>
          <a:noFill/>
        </p:spPr>
        <p:txBody>
          <a:bodyPr wrap="square" anchor="t" lIns="0" rIns="0" tIns="0" bIns="0">
            <a:spAutoFit/>
          </a:bodyPr>
          <a:lstStyle/>
          <a:p>
            <a:pPr algn="l">
              <a:lnSpc>
                <a:spcPct val="100000"/>
              </a:lnSpc>
            </a:pPr>
            <a:r>
              <a:rPr sz="850" b="1" i="0" spc="140">
                <a:solidFill>
                  <a:srgbClr val="C4553D"/>
                </a:solidFill>
                <a:latin typeface="Segoe UI"/>
              </a:rPr>
              <a:t>TIER 1</a:t>
            </a:r>
          </a:p>
        </p:txBody>
      </p:sp>
      <p:sp>
        <p:nvSpPr>
          <p:cNvPr id="10" name="TextBox 9"/>
          <p:cNvSpPr txBox="1"/>
          <p:nvPr/>
        </p:nvSpPr>
        <p:spPr>
          <a:xfrm>
            <a:off x="1014984" y="3017520"/>
            <a:ext cx="2916936" cy="548640"/>
          </a:xfrm>
          <a:prstGeom prst="rect">
            <a:avLst/>
          </a:prstGeom>
          <a:noFill/>
        </p:spPr>
        <p:txBody>
          <a:bodyPr wrap="square" anchor="t" lIns="0" rIns="0" tIns="0" bIns="0">
            <a:spAutoFit/>
          </a:bodyPr>
          <a:lstStyle/>
          <a:p>
            <a:pPr algn="l">
              <a:lnSpc>
                <a:spcPct val="132000"/>
              </a:lnSpc>
            </a:pPr>
            <a:r>
              <a:rPr sz="1000" b="0" i="0">
                <a:solidFill>
                  <a:srgbClr val="5A504A"/>
                </a:solidFill>
                <a:latin typeface="Segoe UI"/>
              </a:rPr>
              <a:t>First or second placement. Enthusiastic, anxious, unsure what's normal.</a:t>
            </a:r>
          </a:p>
        </p:txBody>
      </p:sp>
      <p:sp>
        <p:nvSpPr>
          <p:cNvPr id="11" name="TextBox 10"/>
          <p:cNvSpPr txBox="1"/>
          <p:nvPr/>
        </p:nvSpPr>
        <p:spPr>
          <a:xfrm>
            <a:off x="1014984" y="3593592"/>
            <a:ext cx="2916936" cy="292608"/>
          </a:xfrm>
          <a:prstGeom prst="rect">
            <a:avLst/>
          </a:prstGeom>
          <a:noFill/>
        </p:spPr>
        <p:txBody>
          <a:bodyPr wrap="square" anchor="t" lIns="0" rIns="0" tIns="0" bIns="0">
            <a:spAutoFit/>
          </a:bodyPr>
          <a:lstStyle/>
          <a:p>
            <a:pPr algn="l">
              <a:lnSpc>
                <a:spcPct val="125000"/>
              </a:lnSpc>
            </a:pPr>
            <a:r>
              <a:rPr sz="950" b="1" i="0">
                <a:solidFill>
                  <a:srgbClr val="C4553D"/>
                </a:solidFill>
                <a:latin typeface="Segoe UI"/>
              </a:rPr>
              <a:t>Churns if abandoned — or if the app nags.</a:t>
            </a:r>
          </a:p>
        </p:txBody>
      </p:sp>
      <p:sp>
        <p:nvSpPr>
          <p:cNvPr id="12" name="Rounded Rectangle 11"/>
          <p:cNvSpPr/>
          <p:nvPr/>
        </p:nvSpPr>
        <p:spPr>
          <a:xfrm>
            <a:off x="4407408" y="2267712"/>
            <a:ext cx="3392424" cy="1700784"/>
          </a:xfrm>
          <a:prstGeom prst="roundRect">
            <a:avLst>
              <a:gd name="adj" fmla="val 5000"/>
            </a:avLst>
          </a:prstGeom>
          <a:solidFill>
            <a:srgbClr val="FFFFFF"/>
          </a:solidFill>
          <a:ln w="12700">
            <a:solidFill>
              <a:srgbClr val="E4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7408" y="2267712"/>
            <a:ext cx="3392424" cy="40640"/>
          </a:xfrm>
          <a:prstGeom prst="rect">
            <a:avLst/>
          </a:prstGeom>
          <a:solidFill>
            <a:srgbClr val="F0A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45152" y="2487168"/>
            <a:ext cx="2916936" cy="274320"/>
          </a:xfrm>
          <a:prstGeom prst="rect">
            <a:avLst/>
          </a:prstGeom>
          <a:noFill/>
        </p:spPr>
        <p:txBody>
          <a:bodyPr wrap="square" anchor="t" lIns="0" rIns="0" tIns="0" bIns="0">
            <a:spAutoFit/>
          </a:bodyPr>
          <a:lstStyle/>
          <a:p>
            <a:pPr algn="l">
              <a:lnSpc>
                <a:spcPct val="110000"/>
              </a:lnSpc>
            </a:pPr>
            <a:r>
              <a:rPr sz="1250" b="1" i="0">
                <a:solidFill>
                  <a:srgbClr val="1B1614"/>
                </a:solidFill>
                <a:latin typeface="Segoe UI"/>
              </a:rPr>
              <a:t>Foster — Intermediate</a:t>
            </a:r>
          </a:p>
        </p:txBody>
      </p:sp>
      <p:sp>
        <p:nvSpPr>
          <p:cNvPr id="15" name="TextBox 14"/>
          <p:cNvSpPr txBox="1"/>
          <p:nvPr/>
        </p:nvSpPr>
        <p:spPr>
          <a:xfrm>
            <a:off x="4645152" y="2770632"/>
            <a:ext cx="2916936" cy="219456"/>
          </a:xfrm>
          <a:prstGeom prst="rect">
            <a:avLst/>
          </a:prstGeom>
          <a:noFill/>
        </p:spPr>
        <p:txBody>
          <a:bodyPr wrap="square" anchor="t" lIns="0" rIns="0" tIns="0" bIns="0">
            <a:spAutoFit/>
          </a:bodyPr>
          <a:lstStyle/>
          <a:p>
            <a:pPr algn="l">
              <a:lnSpc>
                <a:spcPct val="100000"/>
              </a:lnSpc>
            </a:pPr>
            <a:r>
              <a:rPr sz="850" b="1" i="0" spc="140">
                <a:solidFill>
                  <a:srgbClr val="F0A544"/>
                </a:solidFill>
                <a:latin typeface="Segoe UI"/>
              </a:rPr>
              <a:t>TIER 2</a:t>
            </a:r>
          </a:p>
        </p:txBody>
      </p:sp>
      <p:sp>
        <p:nvSpPr>
          <p:cNvPr id="16" name="TextBox 15"/>
          <p:cNvSpPr txBox="1"/>
          <p:nvPr/>
        </p:nvSpPr>
        <p:spPr>
          <a:xfrm>
            <a:off x="4645152" y="3017520"/>
            <a:ext cx="2916936" cy="548640"/>
          </a:xfrm>
          <a:prstGeom prst="rect">
            <a:avLst/>
          </a:prstGeom>
          <a:noFill/>
        </p:spPr>
        <p:txBody>
          <a:bodyPr wrap="square" anchor="t" lIns="0" rIns="0" tIns="0" bIns="0">
            <a:spAutoFit/>
          </a:bodyPr>
          <a:lstStyle/>
          <a:p>
            <a:pPr algn="l">
              <a:lnSpc>
                <a:spcPct val="132000"/>
              </a:lnSpc>
            </a:pPr>
            <a:r>
              <a:rPr sz="1000" b="0" i="0">
                <a:solidFill>
                  <a:srgbClr val="5A504A"/>
                </a:solidFill>
                <a:latin typeface="Segoe UI"/>
              </a:rPr>
              <a:t>Several placements. Knows the basics, takes moderately complex cases.</a:t>
            </a:r>
          </a:p>
        </p:txBody>
      </p:sp>
      <p:sp>
        <p:nvSpPr>
          <p:cNvPr id="17" name="TextBox 16"/>
          <p:cNvSpPr txBox="1"/>
          <p:nvPr/>
        </p:nvSpPr>
        <p:spPr>
          <a:xfrm>
            <a:off x="4645152" y="3593592"/>
            <a:ext cx="2916936" cy="292608"/>
          </a:xfrm>
          <a:prstGeom prst="rect">
            <a:avLst/>
          </a:prstGeom>
          <a:noFill/>
        </p:spPr>
        <p:txBody>
          <a:bodyPr wrap="square" anchor="t" lIns="0" rIns="0" tIns="0" bIns="0">
            <a:spAutoFit/>
          </a:bodyPr>
          <a:lstStyle/>
          <a:p>
            <a:pPr algn="l">
              <a:lnSpc>
                <a:spcPct val="125000"/>
              </a:lnSpc>
            </a:pPr>
            <a:r>
              <a:rPr sz="950" b="1" i="0">
                <a:solidFill>
                  <a:srgbClr val="F0A544"/>
                </a:solidFill>
                <a:latin typeface="Segoe UI"/>
              </a:rPr>
              <a:t>Wants milestones, not hand-holding.</a:t>
            </a:r>
          </a:p>
        </p:txBody>
      </p:sp>
      <p:sp>
        <p:nvSpPr>
          <p:cNvPr id="18" name="Rounded Rectangle 17"/>
          <p:cNvSpPr/>
          <p:nvPr/>
        </p:nvSpPr>
        <p:spPr>
          <a:xfrm>
            <a:off x="8037576" y="2267712"/>
            <a:ext cx="3392424" cy="1700784"/>
          </a:xfrm>
          <a:prstGeom prst="roundRect">
            <a:avLst>
              <a:gd name="adj" fmla="val 5000"/>
            </a:avLst>
          </a:prstGeom>
          <a:solidFill>
            <a:srgbClr val="FFFFFF"/>
          </a:solidFill>
          <a:ln w="12700">
            <a:solidFill>
              <a:srgbClr val="E4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37576" y="2267712"/>
            <a:ext cx="3392424" cy="40640"/>
          </a:xfrm>
          <a:prstGeom prst="rect">
            <a:avLst/>
          </a:prstGeom>
          <a:solidFill>
            <a:srgbClr val="0F6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2487168"/>
            <a:ext cx="2916936" cy="274320"/>
          </a:xfrm>
          <a:prstGeom prst="rect">
            <a:avLst/>
          </a:prstGeom>
          <a:noFill/>
        </p:spPr>
        <p:txBody>
          <a:bodyPr wrap="square" anchor="t" lIns="0" rIns="0" tIns="0" bIns="0">
            <a:spAutoFit/>
          </a:bodyPr>
          <a:lstStyle/>
          <a:p>
            <a:pPr algn="l">
              <a:lnSpc>
                <a:spcPct val="110000"/>
              </a:lnSpc>
            </a:pPr>
            <a:r>
              <a:rPr sz="1250" b="1" i="0">
                <a:solidFill>
                  <a:srgbClr val="1B1614"/>
                </a:solidFill>
                <a:latin typeface="Segoe UI"/>
              </a:rPr>
              <a:t>Foster — Experienced</a:t>
            </a:r>
          </a:p>
        </p:txBody>
      </p:sp>
      <p:sp>
        <p:nvSpPr>
          <p:cNvPr id="21" name="TextBox 20"/>
          <p:cNvSpPr txBox="1"/>
          <p:nvPr/>
        </p:nvSpPr>
        <p:spPr>
          <a:xfrm>
            <a:off x="8275320" y="2770632"/>
            <a:ext cx="2916936" cy="219456"/>
          </a:xfrm>
          <a:prstGeom prst="rect">
            <a:avLst/>
          </a:prstGeom>
          <a:noFill/>
        </p:spPr>
        <p:txBody>
          <a:bodyPr wrap="square" anchor="t" lIns="0" rIns="0" tIns="0" bIns="0">
            <a:spAutoFit/>
          </a:bodyPr>
          <a:lstStyle/>
          <a:p>
            <a:pPr algn="l">
              <a:lnSpc>
                <a:spcPct val="100000"/>
              </a:lnSpc>
            </a:pPr>
            <a:r>
              <a:rPr sz="850" b="1" i="0" spc="140">
                <a:solidFill>
                  <a:srgbClr val="0F6E63"/>
                </a:solidFill>
                <a:latin typeface="Segoe UI"/>
              </a:rPr>
              <a:t>TIER 3</a:t>
            </a:r>
          </a:p>
        </p:txBody>
      </p:sp>
      <p:sp>
        <p:nvSpPr>
          <p:cNvPr id="22" name="TextBox 21"/>
          <p:cNvSpPr txBox="1"/>
          <p:nvPr/>
        </p:nvSpPr>
        <p:spPr>
          <a:xfrm>
            <a:off x="8275320" y="3017520"/>
            <a:ext cx="2916936" cy="548640"/>
          </a:xfrm>
          <a:prstGeom prst="rect">
            <a:avLst/>
          </a:prstGeom>
          <a:noFill/>
        </p:spPr>
        <p:txBody>
          <a:bodyPr wrap="square" anchor="t" lIns="0" rIns="0" tIns="0" bIns="0">
            <a:spAutoFit/>
          </a:bodyPr>
          <a:lstStyle/>
          <a:p>
            <a:pPr algn="l">
              <a:lnSpc>
                <a:spcPct val="132000"/>
              </a:lnSpc>
            </a:pPr>
            <a:r>
              <a:rPr sz="1000" b="0" i="0">
                <a:solidFill>
                  <a:srgbClr val="5A504A"/>
                </a:solidFill>
                <a:latin typeface="Segoe UI"/>
              </a:rPr>
              <a:t>Medical, behavioural, neonate and hospice cases. The scarce resource.</a:t>
            </a:r>
          </a:p>
        </p:txBody>
      </p:sp>
      <p:sp>
        <p:nvSpPr>
          <p:cNvPr id="23" name="TextBox 22"/>
          <p:cNvSpPr txBox="1"/>
          <p:nvPr/>
        </p:nvSpPr>
        <p:spPr>
          <a:xfrm>
            <a:off x="8275320" y="3593592"/>
            <a:ext cx="2916936" cy="292608"/>
          </a:xfrm>
          <a:prstGeom prst="rect">
            <a:avLst/>
          </a:prstGeom>
          <a:noFill/>
        </p:spPr>
        <p:txBody>
          <a:bodyPr wrap="square" anchor="t" lIns="0" rIns="0" tIns="0" bIns="0">
            <a:spAutoFit/>
          </a:bodyPr>
          <a:lstStyle/>
          <a:p>
            <a:pPr algn="l">
              <a:lnSpc>
                <a:spcPct val="125000"/>
              </a:lnSpc>
            </a:pPr>
            <a:r>
              <a:rPr sz="950" b="1" i="0">
                <a:solidFill>
                  <a:srgbClr val="0F6E63"/>
                </a:solidFill>
                <a:latin typeface="Segoe UI"/>
              </a:rPr>
              <a:t>Over-notification is the primary churn risk.</a:t>
            </a:r>
          </a:p>
        </p:txBody>
      </p:sp>
      <p:sp>
        <p:nvSpPr>
          <p:cNvPr id="24" name="Rounded Rectangle 23"/>
          <p:cNvSpPr/>
          <p:nvPr/>
        </p:nvSpPr>
        <p:spPr>
          <a:xfrm>
            <a:off x="777240" y="4151376"/>
            <a:ext cx="3392424" cy="1700784"/>
          </a:xfrm>
          <a:prstGeom prst="roundRect">
            <a:avLst>
              <a:gd name="adj" fmla="val 5000"/>
            </a:avLst>
          </a:prstGeom>
          <a:solidFill>
            <a:srgbClr val="FFFFFF"/>
          </a:solidFill>
          <a:ln w="12700">
            <a:solidFill>
              <a:srgbClr val="E4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151376"/>
            <a:ext cx="3392424" cy="40640"/>
          </a:xfrm>
          <a:prstGeom prst="rect">
            <a:avLst/>
          </a:prstGeom>
          <a:solidFill>
            <a:srgbClr val="0B55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14984" y="4370832"/>
            <a:ext cx="2916936" cy="274320"/>
          </a:xfrm>
          <a:prstGeom prst="rect">
            <a:avLst/>
          </a:prstGeom>
          <a:noFill/>
        </p:spPr>
        <p:txBody>
          <a:bodyPr wrap="square" anchor="t" lIns="0" rIns="0" tIns="0" bIns="0">
            <a:spAutoFit/>
          </a:bodyPr>
          <a:lstStyle/>
          <a:p>
            <a:pPr algn="l">
              <a:lnSpc>
                <a:spcPct val="110000"/>
              </a:lnSpc>
            </a:pPr>
            <a:r>
              <a:rPr sz="1250" b="1" i="0">
                <a:solidFill>
                  <a:srgbClr val="1B1614"/>
                </a:solidFill>
                <a:latin typeface="Segoe UI"/>
              </a:rPr>
              <a:t>Volunteer</a:t>
            </a:r>
          </a:p>
        </p:txBody>
      </p:sp>
      <p:sp>
        <p:nvSpPr>
          <p:cNvPr id="27" name="TextBox 26"/>
          <p:cNvSpPr txBox="1"/>
          <p:nvPr/>
        </p:nvSpPr>
        <p:spPr>
          <a:xfrm>
            <a:off x="1014984" y="4654296"/>
            <a:ext cx="2916936" cy="219456"/>
          </a:xfrm>
          <a:prstGeom prst="rect">
            <a:avLst/>
          </a:prstGeom>
          <a:noFill/>
        </p:spPr>
        <p:txBody>
          <a:bodyPr wrap="square" anchor="t" lIns="0" rIns="0" tIns="0" bIns="0">
            <a:spAutoFit/>
          </a:bodyPr>
          <a:lstStyle/>
          <a:p>
            <a:pPr algn="l">
              <a:lnSpc>
                <a:spcPct val="100000"/>
              </a:lnSpc>
            </a:pPr>
            <a:r>
              <a:rPr sz="850" b="1" i="0" spc="140">
                <a:solidFill>
                  <a:srgbClr val="0B554D"/>
                </a:solidFill>
                <a:latin typeface="Segoe UI"/>
              </a:rPr>
              <a:t>TIME-CONSTRAINED</a:t>
            </a:r>
          </a:p>
        </p:txBody>
      </p:sp>
      <p:sp>
        <p:nvSpPr>
          <p:cNvPr id="28" name="TextBox 27"/>
          <p:cNvSpPr txBox="1"/>
          <p:nvPr/>
        </p:nvSpPr>
        <p:spPr>
          <a:xfrm>
            <a:off x="1014984" y="4901184"/>
            <a:ext cx="2916936" cy="548640"/>
          </a:xfrm>
          <a:prstGeom prst="rect">
            <a:avLst/>
          </a:prstGeom>
          <a:noFill/>
        </p:spPr>
        <p:txBody>
          <a:bodyPr wrap="square" anchor="t" lIns="0" rIns="0" tIns="0" bIns="0">
            <a:spAutoFit/>
          </a:bodyPr>
          <a:lstStyle/>
          <a:p>
            <a:pPr algn="l">
              <a:lnSpc>
                <a:spcPct val="132000"/>
              </a:lnSpc>
            </a:pPr>
            <a:r>
              <a:rPr sz="1000" b="0" i="0">
                <a:solidFill>
                  <a:srgbClr val="5A504A"/>
                </a:solidFill>
                <a:latin typeface="Segoe UI"/>
              </a:rPr>
              <a:t>Wants to help concretely: transport, supply runs, photography, walks.</a:t>
            </a:r>
          </a:p>
        </p:txBody>
      </p:sp>
      <p:sp>
        <p:nvSpPr>
          <p:cNvPr id="29" name="TextBox 28"/>
          <p:cNvSpPr txBox="1"/>
          <p:nvPr/>
        </p:nvSpPr>
        <p:spPr>
          <a:xfrm>
            <a:off x="1014984" y="5477256"/>
            <a:ext cx="2916936" cy="292608"/>
          </a:xfrm>
          <a:prstGeom prst="rect">
            <a:avLst/>
          </a:prstGeom>
          <a:noFill/>
        </p:spPr>
        <p:txBody>
          <a:bodyPr wrap="square" anchor="t" lIns="0" rIns="0" tIns="0" bIns="0">
            <a:spAutoFit/>
          </a:bodyPr>
          <a:lstStyle/>
          <a:p>
            <a:pPr algn="l">
              <a:lnSpc>
                <a:spcPct val="125000"/>
              </a:lnSpc>
            </a:pPr>
            <a:r>
              <a:rPr sz="950" b="1" i="0">
                <a:solidFill>
                  <a:srgbClr val="0B554D"/>
                </a:solidFill>
                <a:latin typeface="Segoe UI"/>
              </a:rPr>
              <a:t>Frustrated by 'can anyone do X?' broadcast texts.</a:t>
            </a:r>
          </a:p>
        </p:txBody>
      </p:sp>
      <p:sp>
        <p:nvSpPr>
          <p:cNvPr id="30" name="Rounded Rectangle 29"/>
          <p:cNvSpPr/>
          <p:nvPr/>
        </p:nvSpPr>
        <p:spPr>
          <a:xfrm>
            <a:off x="4407408" y="4151376"/>
            <a:ext cx="3392424" cy="1700784"/>
          </a:xfrm>
          <a:prstGeom prst="roundRect">
            <a:avLst>
              <a:gd name="adj" fmla="val 5000"/>
            </a:avLst>
          </a:prstGeom>
          <a:solidFill>
            <a:srgbClr val="FFFFFF"/>
          </a:solidFill>
          <a:ln w="12700">
            <a:solidFill>
              <a:srgbClr val="E4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407408" y="4151376"/>
            <a:ext cx="3392424" cy="40640"/>
          </a:xfrm>
          <a:prstGeom prst="rect">
            <a:avLst/>
          </a:prstGeom>
          <a:solidFill>
            <a:srgbClr val="1B16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45152" y="4370832"/>
            <a:ext cx="2916936" cy="274320"/>
          </a:xfrm>
          <a:prstGeom prst="rect">
            <a:avLst/>
          </a:prstGeom>
          <a:noFill/>
        </p:spPr>
        <p:txBody>
          <a:bodyPr wrap="square" anchor="t" lIns="0" rIns="0" tIns="0" bIns="0">
            <a:spAutoFit/>
          </a:bodyPr>
          <a:lstStyle/>
          <a:p>
            <a:pPr algn="l">
              <a:lnSpc>
                <a:spcPct val="110000"/>
              </a:lnSpc>
            </a:pPr>
            <a:r>
              <a:rPr sz="1250" b="1" i="0">
                <a:solidFill>
                  <a:srgbClr val="1B1614"/>
                </a:solidFill>
                <a:latin typeface="Segoe UI"/>
              </a:rPr>
              <a:t>Shelter Admin / Coordinator</a:t>
            </a:r>
          </a:p>
        </p:txBody>
      </p:sp>
      <p:sp>
        <p:nvSpPr>
          <p:cNvPr id="33" name="TextBox 32"/>
          <p:cNvSpPr txBox="1"/>
          <p:nvPr/>
        </p:nvSpPr>
        <p:spPr>
          <a:xfrm>
            <a:off x="4645152" y="4654296"/>
            <a:ext cx="2916936" cy="219456"/>
          </a:xfrm>
          <a:prstGeom prst="rect">
            <a:avLst/>
          </a:prstGeom>
          <a:noFill/>
        </p:spPr>
        <p:txBody>
          <a:bodyPr wrap="square" anchor="t" lIns="0" rIns="0" tIns="0" bIns="0">
            <a:spAutoFit/>
          </a:bodyPr>
          <a:lstStyle/>
          <a:p>
            <a:pPr algn="l">
              <a:lnSpc>
                <a:spcPct val="100000"/>
              </a:lnSpc>
            </a:pPr>
            <a:r>
              <a:rPr sz="850" b="1" i="0" spc="140">
                <a:solidFill>
                  <a:srgbClr val="1B1614"/>
                </a:solidFill>
                <a:latin typeface="Segoe UI"/>
              </a:rPr>
              <a:t>THE CONSTRAINT</a:t>
            </a:r>
          </a:p>
        </p:txBody>
      </p:sp>
      <p:sp>
        <p:nvSpPr>
          <p:cNvPr id="34" name="TextBox 33"/>
          <p:cNvSpPr txBox="1"/>
          <p:nvPr/>
        </p:nvSpPr>
        <p:spPr>
          <a:xfrm>
            <a:off x="4645152" y="4901184"/>
            <a:ext cx="2916936" cy="548640"/>
          </a:xfrm>
          <a:prstGeom prst="rect">
            <a:avLst/>
          </a:prstGeom>
          <a:noFill/>
        </p:spPr>
        <p:txBody>
          <a:bodyPr wrap="square" anchor="t" lIns="0" rIns="0" tIns="0" bIns="0">
            <a:spAutoFit/>
          </a:bodyPr>
          <a:lstStyle/>
          <a:p>
            <a:pPr algn="l">
              <a:lnSpc>
                <a:spcPct val="132000"/>
              </a:lnSpc>
            </a:pPr>
            <a:r>
              <a:rPr sz="1000" b="0" i="0">
                <a:solidFill>
                  <a:srgbClr val="5A504A"/>
                </a:solidFill>
                <a:latin typeface="Segoe UI"/>
              </a:rPr>
              <a:t>Dozens of dogs, hundreds of people, lives in the web dashboard.</a:t>
            </a:r>
          </a:p>
        </p:txBody>
      </p:sp>
      <p:sp>
        <p:nvSpPr>
          <p:cNvPr id="35" name="TextBox 34"/>
          <p:cNvSpPr txBox="1"/>
          <p:nvPr/>
        </p:nvSpPr>
        <p:spPr>
          <a:xfrm>
            <a:off x="4645152" y="5477256"/>
            <a:ext cx="2916936" cy="292608"/>
          </a:xfrm>
          <a:prstGeom prst="rect">
            <a:avLst/>
          </a:prstGeom>
          <a:noFill/>
        </p:spPr>
        <p:txBody>
          <a:bodyPr wrap="square" anchor="t" lIns="0" rIns="0" tIns="0" bIns="0">
            <a:spAutoFit/>
          </a:bodyPr>
          <a:lstStyle/>
          <a:p>
            <a:pPr algn="l">
              <a:lnSpc>
                <a:spcPct val="125000"/>
              </a:lnSpc>
            </a:pPr>
            <a:r>
              <a:rPr sz="950" b="1" i="0">
                <a:solidFill>
                  <a:srgbClr val="1B1614"/>
                </a:solidFill>
                <a:latin typeface="Segoe UI"/>
              </a:rPr>
              <a:t>Needs exceptions surfaced, not a firehose.</a:t>
            </a:r>
          </a:p>
        </p:txBody>
      </p:sp>
      <p:sp>
        <p:nvSpPr>
          <p:cNvPr id="36" name="Rounded Rectangle 35"/>
          <p:cNvSpPr/>
          <p:nvPr/>
        </p:nvSpPr>
        <p:spPr>
          <a:xfrm>
            <a:off x="8037576" y="4151376"/>
            <a:ext cx="3392424" cy="1700784"/>
          </a:xfrm>
          <a:prstGeom prst="roundRect">
            <a:avLst>
              <a:gd name="adj" fmla="val 5000"/>
            </a:avLst>
          </a:prstGeom>
          <a:solidFill>
            <a:srgbClr val="FFFFFF"/>
          </a:solidFill>
          <a:ln w="12700">
            <a:solidFill>
              <a:srgbClr val="E4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37576" y="4151376"/>
            <a:ext cx="3392424" cy="40640"/>
          </a:xfrm>
          <a:prstGeom prst="rect">
            <a:avLst/>
          </a:prstGeom>
          <a:solidFill>
            <a:srgbClr val="7C6F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5320" y="4370832"/>
            <a:ext cx="2916936" cy="274320"/>
          </a:xfrm>
          <a:prstGeom prst="rect">
            <a:avLst/>
          </a:prstGeom>
          <a:noFill/>
        </p:spPr>
        <p:txBody>
          <a:bodyPr wrap="square" anchor="t" lIns="0" rIns="0" tIns="0" bIns="0">
            <a:spAutoFit/>
          </a:bodyPr>
          <a:lstStyle/>
          <a:p>
            <a:pPr algn="l">
              <a:lnSpc>
                <a:spcPct val="110000"/>
              </a:lnSpc>
            </a:pPr>
            <a:r>
              <a:rPr sz="1250" b="1" i="0">
                <a:solidFill>
                  <a:srgbClr val="1B1614"/>
                </a:solidFill>
                <a:latin typeface="Segoe UI"/>
              </a:rPr>
              <a:t>Veterinarian / Vet Tech</a:t>
            </a:r>
          </a:p>
        </p:txBody>
      </p:sp>
      <p:sp>
        <p:nvSpPr>
          <p:cNvPr id="39" name="TextBox 38"/>
          <p:cNvSpPr txBox="1"/>
          <p:nvPr/>
        </p:nvSpPr>
        <p:spPr>
          <a:xfrm>
            <a:off x="8275320" y="4654296"/>
            <a:ext cx="2916936" cy="219456"/>
          </a:xfrm>
          <a:prstGeom prst="rect">
            <a:avLst/>
          </a:prstGeom>
          <a:noFill/>
        </p:spPr>
        <p:txBody>
          <a:bodyPr wrap="square" anchor="t" lIns="0" rIns="0" tIns="0" bIns="0">
            <a:spAutoFit/>
          </a:bodyPr>
          <a:lstStyle/>
          <a:p>
            <a:pPr algn="l">
              <a:lnSpc>
                <a:spcPct val="100000"/>
              </a:lnSpc>
            </a:pPr>
            <a:r>
              <a:rPr sz="850" b="1" i="0" spc="140">
                <a:solidFill>
                  <a:srgbClr val="7C6F66"/>
                </a:solidFill>
                <a:latin typeface="Segoe UI"/>
              </a:rPr>
              <a:t>LIGHT-TOUCH</a:t>
            </a:r>
          </a:p>
        </p:txBody>
      </p:sp>
      <p:sp>
        <p:nvSpPr>
          <p:cNvPr id="40" name="TextBox 39"/>
          <p:cNvSpPr txBox="1"/>
          <p:nvPr/>
        </p:nvSpPr>
        <p:spPr>
          <a:xfrm>
            <a:off x="8275320" y="4901184"/>
            <a:ext cx="2916936" cy="548640"/>
          </a:xfrm>
          <a:prstGeom prst="rect">
            <a:avLst/>
          </a:prstGeom>
          <a:noFill/>
        </p:spPr>
        <p:txBody>
          <a:bodyPr wrap="square" anchor="t" lIns="0" rIns="0" tIns="0" bIns="0">
            <a:spAutoFit/>
          </a:bodyPr>
          <a:lstStyle/>
          <a:p>
            <a:pPr algn="l">
              <a:lnSpc>
                <a:spcPct val="132000"/>
              </a:lnSpc>
            </a:pPr>
            <a:r>
              <a:rPr sz="1000" b="0" i="0">
                <a:solidFill>
                  <a:srgbClr val="5A504A"/>
                </a:solidFill>
                <a:latin typeface="Segoe UI"/>
              </a:rPr>
              <a:t>Reads foster-observed history before an appointment, appends a summary.</a:t>
            </a:r>
          </a:p>
        </p:txBody>
      </p:sp>
      <p:sp>
        <p:nvSpPr>
          <p:cNvPr id="41" name="TextBox 40"/>
          <p:cNvSpPr txBox="1"/>
          <p:nvPr/>
        </p:nvSpPr>
        <p:spPr>
          <a:xfrm>
            <a:off x="8275320" y="5477256"/>
            <a:ext cx="2916936" cy="292608"/>
          </a:xfrm>
          <a:prstGeom prst="rect">
            <a:avLst/>
          </a:prstGeom>
          <a:noFill/>
        </p:spPr>
        <p:txBody>
          <a:bodyPr wrap="square" anchor="t" lIns="0" rIns="0" tIns="0" bIns="0">
            <a:spAutoFit/>
          </a:bodyPr>
          <a:lstStyle/>
          <a:p>
            <a:pPr algn="l">
              <a:lnSpc>
                <a:spcPct val="125000"/>
              </a:lnSpc>
            </a:pPr>
            <a:r>
              <a:rPr sz="950" b="1" i="0">
                <a:solidFill>
                  <a:srgbClr val="7C6F66"/>
                </a:solidFill>
                <a:latin typeface="Segoe UI"/>
              </a:rPr>
              <a:t>Must never be asked to learn a new EMR.</a:t>
            </a:r>
          </a:p>
        </p:txBody>
      </p:sp>
      <p:sp>
        <p:nvSpPr>
          <p:cNvPr id="42" name="TextBox 41"/>
          <p:cNvSpPr txBox="1"/>
          <p:nvPr/>
        </p:nvSpPr>
        <p:spPr>
          <a:xfrm>
            <a:off x="777240" y="6345936"/>
            <a:ext cx="7315200" cy="274320"/>
          </a:xfrm>
          <a:prstGeom prst="rect">
            <a:avLst/>
          </a:prstGeom>
          <a:noFill/>
        </p:spPr>
        <p:txBody>
          <a:bodyPr wrap="square" anchor="t" lIns="0" rIns="0" tIns="0" bIns="0">
            <a:spAutoFit/>
          </a:bodyPr>
          <a:lstStyle/>
          <a:p>
            <a:pPr algn="l">
              <a:lnSpc>
                <a:spcPct val="100000"/>
              </a:lnSpc>
            </a:pPr>
            <a:r>
              <a:rPr sz="900" b="0" i="0">
                <a:solidFill>
                  <a:srgbClr val="7C6F66"/>
                </a:solidFill>
                <a:latin typeface="Segoe UI"/>
              </a:rPr>
              <a:t>The Foster Pack  ·  Confidential</a:t>
            </a:r>
          </a:p>
        </p:txBody>
      </p:sp>
      <p:sp>
        <p:nvSpPr>
          <p:cNvPr id="43" name="TextBox 42"/>
          <p:cNvSpPr txBox="1"/>
          <p:nvPr/>
        </p:nvSpPr>
        <p:spPr>
          <a:xfrm>
            <a:off x="10515600" y="6345936"/>
            <a:ext cx="896112" cy="274320"/>
          </a:xfrm>
          <a:prstGeom prst="rect">
            <a:avLst/>
          </a:prstGeom>
          <a:noFill/>
        </p:spPr>
        <p:txBody>
          <a:bodyPr wrap="square" anchor="t" lIns="0" rIns="0" tIns="0" bIns="0">
            <a:spAutoFit/>
          </a:bodyPr>
          <a:lstStyle/>
          <a:p>
            <a:pPr algn="r">
              <a:lnSpc>
                <a:spcPct val="100000"/>
              </a:lnSpc>
            </a:pPr>
            <a:r>
              <a:rPr sz="900" b="1" i="0">
                <a:solidFill>
                  <a:srgbClr val="7C6F66"/>
                </a:solidFill>
                <a:latin typeface="Segoe U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7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30352"/>
            <a:ext cx="10637215" cy="274320"/>
          </a:xfrm>
          <a:prstGeom prst="rect">
            <a:avLst/>
          </a:prstGeom>
          <a:noFill/>
        </p:spPr>
        <p:txBody>
          <a:bodyPr wrap="square" anchor="t" lIns="0" rIns="0" tIns="0" bIns="0">
            <a:spAutoFit/>
          </a:bodyPr>
          <a:lstStyle/>
          <a:p>
            <a:pPr algn="l">
              <a:lnSpc>
                <a:spcPct val="100000"/>
              </a:lnSpc>
            </a:pPr>
            <a:r>
              <a:rPr sz="1050" b="1" i="0" spc="190">
                <a:solidFill>
                  <a:srgbClr val="0F6E63"/>
                </a:solidFill>
                <a:latin typeface="Segoe UI"/>
              </a:rPr>
              <a:t>THE CHURN MOMENT</a:t>
            </a:r>
          </a:p>
        </p:txBody>
      </p:sp>
      <p:sp>
        <p:nvSpPr>
          <p:cNvPr id="4" name="TextBox 3"/>
          <p:cNvSpPr txBox="1"/>
          <p:nvPr/>
        </p:nvSpPr>
        <p:spPr>
          <a:xfrm>
            <a:off x="777240" y="841248"/>
            <a:ext cx="10637215" cy="1371600"/>
          </a:xfrm>
          <a:prstGeom prst="rect">
            <a:avLst/>
          </a:prstGeom>
          <a:noFill/>
        </p:spPr>
        <p:txBody>
          <a:bodyPr wrap="square" anchor="t" lIns="0" rIns="0" tIns="0" bIns="0">
            <a:spAutoFit/>
          </a:bodyPr>
          <a:lstStyle/>
          <a:p>
            <a:pPr algn="l">
              <a:lnSpc>
                <a:spcPct val="108000"/>
              </a:lnSpc>
            </a:pPr>
            <a:r>
              <a:rPr sz="3000" b="1" i="0">
                <a:solidFill>
                  <a:srgbClr val="1B1614"/>
                </a:solidFill>
                <a:latin typeface="Segoe UI"/>
              </a:rPr>
              <a:t>The first 72 hours decide whether</a:t>
            </a:r>
          </a:p>
          <a:p>
            <a:pPr algn="l">
              <a:lnSpc>
                <a:spcPct val="108000"/>
              </a:lnSpc>
            </a:pPr>
            <a:r>
              <a:rPr sz="3000" b="1" i="0">
                <a:solidFill>
                  <a:srgbClr val="1B1614"/>
                </a:solidFill>
                <a:latin typeface="Segoe UI"/>
              </a:rPr>
              <a:t>you ever get a second placement.</a:t>
            </a:r>
          </a:p>
        </p:txBody>
      </p:sp>
      <p:sp>
        <p:nvSpPr>
          <p:cNvPr id="5" name="TextBox 4"/>
          <p:cNvSpPr txBox="1"/>
          <p:nvPr/>
        </p:nvSpPr>
        <p:spPr>
          <a:xfrm>
            <a:off x="777240" y="2395728"/>
            <a:ext cx="1371600" cy="274320"/>
          </a:xfrm>
          <a:prstGeom prst="rect">
            <a:avLst/>
          </a:prstGeom>
          <a:noFill/>
        </p:spPr>
        <p:txBody>
          <a:bodyPr wrap="square" anchor="t" lIns="0" rIns="0" tIns="0" bIns="0">
            <a:spAutoFit/>
          </a:bodyPr>
          <a:lstStyle/>
          <a:p>
            <a:pPr algn="l">
              <a:lnSpc>
                <a:spcPct val="100000"/>
              </a:lnSpc>
            </a:pPr>
            <a:r>
              <a:rPr sz="1000" b="1" i="0" spc="160">
                <a:solidFill>
                  <a:srgbClr val="C4553D"/>
                </a:solidFill>
                <a:latin typeface="Segoe UI"/>
              </a:rPr>
              <a:t>TODAY</a:t>
            </a:r>
          </a:p>
        </p:txBody>
      </p:sp>
      <p:sp>
        <p:nvSpPr>
          <p:cNvPr id="6" name="TextBox 5"/>
          <p:cNvSpPr txBox="1"/>
          <p:nvPr/>
        </p:nvSpPr>
        <p:spPr>
          <a:xfrm>
            <a:off x="777240" y="4078224"/>
            <a:ext cx="2194560" cy="274320"/>
          </a:xfrm>
          <a:prstGeom prst="rect">
            <a:avLst/>
          </a:prstGeom>
          <a:noFill/>
        </p:spPr>
        <p:txBody>
          <a:bodyPr wrap="square" anchor="t" lIns="0" rIns="0" tIns="0" bIns="0">
            <a:spAutoFit/>
          </a:bodyPr>
          <a:lstStyle/>
          <a:p>
            <a:pPr algn="l">
              <a:lnSpc>
                <a:spcPct val="100000"/>
              </a:lnSpc>
            </a:pPr>
            <a:r>
              <a:rPr sz="1000" b="1" i="0" spc="160">
                <a:solidFill>
                  <a:srgbClr val="0F6E63"/>
                </a:solidFill>
                <a:latin typeface="Segoe UI"/>
              </a:rPr>
              <a:t>WITH THE FOSTER PACK</a:t>
            </a:r>
          </a:p>
        </p:txBody>
      </p:sp>
      <p:sp>
        <p:nvSpPr>
          <p:cNvPr id="7" name="TextBox 6"/>
          <p:cNvSpPr txBox="1"/>
          <p:nvPr/>
        </p:nvSpPr>
        <p:spPr>
          <a:xfrm>
            <a:off x="777240" y="2084831"/>
            <a:ext cx="2487168" cy="237744"/>
          </a:xfrm>
          <a:prstGeom prst="rect">
            <a:avLst/>
          </a:prstGeom>
          <a:noFill/>
        </p:spPr>
        <p:txBody>
          <a:bodyPr wrap="square" anchor="t" lIns="0" rIns="0" tIns="0" bIns="0">
            <a:spAutoFit/>
          </a:bodyPr>
          <a:lstStyle/>
          <a:p>
            <a:pPr algn="l">
              <a:lnSpc>
                <a:spcPct val="100000"/>
              </a:lnSpc>
            </a:pPr>
            <a:r>
              <a:rPr sz="950" b="1" i="0" spc="150">
                <a:solidFill>
                  <a:srgbClr val="7C6F66"/>
                </a:solidFill>
                <a:latin typeface="Segoe UI"/>
              </a:rPr>
              <a:t>HOUR 0</a:t>
            </a:r>
          </a:p>
        </p:txBody>
      </p:sp>
      <p:sp>
        <p:nvSpPr>
          <p:cNvPr id="8" name="Rounded Rectangle 7"/>
          <p:cNvSpPr/>
          <p:nvPr/>
        </p:nvSpPr>
        <p:spPr>
          <a:xfrm>
            <a:off x="777240" y="2670048"/>
            <a:ext cx="2487168" cy="1133856"/>
          </a:xfrm>
          <a:prstGeom prst="roundRect">
            <a:avLst>
              <a:gd name="adj" fmla="val 5000"/>
            </a:avLst>
          </a:prstGeom>
          <a:solidFill>
            <a:srgbClr val="F7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852928"/>
            <a:ext cx="2084832" cy="859536"/>
          </a:xfrm>
          <a:prstGeom prst="rect">
            <a:avLst/>
          </a:prstGeom>
          <a:noFill/>
        </p:spPr>
        <p:txBody>
          <a:bodyPr wrap="square" anchor="t" lIns="0" rIns="0" tIns="0" bIns="0">
            <a:spAutoFit/>
          </a:bodyPr>
          <a:lstStyle/>
          <a:p>
            <a:pPr algn="l">
              <a:lnSpc>
                <a:spcPct val="135000"/>
              </a:lnSpc>
            </a:pPr>
            <a:r>
              <a:rPr sz="1050" b="0" i="0">
                <a:solidFill>
                  <a:srgbClr val="8C3E2C"/>
                </a:solidFill>
                <a:latin typeface="Segoe UI"/>
              </a:rPr>
              <a:t>Dog goes home with a printed care sheet.</a:t>
            </a:r>
          </a:p>
        </p:txBody>
      </p:sp>
      <p:sp>
        <p:nvSpPr>
          <p:cNvPr id="10" name="Rounded Rectangle 9"/>
          <p:cNvSpPr/>
          <p:nvPr/>
        </p:nvSpPr>
        <p:spPr>
          <a:xfrm>
            <a:off x="777240" y="4352544"/>
            <a:ext cx="2487168" cy="1133856"/>
          </a:xfrm>
          <a:prstGeom prst="roundRect">
            <a:avLst>
              <a:gd name="adj" fmla="val 5000"/>
            </a:avLst>
          </a:prstGeom>
          <a:solidFill>
            <a:srgbClr val="0F6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4535424"/>
            <a:ext cx="2084832" cy="859536"/>
          </a:xfrm>
          <a:prstGeom prst="rect">
            <a:avLst/>
          </a:prstGeom>
          <a:noFill/>
        </p:spPr>
        <p:txBody>
          <a:bodyPr wrap="square" anchor="t" lIns="0" rIns="0" tIns="0" bIns="0">
            <a:spAutoFit/>
          </a:bodyPr>
          <a:lstStyle/>
          <a:p>
            <a:pPr algn="l">
              <a:lnSpc>
                <a:spcPct val="135000"/>
              </a:lnSpc>
            </a:pPr>
            <a:r>
              <a:rPr sz="1050" b="0" i="0">
                <a:solidFill>
                  <a:srgbClr val="E3F2F0"/>
                </a:solidFill>
                <a:latin typeface="Segoe UI"/>
              </a:rPr>
              <a:t>Pre-arrival checklist done. Mentor foster already introduced.</a:t>
            </a:r>
          </a:p>
        </p:txBody>
      </p:sp>
      <p:sp>
        <p:nvSpPr>
          <p:cNvPr id="12" name="TextBox 11"/>
          <p:cNvSpPr txBox="1"/>
          <p:nvPr/>
        </p:nvSpPr>
        <p:spPr>
          <a:xfrm>
            <a:off x="3483864" y="2084831"/>
            <a:ext cx="2487168" cy="237744"/>
          </a:xfrm>
          <a:prstGeom prst="rect">
            <a:avLst/>
          </a:prstGeom>
          <a:noFill/>
        </p:spPr>
        <p:txBody>
          <a:bodyPr wrap="square" anchor="t" lIns="0" rIns="0" tIns="0" bIns="0">
            <a:spAutoFit/>
          </a:bodyPr>
          <a:lstStyle/>
          <a:p>
            <a:pPr algn="l">
              <a:lnSpc>
                <a:spcPct val="100000"/>
              </a:lnSpc>
            </a:pPr>
            <a:r>
              <a:rPr sz="950" b="1" i="0" spc="150">
                <a:solidFill>
                  <a:srgbClr val="7C6F66"/>
                </a:solidFill>
                <a:latin typeface="Segoe UI"/>
              </a:rPr>
              <a:t>HOUR 8</a:t>
            </a:r>
          </a:p>
        </p:txBody>
      </p:sp>
      <p:sp>
        <p:nvSpPr>
          <p:cNvPr id="13" name="Rounded Rectangle 12"/>
          <p:cNvSpPr/>
          <p:nvPr/>
        </p:nvSpPr>
        <p:spPr>
          <a:xfrm>
            <a:off x="3483864" y="2670048"/>
            <a:ext cx="2487168" cy="1133856"/>
          </a:xfrm>
          <a:prstGeom prst="roundRect">
            <a:avLst>
              <a:gd name="adj" fmla="val 5000"/>
            </a:avLst>
          </a:prstGeom>
          <a:solidFill>
            <a:srgbClr val="F7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85032" y="2852928"/>
            <a:ext cx="2084832" cy="859536"/>
          </a:xfrm>
          <a:prstGeom prst="rect">
            <a:avLst/>
          </a:prstGeom>
          <a:noFill/>
        </p:spPr>
        <p:txBody>
          <a:bodyPr wrap="square" anchor="t" lIns="0" rIns="0" tIns="0" bIns="0">
            <a:spAutoFit/>
          </a:bodyPr>
          <a:lstStyle/>
          <a:p>
            <a:pPr algn="l">
              <a:lnSpc>
                <a:spcPct val="135000"/>
              </a:lnSpc>
            </a:pPr>
            <a:r>
              <a:rPr sz="1050" b="0" i="0">
                <a:solidFill>
                  <a:srgbClr val="8C3E2C"/>
                </a:solidFill>
                <a:latin typeface="Segoe UI"/>
              </a:rPr>
              <a:t>She won't eat. Foster panics, texts the coordinator.</a:t>
            </a:r>
          </a:p>
        </p:txBody>
      </p:sp>
      <p:sp>
        <p:nvSpPr>
          <p:cNvPr id="15" name="Rounded Rectangle 14"/>
          <p:cNvSpPr/>
          <p:nvPr/>
        </p:nvSpPr>
        <p:spPr>
          <a:xfrm>
            <a:off x="3483864" y="4352544"/>
            <a:ext cx="2487168" cy="1133856"/>
          </a:xfrm>
          <a:prstGeom prst="roundRect">
            <a:avLst>
              <a:gd name="adj" fmla="val 5000"/>
            </a:avLst>
          </a:prstGeom>
          <a:solidFill>
            <a:srgbClr val="0F6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85032" y="4535424"/>
            <a:ext cx="2084832" cy="859536"/>
          </a:xfrm>
          <a:prstGeom prst="rect">
            <a:avLst/>
          </a:prstGeom>
          <a:noFill/>
        </p:spPr>
        <p:txBody>
          <a:bodyPr wrap="square" anchor="t" lIns="0" rIns="0" tIns="0" bIns="0">
            <a:spAutoFit/>
          </a:bodyPr>
          <a:lstStyle/>
          <a:p>
            <a:pPr algn="l">
              <a:lnSpc>
                <a:spcPct val="135000"/>
              </a:lnSpc>
            </a:pPr>
            <a:r>
              <a:rPr sz="1050" b="0" i="0">
                <a:solidFill>
                  <a:srgbClr val="E3F2F0"/>
                </a:solidFill>
                <a:latin typeface="Segoe UI"/>
              </a:rPr>
              <a:t>Prompt: 'Lots of dogs won't eat day one. Did she eat today?'</a:t>
            </a:r>
          </a:p>
        </p:txBody>
      </p:sp>
      <p:sp>
        <p:nvSpPr>
          <p:cNvPr id="17" name="TextBox 16"/>
          <p:cNvSpPr txBox="1"/>
          <p:nvPr/>
        </p:nvSpPr>
        <p:spPr>
          <a:xfrm>
            <a:off x="6190488" y="2084831"/>
            <a:ext cx="2487168" cy="237744"/>
          </a:xfrm>
          <a:prstGeom prst="rect">
            <a:avLst/>
          </a:prstGeom>
          <a:noFill/>
        </p:spPr>
        <p:txBody>
          <a:bodyPr wrap="square" anchor="t" lIns="0" rIns="0" tIns="0" bIns="0">
            <a:spAutoFit/>
          </a:bodyPr>
          <a:lstStyle/>
          <a:p>
            <a:pPr algn="l">
              <a:lnSpc>
                <a:spcPct val="100000"/>
              </a:lnSpc>
            </a:pPr>
            <a:r>
              <a:rPr sz="950" b="1" i="0" spc="150">
                <a:solidFill>
                  <a:srgbClr val="7C6F66"/>
                </a:solidFill>
                <a:latin typeface="Segoe UI"/>
              </a:rPr>
              <a:t>DAY 2</a:t>
            </a:r>
          </a:p>
        </p:txBody>
      </p:sp>
      <p:sp>
        <p:nvSpPr>
          <p:cNvPr id="18" name="Rounded Rectangle 17"/>
          <p:cNvSpPr/>
          <p:nvPr/>
        </p:nvSpPr>
        <p:spPr>
          <a:xfrm>
            <a:off x="6190488" y="2670048"/>
            <a:ext cx="2487168" cy="1133856"/>
          </a:xfrm>
          <a:prstGeom prst="roundRect">
            <a:avLst>
              <a:gd name="adj" fmla="val 5000"/>
            </a:avLst>
          </a:prstGeom>
          <a:solidFill>
            <a:srgbClr val="F7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91656" y="2852928"/>
            <a:ext cx="2084832" cy="859536"/>
          </a:xfrm>
          <a:prstGeom prst="rect">
            <a:avLst/>
          </a:prstGeom>
          <a:noFill/>
        </p:spPr>
        <p:txBody>
          <a:bodyPr wrap="square" anchor="t" lIns="0" rIns="0" tIns="0" bIns="0">
            <a:spAutoFit/>
          </a:bodyPr>
          <a:lstStyle/>
          <a:p>
            <a:pPr algn="l">
              <a:lnSpc>
                <a:spcPct val="135000"/>
              </a:lnSpc>
            </a:pPr>
            <a:r>
              <a:rPr sz="1050" b="0" i="0">
                <a:solidFill>
                  <a:srgbClr val="8C3E2C"/>
                </a:solidFill>
                <a:latin typeface="Segoe UI"/>
              </a:rPr>
              <a:t>No reply yet. Foster googles, finds contradictory advice.</a:t>
            </a:r>
          </a:p>
        </p:txBody>
      </p:sp>
      <p:sp>
        <p:nvSpPr>
          <p:cNvPr id="20" name="Rounded Rectangle 19"/>
          <p:cNvSpPr/>
          <p:nvPr/>
        </p:nvSpPr>
        <p:spPr>
          <a:xfrm>
            <a:off x="6190488" y="4352544"/>
            <a:ext cx="2487168" cy="1133856"/>
          </a:xfrm>
          <a:prstGeom prst="roundRect">
            <a:avLst>
              <a:gd name="adj" fmla="val 5000"/>
            </a:avLst>
          </a:prstGeom>
          <a:solidFill>
            <a:srgbClr val="0F6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4535424"/>
            <a:ext cx="2084832" cy="859536"/>
          </a:xfrm>
          <a:prstGeom prst="rect">
            <a:avLst/>
          </a:prstGeom>
          <a:noFill/>
        </p:spPr>
        <p:txBody>
          <a:bodyPr wrap="square" anchor="t" lIns="0" rIns="0" tIns="0" bIns="0">
            <a:spAutoFit/>
          </a:bodyPr>
          <a:lstStyle/>
          <a:p>
            <a:pPr algn="l">
              <a:lnSpc>
                <a:spcPct val="135000"/>
              </a:lnSpc>
            </a:pPr>
            <a:r>
              <a:rPr sz="1050" b="0" i="0">
                <a:solidFill>
                  <a:srgbClr val="E3F2F0"/>
                </a:solidFill>
                <a:latin typeface="Segoe UI"/>
              </a:rPr>
              <a:t>One tap on 'Something's wrong' → coordinator alerted, triage offered.</a:t>
            </a:r>
          </a:p>
        </p:txBody>
      </p:sp>
      <p:sp>
        <p:nvSpPr>
          <p:cNvPr id="22" name="TextBox 21"/>
          <p:cNvSpPr txBox="1"/>
          <p:nvPr/>
        </p:nvSpPr>
        <p:spPr>
          <a:xfrm>
            <a:off x="8897112" y="2084831"/>
            <a:ext cx="2487168" cy="237744"/>
          </a:xfrm>
          <a:prstGeom prst="rect">
            <a:avLst/>
          </a:prstGeom>
          <a:noFill/>
        </p:spPr>
        <p:txBody>
          <a:bodyPr wrap="square" anchor="t" lIns="0" rIns="0" tIns="0" bIns="0">
            <a:spAutoFit/>
          </a:bodyPr>
          <a:lstStyle/>
          <a:p>
            <a:pPr algn="l">
              <a:lnSpc>
                <a:spcPct val="100000"/>
              </a:lnSpc>
            </a:pPr>
            <a:r>
              <a:rPr sz="950" b="1" i="0" spc="150">
                <a:solidFill>
                  <a:srgbClr val="7C6F66"/>
                </a:solidFill>
                <a:latin typeface="Segoe UI"/>
              </a:rPr>
              <a:t>DAY 3</a:t>
            </a:r>
          </a:p>
        </p:txBody>
      </p:sp>
      <p:sp>
        <p:nvSpPr>
          <p:cNvPr id="23" name="Rounded Rectangle 22"/>
          <p:cNvSpPr/>
          <p:nvPr/>
        </p:nvSpPr>
        <p:spPr>
          <a:xfrm>
            <a:off x="8897112" y="2670048"/>
            <a:ext cx="2487168" cy="1133856"/>
          </a:xfrm>
          <a:prstGeom prst="roundRect">
            <a:avLst>
              <a:gd name="adj" fmla="val 5000"/>
            </a:avLst>
          </a:prstGeom>
          <a:solidFill>
            <a:srgbClr val="F7E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98280" y="2852928"/>
            <a:ext cx="2084832" cy="859536"/>
          </a:xfrm>
          <a:prstGeom prst="rect">
            <a:avLst/>
          </a:prstGeom>
          <a:noFill/>
        </p:spPr>
        <p:txBody>
          <a:bodyPr wrap="square" anchor="t" lIns="0" rIns="0" tIns="0" bIns="0">
            <a:spAutoFit/>
          </a:bodyPr>
          <a:lstStyle/>
          <a:p>
            <a:pPr algn="l">
              <a:lnSpc>
                <a:spcPct val="135000"/>
              </a:lnSpc>
            </a:pPr>
            <a:r>
              <a:rPr sz="1050" b="0" i="0">
                <a:solidFill>
                  <a:srgbClr val="8C3E2C"/>
                </a:solidFill>
                <a:latin typeface="Segoe UI"/>
              </a:rPr>
              <a:t>Foster returns the dog and quietly never comes back.</a:t>
            </a:r>
          </a:p>
        </p:txBody>
      </p:sp>
      <p:sp>
        <p:nvSpPr>
          <p:cNvPr id="25" name="Rounded Rectangle 24"/>
          <p:cNvSpPr/>
          <p:nvPr/>
        </p:nvSpPr>
        <p:spPr>
          <a:xfrm>
            <a:off x="8897112" y="4352544"/>
            <a:ext cx="2487168" cy="1133856"/>
          </a:xfrm>
          <a:prstGeom prst="roundRect">
            <a:avLst>
              <a:gd name="adj" fmla="val 5000"/>
            </a:avLst>
          </a:prstGeom>
          <a:solidFill>
            <a:srgbClr val="0F6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98280" y="4535424"/>
            <a:ext cx="2084832" cy="859536"/>
          </a:xfrm>
          <a:prstGeom prst="rect">
            <a:avLst/>
          </a:prstGeom>
          <a:noFill/>
        </p:spPr>
        <p:txBody>
          <a:bodyPr wrap="square" anchor="t" lIns="0" rIns="0" tIns="0" bIns="0">
            <a:spAutoFit/>
          </a:bodyPr>
          <a:lstStyle/>
          <a:p>
            <a:pPr algn="l">
              <a:lnSpc>
                <a:spcPct val="135000"/>
              </a:lnSpc>
            </a:pPr>
            <a:r>
              <a:rPr sz="1050" b="0" i="0">
                <a:solidFill>
                  <a:srgbClr val="E3F2F0"/>
                </a:solidFill>
                <a:latin typeface="Segoe UI"/>
              </a:rPr>
              <a:t>First-meal milestone celebrated, shareable. Foster asks for dog #2.</a:t>
            </a:r>
          </a:p>
        </p:txBody>
      </p:sp>
      <p:sp>
        <p:nvSpPr>
          <p:cNvPr id="27" name="TextBox 26"/>
          <p:cNvSpPr txBox="1"/>
          <p:nvPr/>
        </p:nvSpPr>
        <p:spPr>
          <a:xfrm>
            <a:off x="777240" y="5705856"/>
            <a:ext cx="10637215" cy="365760"/>
          </a:xfrm>
          <a:prstGeom prst="rect">
            <a:avLst/>
          </a:prstGeom>
          <a:noFill/>
        </p:spPr>
        <p:txBody>
          <a:bodyPr wrap="square" anchor="t" lIns="0" rIns="0" tIns="0" bIns="0">
            <a:spAutoFit/>
          </a:bodyPr>
          <a:lstStyle/>
          <a:p>
            <a:pPr algn="l">
              <a:lnSpc>
                <a:spcPct val="130000"/>
              </a:lnSpc>
            </a:pPr>
            <a:r>
              <a:rPr sz="1300" b="1" i="0">
                <a:solidFill>
                  <a:srgbClr val="1B1614"/>
                </a:solidFill>
                <a:latin typeface="Segoe UI"/>
              </a:rPr>
              <a:t>Beginner retention is not a loyalty problem. It is a week-one support problem, and it is automatable.</a:t>
            </a:r>
          </a:p>
        </p:txBody>
      </p:sp>
      <p:sp>
        <p:nvSpPr>
          <p:cNvPr id="28" name="TextBox 27"/>
          <p:cNvSpPr txBox="1"/>
          <p:nvPr/>
        </p:nvSpPr>
        <p:spPr>
          <a:xfrm>
            <a:off x="777240" y="6345936"/>
            <a:ext cx="7315200" cy="274320"/>
          </a:xfrm>
          <a:prstGeom prst="rect">
            <a:avLst/>
          </a:prstGeom>
          <a:noFill/>
        </p:spPr>
        <p:txBody>
          <a:bodyPr wrap="square" anchor="t" lIns="0" rIns="0" tIns="0" bIns="0">
            <a:spAutoFit/>
          </a:bodyPr>
          <a:lstStyle/>
          <a:p>
            <a:pPr algn="l">
              <a:lnSpc>
                <a:spcPct val="100000"/>
              </a:lnSpc>
            </a:pPr>
            <a:r>
              <a:rPr sz="900" b="0" i="0">
                <a:solidFill>
                  <a:srgbClr val="7C6F66"/>
                </a:solidFill>
                <a:latin typeface="Segoe UI"/>
              </a:rPr>
              <a:t>The Foster Pack  ·  Confidential</a:t>
            </a:r>
          </a:p>
        </p:txBody>
      </p:sp>
      <p:sp>
        <p:nvSpPr>
          <p:cNvPr id="29" name="TextBox 28"/>
          <p:cNvSpPr txBox="1"/>
          <p:nvPr/>
        </p:nvSpPr>
        <p:spPr>
          <a:xfrm>
            <a:off x="10515600" y="6345936"/>
            <a:ext cx="896112" cy="274320"/>
          </a:xfrm>
          <a:prstGeom prst="rect">
            <a:avLst/>
          </a:prstGeom>
          <a:noFill/>
        </p:spPr>
        <p:txBody>
          <a:bodyPr wrap="square" anchor="t" lIns="0" rIns="0" tIns="0" bIns="0">
            <a:spAutoFit/>
          </a:bodyPr>
          <a:lstStyle/>
          <a:p>
            <a:pPr algn="r">
              <a:lnSpc>
                <a:spcPct val="100000"/>
              </a:lnSpc>
            </a:pPr>
            <a:r>
              <a:rPr sz="900" b="1" i="0">
                <a:solidFill>
                  <a:srgbClr val="7C6F66"/>
                </a:solidFill>
                <a:latin typeface="Segoe U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30352"/>
            <a:ext cx="10637215" cy="274320"/>
          </a:xfrm>
          <a:prstGeom prst="rect">
            <a:avLst/>
          </a:prstGeom>
          <a:noFill/>
        </p:spPr>
        <p:txBody>
          <a:bodyPr wrap="square" anchor="t" lIns="0" rIns="0" tIns="0" bIns="0">
            <a:spAutoFit/>
          </a:bodyPr>
          <a:lstStyle/>
          <a:p>
            <a:pPr algn="l">
              <a:lnSpc>
                <a:spcPct val="100000"/>
              </a:lnSpc>
            </a:pPr>
            <a:r>
              <a:rPr sz="1050" b="1" i="0" spc="190">
                <a:solidFill>
                  <a:srgbClr val="0F6E63"/>
                </a:solidFill>
                <a:latin typeface="Segoe UI"/>
              </a:rPr>
              <a:t>MARKET ANALYSIS</a:t>
            </a:r>
          </a:p>
        </p:txBody>
      </p:sp>
      <p:sp>
        <p:nvSpPr>
          <p:cNvPr id="4" name="TextBox 3"/>
          <p:cNvSpPr txBox="1"/>
          <p:nvPr/>
        </p:nvSpPr>
        <p:spPr>
          <a:xfrm>
            <a:off x="777240" y="841248"/>
            <a:ext cx="10637215" cy="1371600"/>
          </a:xfrm>
          <a:prstGeom prst="rect">
            <a:avLst/>
          </a:prstGeom>
          <a:noFill/>
        </p:spPr>
        <p:txBody>
          <a:bodyPr wrap="square" anchor="t" lIns="0" rIns="0" tIns="0" bIns="0">
            <a:spAutoFit/>
          </a:bodyPr>
          <a:lstStyle/>
          <a:p>
            <a:pPr algn="l">
              <a:lnSpc>
                <a:spcPct val="108000"/>
              </a:lnSpc>
            </a:pPr>
            <a:r>
              <a:rPr sz="3400" b="1" i="0">
                <a:solidFill>
                  <a:srgbClr val="1B1614"/>
                </a:solidFill>
                <a:latin typeface="Segoe UI"/>
              </a:rPr>
              <a:t>13,471 US shelters and rescues.</a:t>
            </a:r>
          </a:p>
          <a:p>
            <a:pPr algn="l">
              <a:lnSpc>
                <a:spcPct val="108000"/>
              </a:lnSpc>
            </a:pPr>
            <a:r>
              <a:rPr sz="3400" b="1" i="0">
                <a:solidFill>
                  <a:srgbClr val="1B1614"/>
                </a:solidFill>
                <a:latin typeface="Segoe UI"/>
              </a:rPr>
              <a:t>None of them have this.</a:t>
            </a:r>
          </a:p>
        </p:txBody>
      </p:sp>
      <p:sp>
        <p:nvSpPr>
          <p:cNvPr id="5" name="Rounded Rectangle 4"/>
          <p:cNvSpPr/>
          <p:nvPr/>
        </p:nvSpPr>
        <p:spPr>
          <a:xfrm>
            <a:off x="777240" y="2286000"/>
            <a:ext cx="3392424" cy="2395728"/>
          </a:xfrm>
          <a:prstGeom prst="roundRect">
            <a:avLst>
              <a:gd name="adj" fmla="val 5000"/>
            </a:avLst>
          </a:prstGeom>
          <a:solidFill>
            <a:srgbClr val="FFFFFF"/>
          </a:solidFill>
          <a:ln w="12700">
            <a:solidFill>
              <a:srgbClr val="E4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2286000"/>
            <a:ext cx="3392424" cy="43180"/>
          </a:xfrm>
          <a:prstGeom prst="rect">
            <a:avLst/>
          </a:prstGeom>
          <a:solidFill>
            <a:srgbClr val="0F6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2" y="2505456"/>
            <a:ext cx="2880360" cy="237744"/>
          </a:xfrm>
          <a:prstGeom prst="rect">
            <a:avLst/>
          </a:prstGeom>
          <a:noFill/>
        </p:spPr>
        <p:txBody>
          <a:bodyPr wrap="square" anchor="t" lIns="0" rIns="0" tIns="0" bIns="0">
            <a:spAutoFit/>
          </a:bodyPr>
          <a:lstStyle/>
          <a:p>
            <a:pPr algn="l">
              <a:lnSpc>
                <a:spcPct val="100000"/>
              </a:lnSpc>
            </a:pPr>
            <a:r>
              <a:rPr sz="1000" b="1" i="0" spc="180">
                <a:solidFill>
                  <a:srgbClr val="0F6E63"/>
                </a:solidFill>
                <a:latin typeface="Segoe UI"/>
              </a:rPr>
              <a:t>TAM</a:t>
            </a:r>
          </a:p>
        </p:txBody>
      </p:sp>
      <p:sp>
        <p:nvSpPr>
          <p:cNvPr id="8" name="TextBox 7"/>
          <p:cNvSpPr txBox="1"/>
          <p:nvPr/>
        </p:nvSpPr>
        <p:spPr>
          <a:xfrm>
            <a:off x="1033272" y="2779776"/>
            <a:ext cx="2880360" cy="457200"/>
          </a:xfrm>
          <a:prstGeom prst="rect">
            <a:avLst/>
          </a:prstGeom>
          <a:noFill/>
        </p:spPr>
        <p:txBody>
          <a:bodyPr wrap="square" anchor="t" lIns="0" rIns="0" tIns="0" bIns="0">
            <a:spAutoFit/>
          </a:bodyPr>
          <a:lstStyle/>
          <a:p>
            <a:pPr algn="l">
              <a:lnSpc>
                <a:spcPct val="100000"/>
              </a:lnSpc>
            </a:pPr>
            <a:r>
              <a:rPr sz="2700" b="1" i="0">
                <a:solidFill>
                  <a:srgbClr val="1B1614"/>
                </a:solidFill>
                <a:latin typeface="Segoe UI"/>
              </a:rPr>
              <a:t>13,471 orgs</a:t>
            </a:r>
          </a:p>
        </p:txBody>
      </p:sp>
      <p:sp>
        <p:nvSpPr>
          <p:cNvPr id="9" name="TextBox 8"/>
          <p:cNvSpPr txBox="1"/>
          <p:nvPr/>
        </p:nvSpPr>
        <p:spPr>
          <a:xfrm>
            <a:off x="1033272" y="3346704"/>
            <a:ext cx="2880360" cy="914400"/>
          </a:xfrm>
          <a:prstGeom prst="rect">
            <a:avLst/>
          </a:prstGeom>
          <a:noFill/>
        </p:spPr>
        <p:txBody>
          <a:bodyPr wrap="square" anchor="t" lIns="0" rIns="0" tIns="0" bIns="0">
            <a:spAutoFit/>
          </a:bodyPr>
          <a:lstStyle/>
          <a:p>
            <a:pPr algn="l">
              <a:lnSpc>
                <a:spcPct val="136000"/>
              </a:lnSpc>
            </a:pPr>
            <a:r>
              <a:rPr sz="1000" b="0" i="0">
                <a:solidFill>
                  <a:srgbClr val="5A504A"/>
                </a:solidFill>
                <a:latin typeface="Segoe UI"/>
              </a:rPr>
              <a:t>All US shelters (4,100) and rescue groups (9,371). US shelter software spend runs $100–120M and grows 5–7% a year.</a:t>
            </a:r>
          </a:p>
        </p:txBody>
      </p:sp>
      <p:sp>
        <p:nvSpPr>
          <p:cNvPr id="10" name="TextBox 9"/>
          <p:cNvSpPr txBox="1"/>
          <p:nvPr/>
        </p:nvSpPr>
        <p:spPr>
          <a:xfrm>
            <a:off x="1033272" y="4261104"/>
            <a:ext cx="2880360" cy="292608"/>
          </a:xfrm>
          <a:prstGeom prst="rect">
            <a:avLst/>
          </a:prstGeom>
          <a:noFill/>
        </p:spPr>
        <p:txBody>
          <a:bodyPr wrap="square" anchor="t" lIns="0" rIns="0" tIns="0" bIns="0">
            <a:spAutoFit/>
          </a:bodyPr>
          <a:lstStyle/>
          <a:p>
            <a:pPr algn="l">
              <a:lnSpc>
                <a:spcPct val="110000"/>
              </a:lnSpc>
            </a:pPr>
            <a:r>
              <a:rPr sz="1350" b="1" i="0">
                <a:solidFill>
                  <a:srgbClr val="0F6E63"/>
                </a:solidFill>
                <a:latin typeface="Segoe UI"/>
              </a:rPr>
              <a:t>$100–120M</a:t>
            </a:r>
          </a:p>
        </p:txBody>
      </p:sp>
      <p:sp>
        <p:nvSpPr>
          <p:cNvPr id="11" name="Rounded Rectangle 10"/>
          <p:cNvSpPr/>
          <p:nvPr/>
        </p:nvSpPr>
        <p:spPr>
          <a:xfrm>
            <a:off x="4407408" y="2286000"/>
            <a:ext cx="3392424" cy="2395728"/>
          </a:xfrm>
          <a:prstGeom prst="roundRect">
            <a:avLst>
              <a:gd name="adj" fmla="val 5000"/>
            </a:avLst>
          </a:prstGeom>
          <a:solidFill>
            <a:srgbClr val="FFFFFF"/>
          </a:solidFill>
          <a:ln w="12700">
            <a:solidFill>
              <a:srgbClr val="E4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07408" y="2286000"/>
            <a:ext cx="3392424" cy="43180"/>
          </a:xfrm>
          <a:prstGeom prst="rect">
            <a:avLst/>
          </a:prstGeom>
          <a:solidFill>
            <a:srgbClr val="0B55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0" y="2505456"/>
            <a:ext cx="2880360" cy="237744"/>
          </a:xfrm>
          <a:prstGeom prst="rect">
            <a:avLst/>
          </a:prstGeom>
          <a:noFill/>
        </p:spPr>
        <p:txBody>
          <a:bodyPr wrap="square" anchor="t" lIns="0" rIns="0" tIns="0" bIns="0">
            <a:spAutoFit/>
          </a:bodyPr>
          <a:lstStyle/>
          <a:p>
            <a:pPr algn="l">
              <a:lnSpc>
                <a:spcPct val="100000"/>
              </a:lnSpc>
            </a:pPr>
            <a:r>
              <a:rPr sz="1000" b="1" i="0" spc="180">
                <a:solidFill>
                  <a:srgbClr val="0B554D"/>
                </a:solidFill>
                <a:latin typeface="Segoe UI"/>
              </a:rPr>
              <a:t>SAM</a:t>
            </a:r>
          </a:p>
        </p:txBody>
      </p:sp>
      <p:sp>
        <p:nvSpPr>
          <p:cNvPr id="14" name="TextBox 13"/>
          <p:cNvSpPr txBox="1"/>
          <p:nvPr/>
        </p:nvSpPr>
        <p:spPr>
          <a:xfrm>
            <a:off x="4663440" y="2779776"/>
            <a:ext cx="2880360" cy="457200"/>
          </a:xfrm>
          <a:prstGeom prst="rect">
            <a:avLst/>
          </a:prstGeom>
          <a:noFill/>
        </p:spPr>
        <p:txBody>
          <a:bodyPr wrap="square" anchor="t" lIns="0" rIns="0" tIns="0" bIns="0">
            <a:spAutoFit/>
          </a:bodyPr>
          <a:lstStyle/>
          <a:p>
            <a:pPr algn="l">
              <a:lnSpc>
                <a:spcPct val="100000"/>
              </a:lnSpc>
            </a:pPr>
            <a:r>
              <a:rPr sz="2700" b="1" i="0">
                <a:solidFill>
                  <a:srgbClr val="1B1614"/>
                </a:solidFill>
                <a:latin typeface="Segoe UI"/>
              </a:rPr>
              <a:t>~6,100 orgs</a:t>
            </a:r>
          </a:p>
        </p:txBody>
      </p:sp>
      <p:sp>
        <p:nvSpPr>
          <p:cNvPr id="15" name="TextBox 14"/>
          <p:cNvSpPr txBox="1"/>
          <p:nvPr/>
        </p:nvSpPr>
        <p:spPr>
          <a:xfrm>
            <a:off x="4663440" y="3346704"/>
            <a:ext cx="2880360" cy="914400"/>
          </a:xfrm>
          <a:prstGeom prst="rect">
            <a:avLst/>
          </a:prstGeom>
          <a:noFill/>
        </p:spPr>
        <p:txBody>
          <a:bodyPr wrap="square" anchor="t" lIns="0" rIns="0" tIns="0" bIns="0">
            <a:spAutoFit/>
          </a:bodyPr>
          <a:lstStyle/>
          <a:p>
            <a:pPr algn="l">
              <a:lnSpc>
                <a:spcPct val="136000"/>
              </a:lnSpc>
            </a:pPr>
            <a:r>
              <a:rPr sz="1000" b="0" i="0">
                <a:solidFill>
                  <a:srgbClr val="5A504A"/>
                </a:solidFill>
                <a:latin typeface="Segoe UI"/>
              </a:rPr>
              <a:t>Shelters plus foster-heavy rescues that run a structured foster programme — the ones with a coordinator to give back.</a:t>
            </a:r>
          </a:p>
        </p:txBody>
      </p:sp>
      <p:sp>
        <p:nvSpPr>
          <p:cNvPr id="16" name="TextBox 15"/>
          <p:cNvSpPr txBox="1"/>
          <p:nvPr/>
        </p:nvSpPr>
        <p:spPr>
          <a:xfrm>
            <a:off x="4663440" y="4261104"/>
            <a:ext cx="2880360" cy="292608"/>
          </a:xfrm>
          <a:prstGeom prst="rect">
            <a:avLst/>
          </a:prstGeom>
          <a:noFill/>
        </p:spPr>
        <p:txBody>
          <a:bodyPr wrap="square" anchor="t" lIns="0" rIns="0" tIns="0" bIns="0">
            <a:spAutoFit/>
          </a:bodyPr>
          <a:lstStyle/>
          <a:p>
            <a:pPr algn="l">
              <a:lnSpc>
                <a:spcPct val="110000"/>
              </a:lnSpc>
            </a:pPr>
            <a:r>
              <a:rPr sz="1350" b="1" i="0">
                <a:solidFill>
                  <a:srgbClr val="0B554D"/>
                </a:solidFill>
                <a:latin typeface="Segoe UI"/>
              </a:rPr>
              <a:t>$12–30M ARR</a:t>
            </a:r>
          </a:p>
        </p:txBody>
      </p:sp>
      <p:sp>
        <p:nvSpPr>
          <p:cNvPr id="17" name="Rounded Rectangle 16"/>
          <p:cNvSpPr/>
          <p:nvPr/>
        </p:nvSpPr>
        <p:spPr>
          <a:xfrm>
            <a:off x="8037576" y="2286000"/>
            <a:ext cx="3392424" cy="2395728"/>
          </a:xfrm>
          <a:prstGeom prst="roundRect">
            <a:avLst>
              <a:gd name="adj" fmla="val 5000"/>
            </a:avLst>
          </a:prstGeom>
          <a:solidFill>
            <a:srgbClr val="FFFFFF"/>
          </a:solidFill>
          <a:ln w="12700">
            <a:solidFill>
              <a:srgbClr val="E4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37576" y="2286000"/>
            <a:ext cx="3392424" cy="43180"/>
          </a:xfrm>
          <a:prstGeom prst="rect">
            <a:avLst/>
          </a:prstGeom>
          <a:solidFill>
            <a:srgbClr val="F0A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2505456"/>
            <a:ext cx="2880360" cy="237744"/>
          </a:xfrm>
          <a:prstGeom prst="rect">
            <a:avLst/>
          </a:prstGeom>
          <a:noFill/>
        </p:spPr>
        <p:txBody>
          <a:bodyPr wrap="square" anchor="t" lIns="0" rIns="0" tIns="0" bIns="0">
            <a:spAutoFit/>
          </a:bodyPr>
          <a:lstStyle/>
          <a:p>
            <a:pPr algn="l">
              <a:lnSpc>
                <a:spcPct val="100000"/>
              </a:lnSpc>
            </a:pPr>
            <a:r>
              <a:rPr sz="1000" b="1" i="0" spc="180">
                <a:solidFill>
                  <a:srgbClr val="F0A544"/>
                </a:solidFill>
                <a:latin typeface="Segoe UI"/>
              </a:rPr>
              <a:t>SOM</a:t>
            </a:r>
          </a:p>
        </p:txBody>
      </p:sp>
      <p:sp>
        <p:nvSpPr>
          <p:cNvPr id="20" name="TextBox 19"/>
          <p:cNvSpPr txBox="1"/>
          <p:nvPr/>
        </p:nvSpPr>
        <p:spPr>
          <a:xfrm>
            <a:off x="8293608" y="2779776"/>
            <a:ext cx="2880360" cy="457200"/>
          </a:xfrm>
          <a:prstGeom prst="rect">
            <a:avLst/>
          </a:prstGeom>
          <a:noFill/>
        </p:spPr>
        <p:txBody>
          <a:bodyPr wrap="square" anchor="t" lIns="0" rIns="0" tIns="0" bIns="0">
            <a:spAutoFit/>
          </a:bodyPr>
          <a:lstStyle/>
          <a:p>
            <a:pPr algn="l">
              <a:lnSpc>
                <a:spcPct val="100000"/>
              </a:lnSpc>
            </a:pPr>
            <a:r>
              <a:rPr sz="2700" b="1" i="0">
                <a:solidFill>
                  <a:srgbClr val="1B1614"/>
                </a:solidFill>
                <a:latin typeface="Segoe UI"/>
              </a:rPr>
              <a:t>50 tenants</a:t>
            </a:r>
          </a:p>
        </p:txBody>
      </p:sp>
      <p:sp>
        <p:nvSpPr>
          <p:cNvPr id="21" name="TextBox 20"/>
          <p:cNvSpPr txBox="1"/>
          <p:nvPr/>
        </p:nvSpPr>
        <p:spPr>
          <a:xfrm>
            <a:off x="8293608" y="3346704"/>
            <a:ext cx="2880360" cy="914400"/>
          </a:xfrm>
          <a:prstGeom prst="rect">
            <a:avLst/>
          </a:prstGeom>
          <a:noFill/>
        </p:spPr>
        <p:txBody>
          <a:bodyPr wrap="square" anchor="t" lIns="0" rIns="0" tIns="0" bIns="0">
            <a:spAutoFit/>
          </a:bodyPr>
          <a:lstStyle/>
          <a:p>
            <a:pPr algn="l">
              <a:lnSpc>
                <a:spcPct val="136000"/>
              </a:lnSpc>
            </a:pPr>
            <a:r>
              <a:rPr sz="1000" b="0" i="0">
                <a:solidFill>
                  <a:srgbClr val="5A504A"/>
                </a:solidFill>
                <a:latin typeface="Segoe UI"/>
              </a:rPr>
              <a:t>The platform's own engineering design target. West Coast metro shelters seeded by the SFSPCA reference.</a:t>
            </a:r>
          </a:p>
        </p:txBody>
      </p:sp>
      <p:sp>
        <p:nvSpPr>
          <p:cNvPr id="22" name="TextBox 21"/>
          <p:cNvSpPr txBox="1"/>
          <p:nvPr/>
        </p:nvSpPr>
        <p:spPr>
          <a:xfrm>
            <a:off x="8293608" y="4261104"/>
            <a:ext cx="2880360" cy="292608"/>
          </a:xfrm>
          <a:prstGeom prst="rect">
            <a:avLst/>
          </a:prstGeom>
          <a:noFill/>
        </p:spPr>
        <p:txBody>
          <a:bodyPr wrap="square" anchor="t" lIns="0" rIns="0" tIns="0" bIns="0">
            <a:spAutoFit/>
          </a:bodyPr>
          <a:lstStyle/>
          <a:p>
            <a:pPr algn="l">
              <a:lnSpc>
                <a:spcPct val="110000"/>
              </a:lnSpc>
            </a:pPr>
            <a:r>
              <a:rPr sz="1350" b="1" i="0">
                <a:solidFill>
                  <a:srgbClr val="F0A544"/>
                </a:solidFill>
                <a:latin typeface="Segoe UI"/>
              </a:rPr>
              <a:t>$0.4–1.2M ARR</a:t>
            </a:r>
          </a:p>
        </p:txBody>
      </p:sp>
      <p:sp>
        <p:nvSpPr>
          <p:cNvPr id="23" name="Rounded Rectangle 22"/>
          <p:cNvSpPr/>
          <p:nvPr/>
        </p:nvSpPr>
        <p:spPr>
          <a:xfrm>
            <a:off x="777240" y="4882896"/>
            <a:ext cx="10637215" cy="932688"/>
          </a:xfrm>
          <a:prstGeom prst="roundRect">
            <a:avLst>
              <a:gd name="adj" fmla="val 5000"/>
            </a:avLst>
          </a:prstGeom>
          <a:solidFill>
            <a:srgbClr val="F0E7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8136" y="5047488"/>
            <a:ext cx="10015423" cy="640080"/>
          </a:xfrm>
          <a:prstGeom prst="rect">
            <a:avLst/>
          </a:prstGeom>
          <a:noFill/>
        </p:spPr>
        <p:txBody>
          <a:bodyPr wrap="square" anchor="t" lIns="0" rIns="0" tIns="0" bIns="0">
            <a:spAutoFit/>
          </a:bodyPr>
          <a:lstStyle/>
          <a:p>
            <a:pPr algn="l">
              <a:lnSpc>
                <a:spcPct val="138000"/>
              </a:lnSpc>
            </a:pPr>
            <a:r>
              <a:rPr sz="1150" b="0" i="0">
                <a:solidFill>
                  <a:srgbClr val="5A504A"/>
                </a:solidFill>
                <a:latin typeface="Segoe UI"/>
              </a:rPr>
              <a:t>Pricing follows nonprofit norms ($1.2K–$10K/yr per org). Mission funding — Maddie's Fund, Petco Love, Best Friends — is a credible second revenue line, and capacity outcomes are exactly what those grants fund.</a:t>
            </a:r>
          </a:p>
        </p:txBody>
      </p:sp>
      <p:sp>
        <p:nvSpPr>
          <p:cNvPr id="25" name="TextBox 24"/>
          <p:cNvSpPr txBox="1"/>
          <p:nvPr/>
        </p:nvSpPr>
        <p:spPr>
          <a:xfrm>
            <a:off x="777240" y="6053328"/>
            <a:ext cx="10637215" cy="274320"/>
          </a:xfrm>
          <a:prstGeom prst="rect">
            <a:avLst/>
          </a:prstGeom>
          <a:noFill/>
        </p:spPr>
        <p:txBody>
          <a:bodyPr wrap="square" anchor="t" lIns="0" rIns="0" tIns="0" bIns="0">
            <a:spAutoFit/>
          </a:bodyPr>
          <a:lstStyle/>
          <a:p>
            <a:pPr algn="l">
              <a:lnSpc>
                <a:spcPct val="120000"/>
              </a:lnSpc>
            </a:pPr>
            <a:r>
              <a:rPr sz="900" b="0" i="1">
                <a:solidFill>
                  <a:srgbClr val="7C6F66"/>
                </a:solidFill>
                <a:latin typeface="Segoe UI"/>
              </a:rPr>
              <a:t>Sources: Shelter Animals Count / ASPCA organisation counts (2025) · vendor pricing disclosures for Shelterluv, PetPoint, Chameleon, ShelterBuddy, Petstablished · WolfPack PRD §9 scale target.</a:t>
            </a:r>
          </a:p>
        </p:txBody>
      </p:sp>
      <p:sp>
        <p:nvSpPr>
          <p:cNvPr id="26" name="TextBox 25"/>
          <p:cNvSpPr txBox="1"/>
          <p:nvPr/>
        </p:nvSpPr>
        <p:spPr>
          <a:xfrm>
            <a:off x="777240" y="6345936"/>
            <a:ext cx="7315200" cy="274320"/>
          </a:xfrm>
          <a:prstGeom prst="rect">
            <a:avLst/>
          </a:prstGeom>
          <a:noFill/>
        </p:spPr>
        <p:txBody>
          <a:bodyPr wrap="square" anchor="t" lIns="0" rIns="0" tIns="0" bIns="0">
            <a:spAutoFit/>
          </a:bodyPr>
          <a:lstStyle/>
          <a:p>
            <a:pPr algn="l">
              <a:lnSpc>
                <a:spcPct val="100000"/>
              </a:lnSpc>
            </a:pPr>
            <a:r>
              <a:rPr sz="900" b="0" i="0">
                <a:solidFill>
                  <a:srgbClr val="7C6F66"/>
                </a:solidFill>
                <a:latin typeface="Segoe UI"/>
              </a:rPr>
              <a:t>The Foster Pack  ·  Confidential</a:t>
            </a:r>
          </a:p>
        </p:txBody>
      </p:sp>
      <p:sp>
        <p:nvSpPr>
          <p:cNvPr id="27" name="TextBox 26"/>
          <p:cNvSpPr txBox="1"/>
          <p:nvPr/>
        </p:nvSpPr>
        <p:spPr>
          <a:xfrm>
            <a:off x="10515600" y="6345936"/>
            <a:ext cx="896112" cy="274320"/>
          </a:xfrm>
          <a:prstGeom prst="rect">
            <a:avLst/>
          </a:prstGeom>
          <a:noFill/>
        </p:spPr>
        <p:txBody>
          <a:bodyPr wrap="square" anchor="t" lIns="0" rIns="0" tIns="0" bIns="0">
            <a:spAutoFit/>
          </a:bodyPr>
          <a:lstStyle/>
          <a:p>
            <a:pPr algn="r">
              <a:lnSpc>
                <a:spcPct val="100000"/>
              </a:lnSpc>
            </a:pPr>
            <a:r>
              <a:rPr sz="900" b="1" i="0">
                <a:solidFill>
                  <a:srgbClr val="7C6F66"/>
                </a:solidFill>
                <a:latin typeface="Segoe U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A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30352"/>
            <a:ext cx="10637215" cy="274320"/>
          </a:xfrm>
          <a:prstGeom prst="rect">
            <a:avLst/>
          </a:prstGeom>
          <a:noFill/>
        </p:spPr>
        <p:txBody>
          <a:bodyPr wrap="square" anchor="t" lIns="0" rIns="0" tIns="0" bIns="0">
            <a:spAutoFit/>
          </a:bodyPr>
          <a:lstStyle/>
          <a:p>
            <a:pPr algn="l">
              <a:lnSpc>
                <a:spcPct val="100000"/>
              </a:lnSpc>
            </a:pPr>
            <a:r>
              <a:rPr sz="1050" b="1" i="0" spc="190">
                <a:solidFill>
                  <a:srgbClr val="F0A544"/>
                </a:solidFill>
                <a:latin typeface="Segoe UI"/>
              </a:rPr>
              <a:t>WHY NOW</a:t>
            </a:r>
          </a:p>
        </p:txBody>
      </p:sp>
      <p:sp>
        <p:nvSpPr>
          <p:cNvPr id="4" name="TextBox 3"/>
          <p:cNvSpPr txBox="1"/>
          <p:nvPr/>
        </p:nvSpPr>
        <p:spPr>
          <a:xfrm>
            <a:off x="777240" y="841248"/>
            <a:ext cx="10637215" cy="1371600"/>
          </a:xfrm>
          <a:prstGeom prst="rect">
            <a:avLst/>
          </a:prstGeom>
          <a:noFill/>
        </p:spPr>
        <p:txBody>
          <a:bodyPr wrap="square" anchor="t" lIns="0" rIns="0" tIns="0" bIns="0">
            <a:spAutoFit/>
          </a:bodyPr>
          <a:lstStyle/>
          <a:p>
            <a:pPr algn="l">
              <a:lnSpc>
                <a:spcPct val="108000"/>
              </a:lnSpc>
            </a:pPr>
            <a:r>
              <a:rPr sz="3600" b="1" i="0">
                <a:solidFill>
                  <a:srgbClr val="FFFFFF"/>
                </a:solidFill>
                <a:latin typeface="Segoe UI"/>
              </a:rPr>
              <a:t>Four things just became true.</a:t>
            </a:r>
          </a:p>
        </p:txBody>
      </p:sp>
      <p:sp>
        <p:nvSpPr>
          <p:cNvPr id="5" name="TextBox 4"/>
          <p:cNvSpPr txBox="1"/>
          <p:nvPr/>
        </p:nvSpPr>
        <p:spPr>
          <a:xfrm>
            <a:off x="777240" y="2212848"/>
            <a:ext cx="502920" cy="320040"/>
          </a:xfrm>
          <a:prstGeom prst="rect">
            <a:avLst/>
          </a:prstGeom>
          <a:noFill/>
        </p:spPr>
        <p:txBody>
          <a:bodyPr wrap="square" anchor="t" lIns="0" rIns="0" tIns="0" bIns="0">
            <a:spAutoFit/>
          </a:bodyPr>
          <a:lstStyle/>
          <a:p>
            <a:pPr algn="l">
              <a:lnSpc>
                <a:spcPct val="100000"/>
              </a:lnSpc>
            </a:pPr>
            <a:r>
              <a:rPr sz="1300" b="1" i="0">
                <a:solidFill>
                  <a:srgbClr val="F0A544"/>
                </a:solidFill>
                <a:latin typeface="Segoe UI"/>
              </a:rPr>
              <a:t>01</a:t>
            </a:r>
          </a:p>
        </p:txBody>
      </p:sp>
      <p:sp>
        <p:nvSpPr>
          <p:cNvPr id="6" name="TextBox 5"/>
          <p:cNvSpPr txBox="1"/>
          <p:nvPr/>
        </p:nvSpPr>
        <p:spPr>
          <a:xfrm>
            <a:off x="1344168" y="2185416"/>
            <a:ext cx="10070287" cy="320040"/>
          </a:xfrm>
          <a:prstGeom prst="rect">
            <a:avLst/>
          </a:prstGeom>
          <a:noFill/>
        </p:spPr>
        <p:txBody>
          <a:bodyPr wrap="square" anchor="t" lIns="0" rIns="0" tIns="0" bIns="0">
            <a:spAutoFit/>
          </a:bodyPr>
          <a:lstStyle/>
          <a:p>
            <a:pPr algn="l">
              <a:lnSpc>
                <a:spcPct val="120000"/>
              </a:lnSpc>
            </a:pPr>
            <a:r>
              <a:rPr sz="1350" b="1" i="0">
                <a:solidFill>
                  <a:srgbClr val="FFFFFF"/>
                </a:solidFill>
                <a:latin typeface="Segoe UI"/>
              </a:rPr>
              <a:t>The capacity crisis peaked, and foster became the accepted release valve.</a:t>
            </a:r>
          </a:p>
        </p:txBody>
      </p:sp>
      <p:sp>
        <p:nvSpPr>
          <p:cNvPr id="7" name="TextBox 6"/>
          <p:cNvSpPr txBox="1"/>
          <p:nvPr/>
        </p:nvSpPr>
        <p:spPr>
          <a:xfrm>
            <a:off x="1344168" y="2450592"/>
            <a:ext cx="10070287" cy="457200"/>
          </a:xfrm>
          <a:prstGeom prst="rect">
            <a:avLst/>
          </a:prstGeom>
          <a:noFill/>
        </p:spPr>
        <p:txBody>
          <a:bodyPr wrap="square" anchor="t" lIns="0" rIns="0" tIns="0" bIns="0">
            <a:spAutoFit/>
          </a:bodyPr>
          <a:lstStyle/>
          <a:p>
            <a:pPr algn="l">
              <a:lnSpc>
                <a:spcPct val="134000"/>
              </a:lnSpc>
            </a:pPr>
            <a:r>
              <a:rPr sz="1050" b="0" i="0">
                <a:solidFill>
                  <a:srgbClr val="A89F97"/>
                </a:solidFill>
                <a:latin typeface="Segoe UI"/>
              </a:rPr>
              <a:t>Large-dog length of stay is at record highs. Shelter leadership is actively looking for foster growth, not another database.</a:t>
            </a:r>
          </a:p>
        </p:txBody>
      </p:sp>
      <p:sp>
        <p:nvSpPr>
          <p:cNvPr id="8" name="TextBox 7"/>
          <p:cNvSpPr txBox="1"/>
          <p:nvPr/>
        </p:nvSpPr>
        <p:spPr>
          <a:xfrm>
            <a:off x="777240" y="3127248"/>
            <a:ext cx="502920" cy="320040"/>
          </a:xfrm>
          <a:prstGeom prst="rect">
            <a:avLst/>
          </a:prstGeom>
          <a:noFill/>
        </p:spPr>
        <p:txBody>
          <a:bodyPr wrap="square" anchor="t" lIns="0" rIns="0" tIns="0" bIns="0">
            <a:spAutoFit/>
          </a:bodyPr>
          <a:lstStyle/>
          <a:p>
            <a:pPr algn="l">
              <a:lnSpc>
                <a:spcPct val="100000"/>
              </a:lnSpc>
            </a:pPr>
            <a:r>
              <a:rPr sz="1300" b="1" i="0">
                <a:solidFill>
                  <a:srgbClr val="F0A544"/>
                </a:solidFill>
                <a:latin typeface="Segoe UI"/>
              </a:rPr>
              <a:t>02</a:t>
            </a:r>
          </a:p>
        </p:txBody>
      </p:sp>
      <p:sp>
        <p:nvSpPr>
          <p:cNvPr id="9" name="TextBox 8"/>
          <p:cNvSpPr txBox="1"/>
          <p:nvPr/>
        </p:nvSpPr>
        <p:spPr>
          <a:xfrm>
            <a:off x="1344168" y="3099816"/>
            <a:ext cx="10070287" cy="320040"/>
          </a:xfrm>
          <a:prstGeom prst="rect">
            <a:avLst/>
          </a:prstGeom>
          <a:noFill/>
        </p:spPr>
        <p:txBody>
          <a:bodyPr wrap="square" anchor="t" lIns="0" rIns="0" tIns="0" bIns="0">
            <a:spAutoFit/>
          </a:bodyPr>
          <a:lstStyle/>
          <a:p>
            <a:pPr algn="l">
              <a:lnSpc>
                <a:spcPct val="120000"/>
              </a:lnSpc>
            </a:pPr>
            <a:r>
              <a:rPr sz="1350" b="1" i="0">
                <a:solidFill>
                  <a:srgbClr val="FFFFFF"/>
                </a:solidFill>
                <a:latin typeface="Segoe UI"/>
              </a:rPr>
              <a:t>AI got good at turning unstructured input into structured records.</a:t>
            </a:r>
          </a:p>
        </p:txBody>
      </p:sp>
      <p:sp>
        <p:nvSpPr>
          <p:cNvPr id="10" name="TextBox 9"/>
          <p:cNvSpPr txBox="1"/>
          <p:nvPr/>
        </p:nvSpPr>
        <p:spPr>
          <a:xfrm>
            <a:off x="1344168" y="3364992"/>
            <a:ext cx="10070287" cy="457200"/>
          </a:xfrm>
          <a:prstGeom prst="rect">
            <a:avLst/>
          </a:prstGeom>
          <a:noFill/>
        </p:spPr>
        <p:txBody>
          <a:bodyPr wrap="square" anchor="t" lIns="0" rIns="0" tIns="0" bIns="0">
            <a:spAutoFit/>
          </a:bodyPr>
          <a:lstStyle/>
          <a:p>
            <a:pPr algn="l">
              <a:lnSpc>
                <a:spcPct val="134000"/>
              </a:lnSpc>
            </a:pPr>
            <a:r>
              <a:rPr sz="1050" b="0" i="0">
                <a:solidFill>
                  <a:srgbClr val="A89F97"/>
                </a:solidFill>
                <a:latin typeface="Segoe UI"/>
              </a:rPr>
              <a:t>A 20-second voice note is now a weight reading, a behavioural flag, and a searchable transcript. That was not true three years ago.</a:t>
            </a:r>
          </a:p>
        </p:txBody>
      </p:sp>
      <p:sp>
        <p:nvSpPr>
          <p:cNvPr id="11" name="TextBox 10"/>
          <p:cNvSpPr txBox="1"/>
          <p:nvPr/>
        </p:nvSpPr>
        <p:spPr>
          <a:xfrm>
            <a:off x="777240" y="4041648"/>
            <a:ext cx="502920" cy="320040"/>
          </a:xfrm>
          <a:prstGeom prst="rect">
            <a:avLst/>
          </a:prstGeom>
          <a:noFill/>
        </p:spPr>
        <p:txBody>
          <a:bodyPr wrap="square" anchor="t" lIns="0" rIns="0" tIns="0" bIns="0">
            <a:spAutoFit/>
          </a:bodyPr>
          <a:lstStyle/>
          <a:p>
            <a:pPr algn="l">
              <a:lnSpc>
                <a:spcPct val="100000"/>
              </a:lnSpc>
            </a:pPr>
            <a:r>
              <a:rPr sz="1300" b="1" i="0">
                <a:solidFill>
                  <a:srgbClr val="F0A544"/>
                </a:solidFill>
                <a:latin typeface="Segoe UI"/>
              </a:rPr>
              <a:t>03</a:t>
            </a:r>
          </a:p>
        </p:txBody>
      </p:sp>
      <p:sp>
        <p:nvSpPr>
          <p:cNvPr id="12" name="TextBox 11"/>
          <p:cNvSpPr txBox="1"/>
          <p:nvPr/>
        </p:nvSpPr>
        <p:spPr>
          <a:xfrm>
            <a:off x="1344168" y="4014216"/>
            <a:ext cx="10070287" cy="320040"/>
          </a:xfrm>
          <a:prstGeom prst="rect">
            <a:avLst/>
          </a:prstGeom>
          <a:noFill/>
        </p:spPr>
        <p:txBody>
          <a:bodyPr wrap="square" anchor="t" lIns="0" rIns="0" tIns="0" bIns="0">
            <a:spAutoFit/>
          </a:bodyPr>
          <a:lstStyle/>
          <a:p>
            <a:pPr algn="l">
              <a:lnSpc>
                <a:spcPct val="120000"/>
              </a:lnSpc>
            </a:pPr>
            <a:r>
              <a:rPr sz="1350" b="1" i="0">
                <a:solidFill>
                  <a:srgbClr val="FFFFFF"/>
                </a:solidFill>
                <a:latin typeface="Segoe UI"/>
              </a:rPr>
              <a:t>The incumbents are records systems designed before the smartphone.</a:t>
            </a:r>
          </a:p>
        </p:txBody>
      </p:sp>
      <p:sp>
        <p:nvSpPr>
          <p:cNvPr id="13" name="TextBox 12"/>
          <p:cNvSpPr txBox="1"/>
          <p:nvPr/>
        </p:nvSpPr>
        <p:spPr>
          <a:xfrm>
            <a:off x="1344168" y="4279392"/>
            <a:ext cx="10070287" cy="457200"/>
          </a:xfrm>
          <a:prstGeom prst="rect">
            <a:avLst/>
          </a:prstGeom>
          <a:noFill/>
        </p:spPr>
        <p:txBody>
          <a:bodyPr wrap="square" anchor="t" lIns="0" rIns="0" tIns="0" bIns="0">
            <a:spAutoFit/>
          </a:bodyPr>
          <a:lstStyle/>
          <a:p>
            <a:pPr algn="l">
              <a:lnSpc>
                <a:spcPct val="134000"/>
              </a:lnSpc>
            </a:pPr>
            <a:r>
              <a:rPr sz="1050" b="0" i="0">
                <a:solidFill>
                  <a:srgbClr val="A89F97"/>
                </a:solidFill>
                <a:latin typeface="Segoe UI"/>
              </a:rPr>
              <a:t>PetPoint, Chameleon and ShelterBuddy have foster status fields. None of them have a foster product.</a:t>
            </a:r>
          </a:p>
        </p:txBody>
      </p:sp>
      <p:sp>
        <p:nvSpPr>
          <p:cNvPr id="14" name="TextBox 13"/>
          <p:cNvSpPr txBox="1"/>
          <p:nvPr/>
        </p:nvSpPr>
        <p:spPr>
          <a:xfrm>
            <a:off x="777240" y="4956048"/>
            <a:ext cx="502920" cy="320040"/>
          </a:xfrm>
          <a:prstGeom prst="rect">
            <a:avLst/>
          </a:prstGeom>
          <a:noFill/>
        </p:spPr>
        <p:txBody>
          <a:bodyPr wrap="square" anchor="t" lIns="0" rIns="0" tIns="0" bIns="0">
            <a:spAutoFit/>
          </a:bodyPr>
          <a:lstStyle/>
          <a:p>
            <a:pPr algn="l">
              <a:lnSpc>
                <a:spcPct val="100000"/>
              </a:lnSpc>
            </a:pPr>
            <a:r>
              <a:rPr sz="1300" b="1" i="0">
                <a:solidFill>
                  <a:srgbClr val="F0A544"/>
                </a:solidFill>
                <a:latin typeface="Segoe UI"/>
              </a:rPr>
              <a:t>04</a:t>
            </a:r>
          </a:p>
        </p:txBody>
      </p:sp>
      <p:sp>
        <p:nvSpPr>
          <p:cNvPr id="15" name="TextBox 14"/>
          <p:cNvSpPr txBox="1"/>
          <p:nvPr/>
        </p:nvSpPr>
        <p:spPr>
          <a:xfrm>
            <a:off x="1344168" y="4928616"/>
            <a:ext cx="10070287" cy="320040"/>
          </a:xfrm>
          <a:prstGeom prst="rect">
            <a:avLst/>
          </a:prstGeom>
          <a:noFill/>
        </p:spPr>
        <p:txBody>
          <a:bodyPr wrap="square" anchor="t" lIns="0" rIns="0" tIns="0" bIns="0">
            <a:spAutoFit/>
          </a:bodyPr>
          <a:lstStyle/>
          <a:p>
            <a:pPr algn="l">
              <a:lnSpc>
                <a:spcPct val="120000"/>
              </a:lnSpc>
            </a:pPr>
            <a:r>
              <a:rPr sz="1350" b="1" i="0">
                <a:solidFill>
                  <a:srgbClr val="FFFFFF"/>
                </a:solidFill>
                <a:latin typeface="Segoe UI"/>
              </a:rPr>
              <a:t>Social is where fosters actually come from — and nobody has instrumented it.</a:t>
            </a:r>
          </a:p>
        </p:txBody>
      </p:sp>
      <p:sp>
        <p:nvSpPr>
          <p:cNvPr id="16" name="TextBox 15"/>
          <p:cNvSpPr txBox="1"/>
          <p:nvPr/>
        </p:nvSpPr>
        <p:spPr>
          <a:xfrm>
            <a:off x="1344168" y="5193792"/>
            <a:ext cx="10070287" cy="457200"/>
          </a:xfrm>
          <a:prstGeom prst="rect">
            <a:avLst/>
          </a:prstGeom>
          <a:noFill/>
        </p:spPr>
        <p:txBody>
          <a:bodyPr wrap="square" anchor="t" lIns="0" rIns="0" tIns="0" bIns="0">
            <a:spAutoFit/>
          </a:bodyPr>
          <a:lstStyle/>
          <a:p>
            <a:pPr algn="l">
              <a:lnSpc>
                <a:spcPct val="134000"/>
              </a:lnSpc>
            </a:pPr>
            <a:r>
              <a:rPr sz="1050" b="0" i="0">
                <a:solidFill>
                  <a:srgbClr val="A89F97"/>
                </a:solidFill>
                <a:latin typeface="Segoe UI"/>
              </a:rPr>
              <a:t>Every placement is content. Today that content leaks into private camera rolls instead of recruiting the next foster.</a:t>
            </a:r>
          </a:p>
        </p:txBody>
      </p:sp>
      <p:sp>
        <p:nvSpPr>
          <p:cNvPr id="17" name="TextBox 16"/>
          <p:cNvSpPr txBox="1"/>
          <p:nvPr/>
        </p:nvSpPr>
        <p:spPr>
          <a:xfrm>
            <a:off x="777240" y="6345936"/>
            <a:ext cx="7315200" cy="274320"/>
          </a:xfrm>
          <a:prstGeom prst="rect">
            <a:avLst/>
          </a:prstGeom>
          <a:noFill/>
        </p:spPr>
        <p:txBody>
          <a:bodyPr wrap="square" anchor="t" lIns="0" rIns="0" tIns="0" bIns="0">
            <a:spAutoFit/>
          </a:bodyPr>
          <a:lstStyle/>
          <a:p>
            <a:pPr algn="l">
              <a:lnSpc>
                <a:spcPct val="100000"/>
              </a:lnSpc>
            </a:pPr>
            <a:r>
              <a:rPr sz="900" b="0" i="0">
                <a:solidFill>
                  <a:srgbClr val="FFFFFF"/>
                </a:solidFill>
                <a:latin typeface="Segoe UI"/>
              </a:rPr>
              <a:t>The Foster Pack  ·  Confidential</a:t>
            </a:r>
          </a:p>
        </p:txBody>
      </p:sp>
      <p:sp>
        <p:nvSpPr>
          <p:cNvPr id="18" name="TextBox 17"/>
          <p:cNvSpPr txBox="1"/>
          <p:nvPr/>
        </p:nvSpPr>
        <p:spPr>
          <a:xfrm>
            <a:off x="10515600" y="6345936"/>
            <a:ext cx="896112" cy="274320"/>
          </a:xfrm>
          <a:prstGeom prst="rect">
            <a:avLst/>
          </a:prstGeom>
          <a:noFill/>
        </p:spPr>
        <p:txBody>
          <a:bodyPr wrap="square" anchor="t" lIns="0" rIns="0" tIns="0" bIns="0">
            <a:spAutoFit/>
          </a:bodyPr>
          <a:lstStyle/>
          <a:p>
            <a:pPr algn="r">
              <a:lnSpc>
                <a:spcPct val="100000"/>
              </a:lnSpc>
            </a:pPr>
            <a:r>
              <a:rPr sz="900" b="1" i="0">
                <a:solidFill>
                  <a:srgbClr val="FFFFFF"/>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30352"/>
            <a:ext cx="10637215" cy="274320"/>
          </a:xfrm>
          <a:prstGeom prst="rect">
            <a:avLst/>
          </a:prstGeom>
          <a:noFill/>
        </p:spPr>
        <p:txBody>
          <a:bodyPr wrap="square" anchor="t" lIns="0" rIns="0" tIns="0" bIns="0">
            <a:spAutoFit/>
          </a:bodyPr>
          <a:lstStyle/>
          <a:p>
            <a:pPr algn="l">
              <a:lnSpc>
                <a:spcPct val="100000"/>
              </a:lnSpc>
            </a:pPr>
            <a:r>
              <a:rPr sz="1050" b="1" i="0" spc="190">
                <a:solidFill>
                  <a:srgbClr val="0F6E63"/>
                </a:solidFill>
                <a:latin typeface="Segoe UI"/>
              </a:rPr>
              <a:t>COMPETITOR ANALYSIS</a:t>
            </a:r>
          </a:p>
        </p:txBody>
      </p:sp>
      <p:sp>
        <p:nvSpPr>
          <p:cNvPr id="4" name="TextBox 3"/>
          <p:cNvSpPr txBox="1"/>
          <p:nvPr/>
        </p:nvSpPr>
        <p:spPr>
          <a:xfrm>
            <a:off x="777240" y="841248"/>
            <a:ext cx="10637215" cy="1371600"/>
          </a:xfrm>
          <a:prstGeom prst="rect">
            <a:avLst/>
          </a:prstGeom>
          <a:noFill/>
        </p:spPr>
        <p:txBody>
          <a:bodyPr wrap="square" anchor="t" lIns="0" rIns="0" tIns="0" bIns="0">
            <a:spAutoFit/>
          </a:bodyPr>
          <a:lstStyle/>
          <a:p>
            <a:pPr algn="l">
              <a:lnSpc>
                <a:spcPct val="108000"/>
              </a:lnSpc>
            </a:pPr>
            <a:r>
              <a:rPr sz="3400" b="1" i="0">
                <a:solidFill>
                  <a:srgbClr val="1B1614"/>
                </a:solidFill>
                <a:latin typeface="Segoe UI"/>
              </a:rPr>
              <a:t>Everyone tracks fosters. Nobody grows them.</a:t>
            </a:r>
          </a:p>
        </p:txBody>
      </p:sp>
      <p:graphicFrame>
        <p:nvGraphicFramePr>
          <p:cNvPr id="5" name="Table 4"/>
          <p:cNvGraphicFramePr>
            <a:graphicFrameLocks noGrp="1"/>
          </p:cNvGraphicFramePr>
          <p:nvPr/>
        </p:nvGraphicFramePr>
        <p:xfrm>
          <a:off x="777240" y="1828800"/>
          <a:ext cx="10637214" cy="3822192"/>
        </p:xfrm>
        <a:graphic>
          <a:graphicData uri="http://schemas.openxmlformats.org/drawingml/2006/table">
            <a:tbl>
              <a:tblPr firstRow="0" bandRow="0">
                <a:tableStyleId>{2D5ABB26-0587-4C30-8999-92F81FD0307C}</a:tableStyleId>
              </a:tblPr>
              <a:tblGrid>
                <a:gridCol w="1874519"/>
                <a:gridCol w="2743200"/>
                <a:gridCol w="2880360"/>
                <a:gridCol w="3139135"/>
              </a:tblGrid>
              <a:tr h="365760">
                <a:tc>
                  <a:txBody>
                    <a:bodyPr wrap="square"/>
                    <a:lstStyle/>
                    <a:p>
                      <a:pPr>
                        <a:lnSpc>
                          <a:spcPct val="120000"/>
                        </a:lnSpc>
                      </a:pPr>
                      <a:r>
                        <a:rPr sz="960" b="1">
                          <a:solidFill>
                            <a:srgbClr val="FFFFFF"/>
                          </a:solidFill>
                          <a:latin typeface="Segoe UI"/>
                        </a:rPr>
                        <a:t>Player</a:t>
                      </a:r>
                    </a:p>
                  </a:txBody>
                  <a:tcPr marL="118872" marR="118872" marT="64008" marB="64008" anchor="ctr">
                    <a:solidFill>
                      <a:srgbClr val="0F6E63"/>
                    </a:solidFill>
                  </a:tcPr>
                </a:tc>
                <a:tc>
                  <a:txBody>
                    <a:bodyPr wrap="square"/>
                    <a:lstStyle/>
                    <a:p>
                      <a:pPr>
                        <a:lnSpc>
                          <a:spcPct val="120000"/>
                        </a:lnSpc>
                      </a:pPr>
                      <a:r>
                        <a:rPr sz="960" b="1">
                          <a:solidFill>
                            <a:srgbClr val="FFFFFF"/>
                          </a:solidFill>
                          <a:latin typeface="Segoe UI"/>
                        </a:rPr>
                        <a:t>Position</a:t>
                      </a:r>
                    </a:p>
                  </a:txBody>
                  <a:tcPr marL="118872" marR="118872" marT="64008" marB="64008" anchor="ctr">
                    <a:solidFill>
                      <a:srgbClr val="0F6E63"/>
                    </a:solidFill>
                  </a:tcPr>
                </a:tc>
                <a:tc>
                  <a:txBody>
                    <a:bodyPr wrap="square"/>
                    <a:lstStyle/>
                    <a:p>
                      <a:pPr>
                        <a:lnSpc>
                          <a:spcPct val="120000"/>
                        </a:lnSpc>
                      </a:pPr>
                      <a:r>
                        <a:rPr sz="960" b="1">
                          <a:solidFill>
                            <a:srgbClr val="FFFFFF"/>
                          </a:solidFill>
                          <a:latin typeface="Segoe UI"/>
                        </a:rPr>
                        <a:t>Foster capability</a:t>
                      </a:r>
                    </a:p>
                  </a:txBody>
                  <a:tcPr marL="118872" marR="118872" marT="64008" marB="64008" anchor="ctr">
                    <a:solidFill>
                      <a:srgbClr val="0F6E63"/>
                    </a:solidFill>
                  </a:tcPr>
                </a:tc>
                <a:tc>
                  <a:txBody>
                    <a:bodyPr wrap="square"/>
                    <a:lstStyle/>
                    <a:p>
                      <a:pPr>
                        <a:lnSpc>
                          <a:spcPct val="120000"/>
                        </a:lnSpc>
                      </a:pPr>
                      <a:r>
                        <a:rPr sz="960" b="1">
                          <a:solidFill>
                            <a:srgbClr val="FFFFFF"/>
                          </a:solidFill>
                          <a:latin typeface="Segoe UI"/>
                        </a:rPr>
                        <a:t>The gap we exploit</a:t>
                      </a:r>
                    </a:p>
                  </a:txBody>
                  <a:tcPr marL="118872" marR="118872" marT="64008" marB="64008" anchor="ctr">
                    <a:solidFill>
                      <a:srgbClr val="0F6E63"/>
                    </a:solidFill>
                  </a:tcPr>
                </a:tc>
              </a:tr>
              <a:tr h="576072">
                <a:tc>
                  <a:txBody>
                    <a:bodyPr wrap="square"/>
                    <a:lstStyle/>
                    <a:p>
                      <a:pPr>
                        <a:lnSpc>
                          <a:spcPct val="120000"/>
                        </a:lnSpc>
                      </a:pPr>
                      <a:r>
                        <a:rPr sz="919" b="1">
                          <a:solidFill>
                            <a:srgbClr val="1B1614"/>
                          </a:solidFill>
                          <a:latin typeface="Segoe UI"/>
                        </a:rPr>
                        <a:t>PetPoint</a:t>
                      </a:r>
                    </a:p>
                  </a:txBody>
                  <a:tcPr marL="118872" marR="118872" marT="64008" marB="64008" anchor="ctr">
                    <a:solidFill>
                      <a:srgbClr val="FFFFFF"/>
                    </a:solidFill>
                  </a:tcPr>
                </a:tc>
                <a:tc>
                  <a:txBody>
                    <a:bodyPr wrap="square"/>
                    <a:lstStyle/>
                    <a:p>
                      <a:pPr>
                        <a:lnSpc>
                          <a:spcPct val="120000"/>
                        </a:lnSpc>
                      </a:pPr>
                      <a:r>
                        <a:rPr sz="919" b="0">
                          <a:solidFill>
                            <a:srgbClr val="5A504A"/>
                          </a:solidFill>
                          <a:latin typeface="Segoe UI"/>
                        </a:rPr>
                        <a:t>Enterprise records system; municipal and large shelters. Quote-based.</a:t>
                      </a:r>
                    </a:p>
                  </a:txBody>
                  <a:tcPr marL="118872" marR="118872" marT="64008" marB="64008" anchor="ctr">
                    <a:solidFill>
                      <a:srgbClr val="FFFFFF"/>
                    </a:solidFill>
                  </a:tcPr>
                </a:tc>
                <a:tc>
                  <a:txBody>
                    <a:bodyPr wrap="square"/>
                    <a:lstStyle/>
                    <a:p>
                      <a:pPr>
                        <a:lnSpc>
                          <a:spcPct val="120000"/>
                        </a:lnSpc>
                      </a:pPr>
                      <a:r>
                        <a:rPr sz="919" b="0">
                          <a:solidFill>
                            <a:srgbClr val="5A504A"/>
                          </a:solidFill>
                          <a:latin typeface="Segoe UI"/>
                        </a:rPr>
                        <a:t>Foster assignment and status tracking against the animal record.</a:t>
                      </a:r>
                    </a:p>
                  </a:txBody>
                  <a:tcPr marL="118872" marR="118872" marT="64008" marB="64008" anchor="ctr">
                    <a:solidFill>
                      <a:srgbClr val="FFFFFF"/>
                    </a:solidFill>
                  </a:tcPr>
                </a:tc>
                <a:tc>
                  <a:txBody>
                    <a:bodyPr wrap="square"/>
                    <a:lstStyle/>
                    <a:p>
                      <a:pPr>
                        <a:lnSpc>
                          <a:spcPct val="120000"/>
                        </a:lnSpc>
                      </a:pPr>
                      <a:r>
                        <a:rPr sz="919" b="0">
                          <a:solidFill>
                            <a:srgbClr val="5A504A"/>
                          </a:solidFill>
                          <a:latin typeface="Segoe UI"/>
                        </a:rPr>
                        <a:t>A records system, not a care system. No searchable roster, no matching, nowhere to put behaviour.</a:t>
                      </a:r>
                    </a:p>
                  </a:txBody>
                  <a:tcPr marL="118872" marR="118872" marT="64008" marB="64008" anchor="ctr">
                    <a:solidFill>
                      <a:srgbClr val="FFFFFF"/>
                    </a:solidFill>
                  </a:tcPr>
                </a:tc>
              </a:tr>
              <a:tr h="576072">
                <a:tc>
                  <a:txBody>
                    <a:bodyPr wrap="square"/>
                    <a:lstStyle/>
                    <a:p>
                      <a:pPr>
                        <a:lnSpc>
                          <a:spcPct val="120000"/>
                        </a:lnSpc>
                      </a:pPr>
                      <a:r>
                        <a:rPr sz="919" b="1">
                          <a:solidFill>
                            <a:srgbClr val="1B1614"/>
                          </a:solidFill>
                          <a:latin typeface="Segoe UI"/>
                        </a:rPr>
                        <a:t>Shelterluv</a:t>
                      </a:r>
                    </a:p>
                  </a:txBody>
                  <a:tcPr marL="118872" marR="118872" marT="64008" marB="64008" anchor="ctr">
                    <a:solidFill>
                      <a:srgbClr val="F6F1E9"/>
                    </a:solidFill>
                  </a:tcPr>
                </a:tc>
                <a:tc>
                  <a:txBody>
                    <a:bodyPr wrap="square"/>
                    <a:lstStyle/>
                    <a:p>
                      <a:pPr>
                        <a:lnSpc>
                          <a:spcPct val="120000"/>
                        </a:lnSpc>
                      </a:pPr>
                      <a:r>
                        <a:rPr sz="919" b="0">
                          <a:solidFill>
                            <a:srgbClr val="5A504A"/>
                          </a:solidFill>
                          <a:latin typeface="Segoe UI"/>
                        </a:rPr>
                        <a:t>Modern SaaS, mobile-first, popular with foster-centric orgs.</a:t>
                      </a:r>
                    </a:p>
                  </a:txBody>
                  <a:tcPr marL="118872" marR="118872" marT="64008" marB="64008" anchor="ctr">
                    <a:solidFill>
                      <a:srgbClr val="F6F1E9"/>
                    </a:solidFill>
                  </a:tcPr>
                </a:tc>
                <a:tc>
                  <a:txBody>
                    <a:bodyPr wrap="square"/>
                    <a:lstStyle/>
                    <a:p>
                      <a:pPr>
                        <a:lnSpc>
                          <a:spcPct val="120000"/>
                        </a:lnSpc>
                      </a:pPr>
                      <a:r>
                        <a:rPr sz="919" b="0">
                          <a:solidFill>
                            <a:srgbClr val="5A504A"/>
                          </a:solidFill>
                          <a:latin typeface="Segoe UI"/>
                        </a:rPr>
                        <a:t>Best-in-class foster comms and workflow automation.</a:t>
                      </a:r>
                    </a:p>
                  </a:txBody>
                  <a:tcPr marL="118872" marR="118872" marT="64008" marB="64008" anchor="ctr">
                    <a:solidFill>
                      <a:srgbClr val="F6F1E9"/>
                    </a:solidFill>
                  </a:tcPr>
                </a:tc>
                <a:tc>
                  <a:txBody>
                    <a:bodyPr wrap="square"/>
                    <a:lstStyle/>
                    <a:p>
                      <a:pPr>
                        <a:lnSpc>
                          <a:spcPct val="120000"/>
                        </a:lnSpc>
                      </a:pPr>
                      <a:r>
                        <a:rPr sz="919" b="0">
                          <a:solidFill>
                            <a:srgbClr val="5A504A"/>
                          </a:solidFill>
                          <a:latin typeface="Segoe UI"/>
                        </a:rPr>
                        <a:t>Still coordinator-driven. No compatibility matching, no behavioural journal, no acquisition loop.</a:t>
                      </a:r>
                    </a:p>
                  </a:txBody>
                  <a:tcPr marL="118872" marR="118872" marT="64008" marB="64008" anchor="ctr">
                    <a:solidFill>
                      <a:srgbClr val="F6F1E9"/>
                    </a:solidFill>
                  </a:tcPr>
                </a:tc>
              </a:tr>
              <a:tr h="576072">
                <a:tc>
                  <a:txBody>
                    <a:bodyPr wrap="square"/>
                    <a:lstStyle/>
                    <a:p>
                      <a:pPr>
                        <a:lnSpc>
                          <a:spcPct val="120000"/>
                        </a:lnSpc>
                      </a:pPr>
                      <a:r>
                        <a:rPr sz="919" b="1">
                          <a:solidFill>
                            <a:srgbClr val="1B1614"/>
                          </a:solidFill>
                          <a:latin typeface="Segoe UI"/>
                        </a:rPr>
                        <a:t>ShelterBuddy / Chameleon</a:t>
                      </a:r>
                    </a:p>
                  </a:txBody>
                  <a:tcPr marL="118872" marR="118872" marT="64008" marB="64008" anchor="ctr">
                    <a:solidFill>
                      <a:srgbClr val="FFFFFF"/>
                    </a:solidFill>
                  </a:tcPr>
                </a:tc>
                <a:tc>
                  <a:txBody>
                    <a:bodyPr wrap="square"/>
                    <a:lstStyle/>
                    <a:p>
                      <a:pPr>
                        <a:lnSpc>
                          <a:spcPct val="120000"/>
                        </a:lnSpc>
                      </a:pPr>
                      <a:r>
                        <a:rPr sz="919" b="0">
                          <a:solidFill>
                            <a:srgbClr val="5A504A"/>
                          </a:solidFill>
                          <a:latin typeface="Segoe UI"/>
                        </a:rPr>
                        <a:t>Enterprise and animal control. Deep compliance and configurability.</a:t>
                      </a:r>
                    </a:p>
                  </a:txBody>
                  <a:tcPr marL="118872" marR="118872" marT="64008" marB="64008" anchor="ctr">
                    <a:solidFill>
                      <a:srgbClr val="FFFFFF"/>
                    </a:solidFill>
                  </a:tcPr>
                </a:tc>
                <a:tc>
                  <a:txBody>
                    <a:bodyPr wrap="square"/>
                    <a:lstStyle/>
                    <a:p>
                      <a:pPr>
                        <a:lnSpc>
                          <a:spcPct val="120000"/>
                        </a:lnSpc>
                      </a:pPr>
                      <a:r>
                        <a:rPr sz="919" b="0">
                          <a:solidFill>
                            <a:srgbClr val="5A504A"/>
                          </a:solidFill>
                          <a:latin typeface="Segoe UI"/>
                        </a:rPr>
                        <a:t>Foster lifecycle linked to medical and kennel records.</a:t>
                      </a:r>
                    </a:p>
                  </a:txBody>
                  <a:tcPr marL="118872" marR="118872" marT="64008" marB="64008" anchor="ctr">
                    <a:solidFill>
                      <a:srgbClr val="FFFFFF"/>
                    </a:solidFill>
                  </a:tcPr>
                </a:tc>
                <a:tc>
                  <a:txBody>
                    <a:bodyPr wrap="square"/>
                    <a:lstStyle/>
                    <a:p>
                      <a:pPr>
                        <a:lnSpc>
                          <a:spcPct val="120000"/>
                        </a:lnSpc>
                      </a:pPr>
                      <a:r>
                        <a:rPr sz="919" b="0">
                          <a:solidFill>
                            <a:srgbClr val="5A504A"/>
                          </a:solidFill>
                          <a:latin typeface="Segoe UI"/>
                        </a:rPr>
                        <a:t>Configuration-heavy and desk-bound. Nothing designed for the foster's phone.</a:t>
                      </a:r>
                    </a:p>
                  </a:txBody>
                  <a:tcPr marL="118872" marR="118872" marT="64008" marB="64008" anchor="ctr">
                    <a:solidFill>
                      <a:srgbClr val="FFFFFF"/>
                    </a:solidFill>
                  </a:tcPr>
                </a:tc>
              </a:tr>
              <a:tr h="576072">
                <a:tc>
                  <a:txBody>
                    <a:bodyPr wrap="square"/>
                    <a:lstStyle/>
                    <a:p>
                      <a:pPr>
                        <a:lnSpc>
                          <a:spcPct val="120000"/>
                        </a:lnSpc>
                      </a:pPr>
                      <a:r>
                        <a:rPr sz="919" b="1">
                          <a:solidFill>
                            <a:srgbClr val="1B1614"/>
                          </a:solidFill>
                          <a:latin typeface="Segoe UI"/>
                        </a:rPr>
                        <a:t>RescueGroups / Petstablished</a:t>
                      </a:r>
                    </a:p>
                  </a:txBody>
                  <a:tcPr marL="118872" marR="118872" marT="64008" marB="64008" anchor="ctr">
                    <a:solidFill>
                      <a:srgbClr val="F6F1E9"/>
                    </a:solidFill>
                  </a:tcPr>
                </a:tc>
                <a:tc>
                  <a:txBody>
                    <a:bodyPr wrap="square"/>
                    <a:lstStyle/>
                    <a:p>
                      <a:pPr>
                        <a:lnSpc>
                          <a:spcPct val="120000"/>
                        </a:lnSpc>
                      </a:pPr>
                      <a:r>
                        <a:rPr sz="919" b="0">
                          <a:solidFill>
                            <a:srgbClr val="5A504A"/>
                          </a:solidFill>
                          <a:latin typeface="Segoe UI"/>
                        </a:rPr>
                        <a:t>API-first and SMB SaaS. Transparent, low-cost tiers.</a:t>
                      </a:r>
                    </a:p>
                  </a:txBody>
                  <a:tcPr marL="118872" marR="118872" marT="64008" marB="64008" anchor="ctr">
                    <a:solidFill>
                      <a:srgbClr val="F6F1E9"/>
                    </a:solidFill>
                  </a:tcPr>
                </a:tc>
                <a:tc>
                  <a:txBody>
                    <a:bodyPr wrap="square"/>
                    <a:lstStyle/>
                    <a:p>
                      <a:pPr>
                        <a:lnSpc>
                          <a:spcPct val="120000"/>
                        </a:lnSpc>
                      </a:pPr>
                      <a:r>
                        <a:rPr sz="919" b="0">
                          <a:solidFill>
                            <a:srgbClr val="5A504A"/>
                          </a:solidFill>
                          <a:latin typeface="Segoe UI"/>
                        </a:rPr>
                        <a:t>Foster tracking plus lifecycle automation.</a:t>
                      </a:r>
                    </a:p>
                  </a:txBody>
                  <a:tcPr marL="118872" marR="118872" marT="64008" marB="64008" anchor="ctr">
                    <a:solidFill>
                      <a:srgbClr val="F6F1E9"/>
                    </a:solidFill>
                  </a:tcPr>
                </a:tc>
                <a:tc>
                  <a:txBody>
                    <a:bodyPr wrap="square"/>
                    <a:lstStyle/>
                    <a:p>
                      <a:pPr>
                        <a:lnSpc>
                          <a:spcPct val="120000"/>
                        </a:lnSpc>
                      </a:pPr>
                      <a:r>
                        <a:rPr sz="919" b="0">
                          <a:solidFill>
                            <a:srgbClr val="5A504A"/>
                          </a:solidFill>
                          <a:latin typeface="Segoe UI"/>
                        </a:rPr>
                        <a:t>Thin on the human side: no onboarding programme, no retention mechanics, no matching.</a:t>
                      </a:r>
                    </a:p>
                  </a:txBody>
                  <a:tcPr marL="118872" marR="118872" marT="64008" marB="64008" anchor="ctr">
                    <a:solidFill>
                      <a:srgbClr val="F6F1E9"/>
                    </a:solidFill>
                  </a:tcPr>
                </a:tc>
              </a:tr>
              <a:tr h="576072">
                <a:tc>
                  <a:txBody>
                    <a:bodyPr wrap="square"/>
                    <a:lstStyle/>
                    <a:p>
                      <a:pPr>
                        <a:lnSpc>
                          <a:spcPct val="120000"/>
                        </a:lnSpc>
                      </a:pPr>
                      <a:r>
                        <a:rPr sz="919" b="1">
                          <a:solidFill>
                            <a:srgbClr val="1B1614"/>
                          </a:solidFill>
                          <a:latin typeface="Segoe UI"/>
                        </a:rPr>
                        <a:t>Doobert</a:t>
                      </a:r>
                    </a:p>
                  </a:txBody>
                  <a:tcPr marL="118872" marR="118872" marT="64008" marB="64008" anchor="ctr">
                    <a:solidFill>
                      <a:srgbClr val="FFFFFF"/>
                    </a:solidFill>
                  </a:tcPr>
                </a:tc>
                <a:tc>
                  <a:txBody>
                    <a:bodyPr wrap="square"/>
                    <a:lstStyle/>
                    <a:p>
                      <a:pPr>
                        <a:lnSpc>
                          <a:spcPct val="120000"/>
                        </a:lnSpc>
                      </a:pPr>
                      <a:r>
                        <a:rPr sz="919" b="0">
                          <a:solidFill>
                            <a:srgbClr val="5A504A"/>
                          </a:solidFill>
                          <a:latin typeface="Segoe UI"/>
                        </a:rPr>
                        <a:t>Volunteer and transport network layered on other systems.</a:t>
                      </a:r>
                    </a:p>
                  </a:txBody>
                  <a:tcPr marL="118872" marR="118872" marT="64008" marB="64008" anchor="ctr">
                    <a:solidFill>
                      <a:srgbClr val="FFFFFF"/>
                    </a:solidFill>
                  </a:tcPr>
                </a:tc>
                <a:tc>
                  <a:txBody>
                    <a:bodyPr wrap="square"/>
                    <a:lstStyle/>
                    <a:p>
                      <a:pPr>
                        <a:lnSpc>
                          <a:spcPct val="120000"/>
                        </a:lnSpc>
                      </a:pPr>
                      <a:r>
                        <a:rPr sz="919" b="0">
                          <a:solidFill>
                            <a:srgbClr val="5A504A"/>
                          </a:solidFill>
                          <a:latin typeface="Segoe UI"/>
                        </a:rPr>
                        <a:t>Transport scheduling and volunteer matching.</a:t>
                      </a:r>
                    </a:p>
                  </a:txBody>
                  <a:tcPr marL="118872" marR="118872" marT="64008" marB="64008" anchor="ctr">
                    <a:solidFill>
                      <a:srgbClr val="FFFFFF"/>
                    </a:solidFill>
                  </a:tcPr>
                </a:tc>
                <a:tc>
                  <a:txBody>
                    <a:bodyPr wrap="square"/>
                    <a:lstStyle/>
                    <a:p>
                      <a:pPr>
                        <a:lnSpc>
                          <a:spcPct val="120000"/>
                        </a:lnSpc>
                      </a:pPr>
                      <a:r>
                        <a:rPr sz="919" b="0">
                          <a:solidFill>
                            <a:srgbClr val="5A504A"/>
                          </a:solidFill>
                          <a:latin typeface="Segoe UI"/>
                        </a:rPr>
                        <a:t>A point solution. It never holds the dog's history, so it can't compound.</a:t>
                      </a:r>
                    </a:p>
                  </a:txBody>
                  <a:tcPr marL="118872" marR="118872" marT="64008" marB="64008" anchor="ctr">
                    <a:solidFill>
                      <a:srgbClr val="FFFFFF"/>
                    </a:solidFill>
                  </a:tcPr>
                </a:tc>
              </a:tr>
              <a:tr h="576072">
                <a:tc>
                  <a:txBody>
                    <a:bodyPr wrap="square"/>
                    <a:lstStyle/>
                    <a:p>
                      <a:pPr>
                        <a:lnSpc>
                          <a:spcPct val="120000"/>
                        </a:lnSpc>
                      </a:pPr>
                      <a:r>
                        <a:rPr sz="919" b="1">
                          <a:solidFill>
                            <a:srgbClr val="1B1614"/>
                          </a:solidFill>
                          <a:latin typeface="Segoe UI"/>
                        </a:rPr>
                        <a:t>Spreadsheets + group texts</a:t>
                      </a:r>
                    </a:p>
                  </a:txBody>
                  <a:tcPr marL="118872" marR="118872" marT="64008" marB="64008" anchor="ctr">
                    <a:solidFill>
                      <a:srgbClr val="F6F1E9"/>
                    </a:solidFill>
                  </a:tcPr>
                </a:tc>
                <a:tc>
                  <a:txBody>
                    <a:bodyPr wrap="square"/>
                    <a:lstStyle/>
                    <a:p>
                      <a:pPr>
                        <a:lnSpc>
                          <a:spcPct val="120000"/>
                        </a:lnSpc>
                      </a:pPr>
                      <a:r>
                        <a:rPr sz="919" b="0">
                          <a:solidFill>
                            <a:srgbClr val="5A504A"/>
                          </a:solidFill>
                          <a:latin typeface="Segoe UI"/>
                        </a:rPr>
                        <a:t>The real incumbent, and the honest one.</a:t>
                      </a:r>
                    </a:p>
                  </a:txBody>
                  <a:tcPr marL="118872" marR="118872" marT="64008" marB="64008" anchor="ctr">
                    <a:solidFill>
                      <a:srgbClr val="F6F1E9"/>
                    </a:solidFill>
                  </a:tcPr>
                </a:tc>
                <a:tc>
                  <a:txBody>
                    <a:bodyPr wrap="square"/>
                    <a:lstStyle/>
                    <a:p>
                      <a:pPr>
                        <a:lnSpc>
                          <a:spcPct val="120000"/>
                        </a:lnSpc>
                      </a:pPr>
                      <a:r>
                        <a:rPr sz="919" b="0">
                          <a:solidFill>
                            <a:srgbClr val="5A504A"/>
                          </a:solidFill>
                          <a:latin typeface="Segoe UI"/>
                        </a:rPr>
                        <a:t>Whatever the coordinator remembers.</a:t>
                      </a:r>
                    </a:p>
                  </a:txBody>
                  <a:tcPr marL="118872" marR="118872" marT="64008" marB="64008" anchor="ctr">
                    <a:solidFill>
                      <a:srgbClr val="F6F1E9"/>
                    </a:solidFill>
                  </a:tcPr>
                </a:tc>
                <a:tc>
                  <a:txBody>
                    <a:bodyPr wrap="square"/>
                    <a:lstStyle/>
                    <a:p>
                      <a:pPr>
                        <a:lnSpc>
                          <a:spcPct val="120000"/>
                        </a:lnSpc>
                      </a:pPr>
                      <a:r>
                        <a:rPr sz="919" b="0">
                          <a:solidFill>
                            <a:srgbClr val="5A504A"/>
                          </a:solidFill>
                          <a:latin typeface="Segoe UI"/>
                        </a:rPr>
                        <a:t>Free, instant, and where most foster coordination genuinely happens today.</a:t>
                      </a:r>
                    </a:p>
                  </a:txBody>
                  <a:tcPr marL="118872" marR="118872" marT="64008" marB="64008" anchor="ctr">
                    <a:solidFill>
                      <a:srgbClr val="F6F1E9"/>
                    </a:solidFill>
                  </a:tcPr>
                </a:tc>
              </a:tr>
            </a:tbl>
          </a:graphicData>
        </a:graphic>
      </p:graphicFrame>
      <p:sp>
        <p:nvSpPr>
          <p:cNvPr id="6" name="TextBox 5"/>
          <p:cNvSpPr txBox="1"/>
          <p:nvPr/>
        </p:nvSpPr>
        <p:spPr>
          <a:xfrm>
            <a:off x="777240" y="6345936"/>
            <a:ext cx="7315200" cy="274320"/>
          </a:xfrm>
          <a:prstGeom prst="rect">
            <a:avLst/>
          </a:prstGeom>
          <a:noFill/>
        </p:spPr>
        <p:txBody>
          <a:bodyPr wrap="square" anchor="t" lIns="0" rIns="0" tIns="0" bIns="0">
            <a:spAutoFit/>
          </a:bodyPr>
          <a:lstStyle/>
          <a:p>
            <a:pPr algn="l">
              <a:lnSpc>
                <a:spcPct val="100000"/>
              </a:lnSpc>
            </a:pPr>
            <a:r>
              <a:rPr sz="900" b="0" i="0">
                <a:solidFill>
                  <a:srgbClr val="7C6F66"/>
                </a:solidFill>
                <a:latin typeface="Segoe UI"/>
              </a:rPr>
              <a:t>The Foster Pack  ·  Confidential</a:t>
            </a:r>
          </a:p>
        </p:txBody>
      </p:sp>
      <p:sp>
        <p:nvSpPr>
          <p:cNvPr id="7" name="TextBox 6"/>
          <p:cNvSpPr txBox="1"/>
          <p:nvPr/>
        </p:nvSpPr>
        <p:spPr>
          <a:xfrm>
            <a:off x="10515600" y="6345936"/>
            <a:ext cx="896112" cy="274320"/>
          </a:xfrm>
          <a:prstGeom prst="rect">
            <a:avLst/>
          </a:prstGeom>
          <a:noFill/>
        </p:spPr>
        <p:txBody>
          <a:bodyPr wrap="square" anchor="t" lIns="0" rIns="0" tIns="0" bIns="0">
            <a:spAutoFit/>
          </a:bodyPr>
          <a:lstStyle/>
          <a:p>
            <a:pPr algn="r">
              <a:lnSpc>
                <a:spcPct val="100000"/>
              </a:lnSpc>
            </a:pPr>
            <a:r>
              <a:rPr sz="900" b="1" i="0">
                <a:solidFill>
                  <a:srgbClr val="7C6F66"/>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30352"/>
            <a:ext cx="10637215" cy="274320"/>
          </a:xfrm>
          <a:prstGeom prst="rect">
            <a:avLst/>
          </a:prstGeom>
          <a:noFill/>
        </p:spPr>
        <p:txBody>
          <a:bodyPr wrap="square" anchor="t" lIns="0" rIns="0" tIns="0" bIns="0">
            <a:spAutoFit/>
          </a:bodyPr>
          <a:lstStyle/>
          <a:p>
            <a:pPr algn="l">
              <a:lnSpc>
                <a:spcPct val="100000"/>
              </a:lnSpc>
            </a:pPr>
            <a:r>
              <a:rPr sz="1050" b="1" i="0" spc="190">
                <a:solidFill>
                  <a:srgbClr val="0F6E63"/>
                </a:solidFill>
                <a:latin typeface="Segoe UI"/>
              </a:rPr>
              <a:t>POSITIONING</a:t>
            </a:r>
          </a:p>
        </p:txBody>
      </p:sp>
      <p:sp>
        <p:nvSpPr>
          <p:cNvPr id="4" name="TextBox 3"/>
          <p:cNvSpPr txBox="1"/>
          <p:nvPr/>
        </p:nvSpPr>
        <p:spPr>
          <a:xfrm>
            <a:off x="777240" y="841248"/>
            <a:ext cx="10637215" cy="1371600"/>
          </a:xfrm>
          <a:prstGeom prst="rect">
            <a:avLst/>
          </a:prstGeom>
          <a:noFill/>
        </p:spPr>
        <p:txBody>
          <a:bodyPr wrap="square" anchor="t" lIns="0" rIns="0" tIns="0" bIns="0">
            <a:spAutoFit/>
          </a:bodyPr>
          <a:lstStyle/>
          <a:p>
            <a:pPr algn="l">
              <a:lnSpc>
                <a:spcPct val="108000"/>
              </a:lnSpc>
            </a:pPr>
            <a:r>
              <a:rPr sz="3400" b="1" i="0">
                <a:solidFill>
                  <a:srgbClr val="1B1614"/>
                </a:solidFill>
                <a:latin typeface="Segoe UI"/>
              </a:rPr>
              <a:t>We compete on the foster lifecycle,</a:t>
            </a:r>
          </a:p>
          <a:p>
            <a:pPr algn="l">
              <a:lnSpc>
                <a:spcPct val="108000"/>
              </a:lnSpc>
            </a:pPr>
            <a:r>
              <a:rPr sz="3400" b="1" i="0">
                <a:solidFill>
                  <a:srgbClr val="1B1614"/>
                </a:solidFill>
                <a:latin typeface="Segoe UI"/>
              </a:rPr>
              <a:t>not on record-keeping.</a:t>
            </a:r>
          </a:p>
        </p:txBody>
      </p:sp>
      <p:sp>
        <p:nvSpPr>
          <p:cNvPr id="5" name="Rounded Rectangle 4"/>
          <p:cNvSpPr/>
          <p:nvPr/>
        </p:nvSpPr>
        <p:spPr>
          <a:xfrm>
            <a:off x="777240" y="2286000"/>
            <a:ext cx="5193792" cy="3200400"/>
          </a:xfrm>
          <a:prstGeom prst="roundRect">
            <a:avLst>
              <a:gd name="adj" fmla="val 5000"/>
            </a:avLst>
          </a:prstGeom>
          <a:solidFill>
            <a:srgbClr val="F3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 y="2523744"/>
            <a:ext cx="4572000" cy="274320"/>
          </a:xfrm>
          <a:prstGeom prst="rect">
            <a:avLst/>
          </a:prstGeom>
          <a:noFill/>
        </p:spPr>
        <p:txBody>
          <a:bodyPr wrap="square" anchor="t" lIns="0" rIns="0" tIns="0" bIns="0">
            <a:spAutoFit/>
          </a:bodyPr>
          <a:lstStyle/>
          <a:p>
            <a:pPr algn="l">
              <a:lnSpc>
                <a:spcPct val="100000"/>
              </a:lnSpc>
            </a:pPr>
            <a:r>
              <a:rPr sz="950" b="1" i="0" spc="160">
                <a:solidFill>
                  <a:srgbClr val="7C6F66"/>
                </a:solidFill>
                <a:latin typeface="Segoe UI"/>
              </a:rPr>
              <a:t>TABLE STAKES — EVERYONE HAS IT</a:t>
            </a:r>
          </a:p>
        </p:txBody>
      </p:sp>
      <p:sp>
        <p:nvSpPr>
          <p:cNvPr id="7" name="TextBox 6"/>
          <p:cNvSpPr txBox="1"/>
          <p:nvPr/>
        </p:nvSpPr>
        <p:spPr>
          <a:xfrm>
            <a:off x="1088136" y="2889504"/>
            <a:ext cx="4572000" cy="2377440"/>
          </a:xfrm>
          <a:prstGeom prst="rect">
            <a:avLst/>
          </a:prstGeom>
          <a:noFill/>
        </p:spPr>
        <p:txBody>
          <a:bodyPr wrap="square" anchor="t" lIns="0" rIns="0" tIns="0" bIns="0">
            <a:spAutoFit/>
          </a:bodyPr>
          <a:lstStyle/>
          <a:p>
            <a:pPr algn="l">
              <a:lnSpc>
                <a:spcPct val="185000"/>
              </a:lnSpc>
            </a:pPr>
            <a:r>
              <a:rPr sz="1250" b="0" i="0">
                <a:solidFill>
                  <a:srgbClr val="5A504A"/>
                </a:solidFill>
                <a:latin typeface="Segoe UI"/>
              </a:rPr>
              <a:t>Intake and outcome records</a:t>
            </a:r>
          </a:p>
          <a:p>
            <a:pPr algn="l">
              <a:lnSpc>
                <a:spcPct val="185000"/>
              </a:lnSpc>
            </a:pPr>
            <a:r>
              <a:rPr sz="1250" b="0" i="0">
                <a:solidFill>
                  <a:srgbClr val="5A504A"/>
                </a:solidFill>
                <a:latin typeface="Segoe UI"/>
              </a:rPr>
              <a:t>Medical and vaccination history</a:t>
            </a:r>
          </a:p>
          <a:p>
            <a:pPr algn="l">
              <a:lnSpc>
                <a:spcPct val="185000"/>
              </a:lnSpc>
            </a:pPr>
            <a:r>
              <a:rPr sz="1250" b="0" i="0">
                <a:solidFill>
                  <a:srgbClr val="5A504A"/>
                </a:solidFill>
                <a:latin typeface="Segoe UI"/>
              </a:rPr>
              <a:t>Kennel and location tracking</a:t>
            </a:r>
          </a:p>
          <a:p>
            <a:pPr algn="l">
              <a:lnSpc>
                <a:spcPct val="185000"/>
              </a:lnSpc>
            </a:pPr>
            <a:r>
              <a:rPr sz="1250" b="0" i="0">
                <a:solidFill>
                  <a:srgbClr val="5A504A"/>
                </a:solidFill>
                <a:latin typeface="Segoe UI"/>
              </a:rPr>
              <a:t>Adoption workflow</a:t>
            </a:r>
          </a:p>
          <a:p>
            <a:pPr algn="l">
              <a:lnSpc>
                <a:spcPct val="185000"/>
              </a:lnSpc>
            </a:pPr>
            <a:r>
              <a:rPr sz="1250" b="0" i="0">
                <a:solidFill>
                  <a:srgbClr val="5A504A"/>
                </a:solidFill>
                <a:latin typeface="Segoe UI"/>
              </a:rPr>
              <a:t>Foster status field</a:t>
            </a:r>
          </a:p>
          <a:p>
            <a:pPr algn="l">
              <a:lnSpc>
                <a:spcPct val="185000"/>
              </a:lnSpc>
            </a:pPr>
            <a:r>
              <a:rPr sz="1250" b="0" i="0">
                <a:solidFill>
                  <a:srgbClr val="5A504A"/>
                </a:solidFill>
                <a:latin typeface="Segoe UI"/>
              </a:rPr>
              <a:t>SAC and board reporting exports</a:t>
            </a:r>
          </a:p>
        </p:txBody>
      </p:sp>
      <p:sp>
        <p:nvSpPr>
          <p:cNvPr id="8" name="Rounded Rectangle 7"/>
          <p:cNvSpPr/>
          <p:nvPr/>
        </p:nvSpPr>
        <p:spPr>
          <a:xfrm>
            <a:off x="6236208" y="2286000"/>
            <a:ext cx="5193792" cy="3200400"/>
          </a:xfrm>
          <a:prstGeom prst="roundRect">
            <a:avLst>
              <a:gd name="adj" fmla="val 5000"/>
            </a:avLst>
          </a:prstGeom>
          <a:solidFill>
            <a:srgbClr val="0F6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47104" y="2523744"/>
            <a:ext cx="4572000" cy="274320"/>
          </a:xfrm>
          <a:prstGeom prst="rect">
            <a:avLst/>
          </a:prstGeom>
          <a:noFill/>
        </p:spPr>
        <p:txBody>
          <a:bodyPr wrap="square" anchor="t" lIns="0" rIns="0" tIns="0" bIns="0">
            <a:spAutoFit/>
          </a:bodyPr>
          <a:lstStyle/>
          <a:p>
            <a:pPr algn="l">
              <a:lnSpc>
                <a:spcPct val="100000"/>
              </a:lnSpc>
            </a:pPr>
            <a:r>
              <a:rPr sz="950" b="1" i="0" spc="160">
                <a:solidFill>
                  <a:srgbClr val="9FD8CF"/>
                </a:solidFill>
                <a:latin typeface="Segoe UI"/>
              </a:rPr>
              <a:t>ONLY US</a:t>
            </a:r>
          </a:p>
        </p:txBody>
      </p:sp>
      <p:sp>
        <p:nvSpPr>
          <p:cNvPr id="10" name="TextBox 9"/>
          <p:cNvSpPr txBox="1"/>
          <p:nvPr/>
        </p:nvSpPr>
        <p:spPr>
          <a:xfrm>
            <a:off x="6547104" y="2889504"/>
            <a:ext cx="4572000" cy="2377440"/>
          </a:xfrm>
          <a:prstGeom prst="rect">
            <a:avLst/>
          </a:prstGeom>
          <a:noFill/>
        </p:spPr>
        <p:txBody>
          <a:bodyPr wrap="square" anchor="t" lIns="0" rIns="0" tIns="0" bIns="0">
            <a:spAutoFit/>
          </a:bodyPr>
          <a:lstStyle/>
          <a:p>
            <a:pPr algn="l">
              <a:lnSpc>
                <a:spcPct val="185000"/>
              </a:lnSpc>
            </a:pPr>
            <a:r>
              <a:rPr sz="1250" b="0" i="0">
                <a:solidFill>
                  <a:srgbClr val="FFFFFF"/>
                </a:solidFill>
                <a:latin typeface="Segoe UI"/>
              </a:rPr>
              <a:t>Searchable foster + volunteer roster</a:t>
            </a:r>
          </a:p>
          <a:p>
            <a:pPr algn="l">
              <a:lnSpc>
                <a:spcPct val="185000"/>
              </a:lnSpc>
            </a:pPr>
            <a:r>
              <a:rPr sz="1250" b="0" i="0">
                <a:solidFill>
                  <a:srgbClr val="FFFFFF"/>
                </a:solidFill>
                <a:latin typeface="Segoe UI"/>
              </a:rPr>
              <a:t>AI dog↔foster and dog↔volunteer matching</a:t>
            </a:r>
          </a:p>
          <a:p>
            <a:pPr algn="l">
              <a:lnSpc>
                <a:spcPct val="185000"/>
              </a:lnSpc>
            </a:pPr>
            <a:r>
              <a:rPr sz="1250" b="0" i="0">
                <a:solidFill>
                  <a:srgbClr val="FFFFFF"/>
                </a:solidFill>
                <a:latin typeface="Segoe UI"/>
              </a:rPr>
              <a:t>Behavioural journal that writes the profile</a:t>
            </a:r>
          </a:p>
          <a:p>
            <a:pPr algn="l">
              <a:lnSpc>
                <a:spcPct val="185000"/>
              </a:lnSpc>
            </a:pPr>
            <a:r>
              <a:rPr sz="1250" b="0" i="0">
                <a:solidFill>
                  <a:srgbClr val="FFFFFF"/>
                </a:solidFill>
                <a:latin typeface="Segoe UI"/>
              </a:rPr>
              <a:t>Tiered onboarding with mentor pairing</a:t>
            </a:r>
          </a:p>
          <a:p>
            <a:pPr algn="l">
              <a:lnSpc>
                <a:spcPct val="185000"/>
              </a:lnSpc>
            </a:pPr>
            <a:r>
              <a:rPr sz="1250" b="0" i="0">
                <a:solidFill>
                  <a:srgbClr val="FFFFFF"/>
                </a:solidFill>
                <a:latin typeface="Segoe UI"/>
              </a:rPr>
              <a:t>Cross-tenant public forum (reach + SEO)</a:t>
            </a:r>
          </a:p>
          <a:p>
            <a:pPr algn="l">
              <a:lnSpc>
                <a:spcPct val="185000"/>
              </a:lnSpc>
            </a:pPr>
            <a:r>
              <a:rPr sz="1250" b="0" i="0">
                <a:solidFill>
                  <a:srgbClr val="FFFFFF"/>
                </a:solidFill>
                <a:latin typeface="Segoe UI"/>
              </a:rPr>
              <a:t>Consented social pipeline that recruits</a:t>
            </a:r>
          </a:p>
        </p:txBody>
      </p:sp>
      <p:sp>
        <p:nvSpPr>
          <p:cNvPr id="11" name="TextBox 10"/>
          <p:cNvSpPr txBox="1"/>
          <p:nvPr/>
        </p:nvSpPr>
        <p:spPr>
          <a:xfrm>
            <a:off x="777240" y="5687568"/>
            <a:ext cx="10637215" cy="457200"/>
          </a:xfrm>
          <a:prstGeom prst="rect">
            <a:avLst/>
          </a:prstGeom>
          <a:noFill/>
        </p:spPr>
        <p:txBody>
          <a:bodyPr wrap="square" anchor="t" lIns="0" rIns="0" tIns="0" bIns="0">
            <a:spAutoFit/>
          </a:bodyPr>
          <a:lstStyle/>
          <a:p>
            <a:pPr algn="l">
              <a:lnSpc>
                <a:spcPct val="135000"/>
              </a:lnSpc>
            </a:pPr>
            <a:r>
              <a:rPr sz="1200" b="1" i="0">
                <a:solidFill>
                  <a:srgbClr val="1B1614"/>
                </a:solidFill>
                <a:latin typeface="Segoe UI"/>
              </a:rPr>
              <a:t>Defensibility: the journal is a proprietary behavioural dataset that compounds per dog and per shelter. Records are commoditised. The narrative is not.</a:t>
            </a:r>
          </a:p>
        </p:txBody>
      </p:sp>
      <p:sp>
        <p:nvSpPr>
          <p:cNvPr id="12" name="TextBox 11"/>
          <p:cNvSpPr txBox="1"/>
          <p:nvPr/>
        </p:nvSpPr>
        <p:spPr>
          <a:xfrm>
            <a:off x="777240" y="6345936"/>
            <a:ext cx="7315200" cy="274320"/>
          </a:xfrm>
          <a:prstGeom prst="rect">
            <a:avLst/>
          </a:prstGeom>
          <a:noFill/>
        </p:spPr>
        <p:txBody>
          <a:bodyPr wrap="square" anchor="t" lIns="0" rIns="0" tIns="0" bIns="0">
            <a:spAutoFit/>
          </a:bodyPr>
          <a:lstStyle/>
          <a:p>
            <a:pPr algn="l">
              <a:lnSpc>
                <a:spcPct val="100000"/>
              </a:lnSpc>
            </a:pPr>
            <a:r>
              <a:rPr sz="900" b="0" i="0">
                <a:solidFill>
                  <a:srgbClr val="7C6F66"/>
                </a:solidFill>
                <a:latin typeface="Segoe UI"/>
              </a:rPr>
              <a:t>The Foster Pack  ·  Confidential</a:t>
            </a:r>
          </a:p>
        </p:txBody>
      </p:sp>
      <p:sp>
        <p:nvSpPr>
          <p:cNvPr id="13" name="TextBox 12"/>
          <p:cNvSpPr txBox="1"/>
          <p:nvPr/>
        </p:nvSpPr>
        <p:spPr>
          <a:xfrm>
            <a:off x="10515600" y="6345936"/>
            <a:ext cx="896112" cy="274320"/>
          </a:xfrm>
          <a:prstGeom prst="rect">
            <a:avLst/>
          </a:prstGeom>
          <a:noFill/>
        </p:spPr>
        <p:txBody>
          <a:bodyPr wrap="square" anchor="t" lIns="0" rIns="0" tIns="0" bIns="0">
            <a:spAutoFit/>
          </a:bodyPr>
          <a:lstStyle/>
          <a:p>
            <a:pPr algn="r">
              <a:lnSpc>
                <a:spcPct val="100000"/>
              </a:lnSpc>
            </a:pPr>
            <a:r>
              <a:rPr sz="900" b="1" i="0">
                <a:solidFill>
                  <a:srgbClr val="7C6F66"/>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30352"/>
            <a:ext cx="10637215" cy="274320"/>
          </a:xfrm>
          <a:prstGeom prst="rect">
            <a:avLst/>
          </a:prstGeom>
          <a:noFill/>
        </p:spPr>
        <p:txBody>
          <a:bodyPr wrap="square" anchor="t" lIns="0" rIns="0" tIns="0" bIns="0">
            <a:spAutoFit/>
          </a:bodyPr>
          <a:lstStyle/>
          <a:p>
            <a:pPr algn="l">
              <a:lnSpc>
                <a:spcPct val="100000"/>
              </a:lnSpc>
            </a:pPr>
            <a:r>
              <a:rPr sz="1050" b="1" i="0" spc="190">
                <a:solidFill>
                  <a:srgbClr val="0F6E63"/>
                </a:solidFill>
                <a:latin typeface="Segoe UI"/>
              </a:rPr>
              <a:t>THE PRODUCT</a:t>
            </a:r>
          </a:p>
        </p:txBody>
      </p:sp>
      <p:sp>
        <p:nvSpPr>
          <p:cNvPr id="4" name="TextBox 3"/>
          <p:cNvSpPr txBox="1"/>
          <p:nvPr/>
        </p:nvSpPr>
        <p:spPr>
          <a:xfrm>
            <a:off x="777240" y="841248"/>
            <a:ext cx="10637215" cy="1371600"/>
          </a:xfrm>
          <a:prstGeom prst="rect">
            <a:avLst/>
          </a:prstGeom>
          <a:noFill/>
        </p:spPr>
        <p:txBody>
          <a:bodyPr wrap="square" anchor="t" lIns="0" rIns="0" tIns="0" bIns="0">
            <a:spAutoFit/>
          </a:bodyPr>
          <a:lstStyle/>
          <a:p>
            <a:pPr algn="l">
              <a:lnSpc>
                <a:spcPct val="108000"/>
              </a:lnSpc>
            </a:pPr>
            <a:r>
              <a:rPr sz="3600" b="1" i="0">
                <a:solidFill>
                  <a:srgbClr val="1B1614"/>
                </a:solidFill>
                <a:latin typeface="Segoe UI"/>
              </a:rPr>
              <a:t>Four pillars on one record.</a:t>
            </a:r>
          </a:p>
        </p:txBody>
      </p:sp>
      <p:sp>
        <p:nvSpPr>
          <p:cNvPr id="5" name="Rounded Rectangle 4"/>
          <p:cNvSpPr/>
          <p:nvPr/>
        </p:nvSpPr>
        <p:spPr>
          <a:xfrm>
            <a:off x="777240" y="2139696"/>
            <a:ext cx="2487168" cy="3127248"/>
          </a:xfrm>
          <a:prstGeom prst="roundRect">
            <a:avLst>
              <a:gd name="adj" fmla="val 5000"/>
            </a:avLst>
          </a:prstGeom>
          <a:solidFill>
            <a:srgbClr val="FFFFFF"/>
          </a:solidFill>
          <a:ln w="12700">
            <a:solidFill>
              <a:srgbClr val="E4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2139696"/>
            <a:ext cx="2487168" cy="43180"/>
          </a:xfrm>
          <a:prstGeom prst="rect">
            <a:avLst/>
          </a:prstGeom>
          <a:solidFill>
            <a:srgbClr val="0F6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2395728"/>
            <a:ext cx="2011680" cy="365760"/>
          </a:xfrm>
          <a:prstGeom prst="rect">
            <a:avLst/>
          </a:prstGeom>
          <a:noFill/>
        </p:spPr>
        <p:txBody>
          <a:bodyPr wrap="square" anchor="t" lIns="0" rIns="0" tIns="0" bIns="0">
            <a:spAutoFit/>
          </a:bodyPr>
          <a:lstStyle/>
          <a:p>
            <a:pPr algn="l">
              <a:lnSpc>
                <a:spcPct val="100000"/>
              </a:lnSpc>
            </a:pPr>
            <a:r>
              <a:rPr sz="2400" b="1" i="0">
                <a:solidFill>
                  <a:srgbClr val="0F6E63"/>
                </a:solidFill>
                <a:latin typeface="Segoe UI"/>
              </a:rPr>
              <a:t>01</a:t>
            </a:r>
          </a:p>
        </p:txBody>
      </p:sp>
      <p:sp>
        <p:nvSpPr>
          <p:cNvPr id="8" name="TextBox 7"/>
          <p:cNvSpPr txBox="1"/>
          <p:nvPr/>
        </p:nvSpPr>
        <p:spPr>
          <a:xfrm>
            <a:off x="1014984" y="2871216"/>
            <a:ext cx="2011680" cy="548640"/>
          </a:xfrm>
          <a:prstGeom prst="rect">
            <a:avLst/>
          </a:prstGeom>
          <a:noFill/>
        </p:spPr>
        <p:txBody>
          <a:bodyPr wrap="square" anchor="t" lIns="0" rIns="0" tIns="0" bIns="0">
            <a:spAutoFit/>
          </a:bodyPr>
          <a:lstStyle/>
          <a:p>
            <a:pPr algn="l">
              <a:lnSpc>
                <a:spcPct val="115000"/>
              </a:lnSpc>
            </a:pPr>
            <a:r>
              <a:rPr sz="1400" b="1" i="0">
                <a:solidFill>
                  <a:srgbClr val="1B1614"/>
                </a:solidFill>
                <a:latin typeface="Segoe UI"/>
              </a:rPr>
              <a:t>System of record</a:t>
            </a:r>
          </a:p>
        </p:txBody>
      </p:sp>
      <p:sp>
        <p:nvSpPr>
          <p:cNvPr id="9" name="TextBox 8"/>
          <p:cNvSpPr txBox="1"/>
          <p:nvPr/>
        </p:nvSpPr>
        <p:spPr>
          <a:xfrm>
            <a:off x="1014984" y="3493008"/>
            <a:ext cx="2011680" cy="1645920"/>
          </a:xfrm>
          <a:prstGeom prst="rect">
            <a:avLst/>
          </a:prstGeom>
          <a:noFill/>
        </p:spPr>
        <p:txBody>
          <a:bodyPr wrap="square" anchor="t" lIns="0" rIns="0" tIns="0" bIns="0">
            <a:spAutoFit/>
          </a:bodyPr>
          <a:lstStyle/>
          <a:p>
            <a:pPr algn="l">
              <a:lnSpc>
                <a:spcPct val="140000"/>
              </a:lnSpc>
            </a:pPr>
            <a:r>
              <a:rPr sz="1019" b="0" i="0">
                <a:solidFill>
                  <a:srgbClr val="5A504A"/>
                </a:solidFill>
                <a:latin typeface="Segoe UI"/>
              </a:rPr>
              <a:t>Replaces PetPoint outright. Intake → kennel → medical → outcome → microchip → regulatory reporting. Soft-delete only, full audit log, point-in-time reconstruction.</a:t>
            </a:r>
          </a:p>
        </p:txBody>
      </p:sp>
      <p:sp>
        <p:nvSpPr>
          <p:cNvPr id="10" name="Rounded Rectangle 9"/>
          <p:cNvSpPr/>
          <p:nvPr/>
        </p:nvSpPr>
        <p:spPr>
          <a:xfrm>
            <a:off x="3483864" y="2139696"/>
            <a:ext cx="2487168" cy="3127248"/>
          </a:xfrm>
          <a:prstGeom prst="roundRect">
            <a:avLst>
              <a:gd name="adj" fmla="val 5000"/>
            </a:avLst>
          </a:prstGeom>
          <a:solidFill>
            <a:srgbClr val="FFFFFF"/>
          </a:solidFill>
          <a:ln w="12700">
            <a:solidFill>
              <a:srgbClr val="E4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83864" y="2139696"/>
            <a:ext cx="2487168" cy="43180"/>
          </a:xfrm>
          <a:prstGeom prst="rect">
            <a:avLst/>
          </a:prstGeom>
          <a:solidFill>
            <a:srgbClr val="F0A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21608" y="2395728"/>
            <a:ext cx="2011680" cy="365760"/>
          </a:xfrm>
          <a:prstGeom prst="rect">
            <a:avLst/>
          </a:prstGeom>
          <a:noFill/>
        </p:spPr>
        <p:txBody>
          <a:bodyPr wrap="square" anchor="t" lIns="0" rIns="0" tIns="0" bIns="0">
            <a:spAutoFit/>
          </a:bodyPr>
          <a:lstStyle/>
          <a:p>
            <a:pPr algn="l">
              <a:lnSpc>
                <a:spcPct val="100000"/>
              </a:lnSpc>
            </a:pPr>
            <a:r>
              <a:rPr sz="2400" b="1" i="0">
                <a:solidFill>
                  <a:srgbClr val="F0A544"/>
                </a:solidFill>
                <a:latin typeface="Segoe UI"/>
              </a:rPr>
              <a:t>02</a:t>
            </a:r>
          </a:p>
        </p:txBody>
      </p:sp>
      <p:sp>
        <p:nvSpPr>
          <p:cNvPr id="13" name="TextBox 12"/>
          <p:cNvSpPr txBox="1"/>
          <p:nvPr/>
        </p:nvSpPr>
        <p:spPr>
          <a:xfrm>
            <a:off x="3721608" y="2871216"/>
            <a:ext cx="2011680" cy="548640"/>
          </a:xfrm>
          <a:prstGeom prst="rect">
            <a:avLst/>
          </a:prstGeom>
          <a:noFill/>
        </p:spPr>
        <p:txBody>
          <a:bodyPr wrap="square" anchor="t" lIns="0" rIns="0" tIns="0" bIns="0">
            <a:spAutoFit/>
          </a:bodyPr>
          <a:lstStyle/>
          <a:p>
            <a:pPr algn="l">
              <a:lnSpc>
                <a:spcPct val="115000"/>
              </a:lnSpc>
            </a:pPr>
            <a:r>
              <a:rPr sz="1400" b="1" i="0">
                <a:solidFill>
                  <a:srgbClr val="1B1614"/>
                </a:solidFill>
                <a:latin typeface="Segoe UI"/>
              </a:rPr>
              <a:t>Foster &amp; volunteer database</a:t>
            </a:r>
          </a:p>
        </p:txBody>
      </p:sp>
      <p:sp>
        <p:nvSpPr>
          <p:cNvPr id="14" name="TextBox 13"/>
          <p:cNvSpPr txBox="1"/>
          <p:nvPr/>
        </p:nvSpPr>
        <p:spPr>
          <a:xfrm>
            <a:off x="3721608" y="3493008"/>
            <a:ext cx="2011680" cy="1645920"/>
          </a:xfrm>
          <a:prstGeom prst="rect">
            <a:avLst/>
          </a:prstGeom>
          <a:noFill/>
        </p:spPr>
        <p:txBody>
          <a:bodyPr wrap="square" anchor="t" lIns="0" rIns="0" tIns="0" bIns="0">
            <a:spAutoFit/>
          </a:bodyPr>
          <a:lstStyle/>
          <a:p>
            <a:pPr algn="l">
              <a:lnSpc>
                <a:spcPct val="140000"/>
              </a:lnSpc>
            </a:pPr>
            <a:r>
              <a:rPr sz="1019" b="0" i="0">
                <a:solidFill>
                  <a:srgbClr val="5A504A"/>
                </a:solidFill>
                <a:latin typeface="Segoe UI"/>
              </a:rPr>
              <a:t>The thing that does not exist today. Skills, certifications, availability, travel radius, capacity, reliability history — searchable, current, and the input to matching.</a:t>
            </a:r>
          </a:p>
        </p:txBody>
      </p:sp>
      <p:sp>
        <p:nvSpPr>
          <p:cNvPr id="15" name="Rounded Rectangle 14"/>
          <p:cNvSpPr/>
          <p:nvPr/>
        </p:nvSpPr>
        <p:spPr>
          <a:xfrm>
            <a:off x="6190488" y="2139696"/>
            <a:ext cx="2487168" cy="3127248"/>
          </a:xfrm>
          <a:prstGeom prst="roundRect">
            <a:avLst>
              <a:gd name="adj" fmla="val 5000"/>
            </a:avLst>
          </a:prstGeom>
          <a:solidFill>
            <a:srgbClr val="FFFFFF"/>
          </a:solidFill>
          <a:ln w="12700">
            <a:solidFill>
              <a:srgbClr val="E4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0488" y="2139696"/>
            <a:ext cx="2487168" cy="43180"/>
          </a:xfrm>
          <a:prstGeom prst="rect">
            <a:avLst/>
          </a:prstGeom>
          <a:solidFill>
            <a:srgbClr val="0B55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2395728"/>
            <a:ext cx="2011680" cy="365760"/>
          </a:xfrm>
          <a:prstGeom prst="rect">
            <a:avLst/>
          </a:prstGeom>
          <a:noFill/>
        </p:spPr>
        <p:txBody>
          <a:bodyPr wrap="square" anchor="t" lIns="0" rIns="0" tIns="0" bIns="0">
            <a:spAutoFit/>
          </a:bodyPr>
          <a:lstStyle/>
          <a:p>
            <a:pPr algn="l">
              <a:lnSpc>
                <a:spcPct val="100000"/>
              </a:lnSpc>
            </a:pPr>
            <a:r>
              <a:rPr sz="2400" b="1" i="0">
                <a:solidFill>
                  <a:srgbClr val="0B554D"/>
                </a:solidFill>
                <a:latin typeface="Segoe UI"/>
              </a:rPr>
              <a:t>03</a:t>
            </a:r>
          </a:p>
        </p:txBody>
      </p:sp>
      <p:sp>
        <p:nvSpPr>
          <p:cNvPr id="18" name="TextBox 17"/>
          <p:cNvSpPr txBox="1"/>
          <p:nvPr/>
        </p:nvSpPr>
        <p:spPr>
          <a:xfrm>
            <a:off x="6428232" y="2871216"/>
            <a:ext cx="2011680" cy="548640"/>
          </a:xfrm>
          <a:prstGeom prst="rect">
            <a:avLst/>
          </a:prstGeom>
          <a:noFill/>
        </p:spPr>
        <p:txBody>
          <a:bodyPr wrap="square" anchor="t" lIns="0" rIns="0" tIns="0" bIns="0">
            <a:spAutoFit/>
          </a:bodyPr>
          <a:lstStyle/>
          <a:p>
            <a:pPr algn="l">
              <a:lnSpc>
                <a:spcPct val="115000"/>
              </a:lnSpc>
            </a:pPr>
            <a:r>
              <a:rPr sz="1400" b="1" i="0">
                <a:solidFill>
                  <a:srgbClr val="1B1614"/>
                </a:solidFill>
                <a:latin typeface="Segoe UI"/>
              </a:rPr>
              <a:t>Journal + intelligence</a:t>
            </a:r>
          </a:p>
        </p:txBody>
      </p:sp>
      <p:sp>
        <p:nvSpPr>
          <p:cNvPr id="19" name="TextBox 18"/>
          <p:cNvSpPr txBox="1"/>
          <p:nvPr/>
        </p:nvSpPr>
        <p:spPr>
          <a:xfrm>
            <a:off x="6428232" y="3493008"/>
            <a:ext cx="2011680" cy="1645920"/>
          </a:xfrm>
          <a:prstGeom prst="rect">
            <a:avLst/>
          </a:prstGeom>
          <a:noFill/>
        </p:spPr>
        <p:txBody>
          <a:bodyPr wrap="square" anchor="t" lIns="0" rIns="0" tIns="0" bIns="0">
            <a:spAutoFit/>
          </a:bodyPr>
          <a:lstStyle/>
          <a:p>
            <a:pPr algn="l">
              <a:lnSpc>
                <a:spcPct val="140000"/>
              </a:lnSpc>
            </a:pPr>
            <a:r>
              <a:rPr sz="1019" b="0" i="0">
                <a:solidFill>
                  <a:srgbClr val="5A504A"/>
                </a:solidFill>
                <a:latin typeface="Segoe UI"/>
              </a:rPr>
              <a:t>Voice-first, offline-first capture. Fosters, volunteers, vets and staff all write one timeline. AI proposes evidence-linked profile updates; the profile writes itself.</a:t>
            </a:r>
          </a:p>
        </p:txBody>
      </p:sp>
      <p:sp>
        <p:nvSpPr>
          <p:cNvPr id="20" name="Rounded Rectangle 19"/>
          <p:cNvSpPr/>
          <p:nvPr/>
        </p:nvSpPr>
        <p:spPr>
          <a:xfrm>
            <a:off x="8897112" y="2139696"/>
            <a:ext cx="2487168" cy="3127248"/>
          </a:xfrm>
          <a:prstGeom prst="roundRect">
            <a:avLst>
              <a:gd name="adj" fmla="val 5000"/>
            </a:avLst>
          </a:prstGeom>
          <a:solidFill>
            <a:srgbClr val="FFFFFF"/>
          </a:solidFill>
          <a:ln w="12700">
            <a:solidFill>
              <a:srgbClr val="E4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897112" y="2139696"/>
            <a:ext cx="2487168" cy="43180"/>
          </a:xfrm>
          <a:prstGeom prst="rect">
            <a:avLst/>
          </a:prstGeom>
          <a:solidFill>
            <a:srgbClr val="C4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34856" y="2395728"/>
            <a:ext cx="2011680" cy="365760"/>
          </a:xfrm>
          <a:prstGeom prst="rect">
            <a:avLst/>
          </a:prstGeom>
          <a:noFill/>
        </p:spPr>
        <p:txBody>
          <a:bodyPr wrap="square" anchor="t" lIns="0" rIns="0" tIns="0" bIns="0">
            <a:spAutoFit/>
          </a:bodyPr>
          <a:lstStyle/>
          <a:p>
            <a:pPr algn="l">
              <a:lnSpc>
                <a:spcPct val="100000"/>
              </a:lnSpc>
            </a:pPr>
            <a:r>
              <a:rPr sz="2400" b="1" i="0">
                <a:solidFill>
                  <a:srgbClr val="C4553D"/>
                </a:solidFill>
                <a:latin typeface="Segoe UI"/>
              </a:rPr>
              <a:t>04</a:t>
            </a:r>
          </a:p>
        </p:txBody>
      </p:sp>
      <p:sp>
        <p:nvSpPr>
          <p:cNvPr id="23" name="TextBox 22"/>
          <p:cNvSpPr txBox="1"/>
          <p:nvPr/>
        </p:nvSpPr>
        <p:spPr>
          <a:xfrm>
            <a:off x="9134856" y="2871216"/>
            <a:ext cx="2011680" cy="548640"/>
          </a:xfrm>
          <a:prstGeom prst="rect">
            <a:avLst/>
          </a:prstGeom>
          <a:noFill/>
        </p:spPr>
        <p:txBody>
          <a:bodyPr wrap="square" anchor="t" lIns="0" rIns="0" tIns="0" bIns="0">
            <a:spAutoFit/>
          </a:bodyPr>
          <a:lstStyle/>
          <a:p>
            <a:pPr algn="l">
              <a:lnSpc>
                <a:spcPct val="115000"/>
              </a:lnSpc>
            </a:pPr>
            <a:r>
              <a:rPr sz="1400" b="1" i="0">
                <a:solidFill>
                  <a:srgbClr val="1B1614"/>
                </a:solidFill>
                <a:latin typeface="Segoe UI"/>
              </a:rPr>
              <a:t>Community &amp; reach</a:t>
            </a:r>
          </a:p>
        </p:txBody>
      </p:sp>
      <p:sp>
        <p:nvSpPr>
          <p:cNvPr id="24" name="TextBox 23"/>
          <p:cNvSpPr txBox="1"/>
          <p:nvPr/>
        </p:nvSpPr>
        <p:spPr>
          <a:xfrm>
            <a:off x="9134856" y="3493008"/>
            <a:ext cx="2011680" cy="1645920"/>
          </a:xfrm>
          <a:prstGeom prst="rect">
            <a:avLst/>
          </a:prstGeom>
          <a:noFill/>
        </p:spPr>
        <p:txBody>
          <a:bodyPr wrap="square" anchor="t" lIns="0" rIns="0" tIns="0" bIns="0">
            <a:spAutoFit/>
          </a:bodyPr>
          <a:lstStyle/>
          <a:p>
            <a:pPr algn="l">
              <a:lnSpc>
                <a:spcPct val="140000"/>
              </a:lnSpc>
            </a:pPr>
            <a:r>
              <a:rPr sz="1019" b="0" i="0">
                <a:solidFill>
                  <a:srgbClr val="5A504A"/>
                </a:solidFill>
                <a:latin typeface="Segoe UI"/>
              </a:rPr>
              <a:t>A publicly readable cross-tenant forum plus a consented social share pipeline. Knowledge pooling for retention, organic reach for acquisition.</a:t>
            </a:r>
          </a:p>
        </p:txBody>
      </p:sp>
      <p:sp>
        <p:nvSpPr>
          <p:cNvPr id="25" name="TextBox 24"/>
          <p:cNvSpPr txBox="1"/>
          <p:nvPr/>
        </p:nvSpPr>
        <p:spPr>
          <a:xfrm>
            <a:off x="777240" y="5486400"/>
            <a:ext cx="10637215" cy="365760"/>
          </a:xfrm>
          <a:prstGeom prst="rect">
            <a:avLst/>
          </a:prstGeom>
          <a:noFill/>
        </p:spPr>
        <p:txBody>
          <a:bodyPr wrap="square" anchor="t" lIns="0" rIns="0" tIns="0" bIns="0">
            <a:spAutoFit/>
          </a:bodyPr>
          <a:lstStyle/>
          <a:p>
            <a:pPr algn="l">
              <a:lnSpc>
                <a:spcPct val="135000"/>
              </a:lnSpc>
            </a:pPr>
            <a:r>
              <a:rPr sz="1150" b="0" i="0">
                <a:solidFill>
                  <a:srgbClr val="7C6F66"/>
                </a:solidFill>
                <a:latin typeface="Segoe UI"/>
              </a:rPr>
              <a:t>Native mobile for fosters and volunteers. Web dashboard for admins. Multi-tenant from day one. Quiet by default — the product is fully usable with push turned off.</a:t>
            </a:r>
          </a:p>
        </p:txBody>
      </p:sp>
      <p:sp>
        <p:nvSpPr>
          <p:cNvPr id="26" name="TextBox 25"/>
          <p:cNvSpPr txBox="1"/>
          <p:nvPr/>
        </p:nvSpPr>
        <p:spPr>
          <a:xfrm>
            <a:off x="777240" y="6345936"/>
            <a:ext cx="7315200" cy="274320"/>
          </a:xfrm>
          <a:prstGeom prst="rect">
            <a:avLst/>
          </a:prstGeom>
          <a:noFill/>
        </p:spPr>
        <p:txBody>
          <a:bodyPr wrap="square" anchor="t" lIns="0" rIns="0" tIns="0" bIns="0">
            <a:spAutoFit/>
          </a:bodyPr>
          <a:lstStyle/>
          <a:p>
            <a:pPr algn="l">
              <a:lnSpc>
                <a:spcPct val="100000"/>
              </a:lnSpc>
            </a:pPr>
            <a:r>
              <a:rPr sz="900" b="0" i="0">
                <a:solidFill>
                  <a:srgbClr val="7C6F66"/>
                </a:solidFill>
                <a:latin typeface="Segoe UI"/>
              </a:rPr>
              <a:t>The Foster Pack  ·  Confidential</a:t>
            </a:r>
          </a:p>
        </p:txBody>
      </p:sp>
      <p:sp>
        <p:nvSpPr>
          <p:cNvPr id="27" name="TextBox 26"/>
          <p:cNvSpPr txBox="1"/>
          <p:nvPr/>
        </p:nvSpPr>
        <p:spPr>
          <a:xfrm>
            <a:off x="10515600" y="6345936"/>
            <a:ext cx="896112" cy="274320"/>
          </a:xfrm>
          <a:prstGeom prst="rect">
            <a:avLst/>
          </a:prstGeom>
          <a:noFill/>
        </p:spPr>
        <p:txBody>
          <a:bodyPr wrap="square" anchor="t" lIns="0" rIns="0" tIns="0" bIns="0">
            <a:spAutoFit/>
          </a:bodyPr>
          <a:lstStyle/>
          <a:p>
            <a:pPr algn="r">
              <a:lnSpc>
                <a:spcPct val="100000"/>
              </a:lnSpc>
            </a:pPr>
            <a:r>
              <a:rPr sz="900" b="1" i="0">
                <a:solidFill>
                  <a:srgbClr val="7C6F66"/>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30352"/>
            <a:ext cx="10637215" cy="274320"/>
          </a:xfrm>
          <a:prstGeom prst="rect">
            <a:avLst/>
          </a:prstGeom>
          <a:noFill/>
        </p:spPr>
        <p:txBody>
          <a:bodyPr wrap="square" anchor="t" lIns="0" rIns="0" tIns="0" bIns="0">
            <a:spAutoFit/>
          </a:bodyPr>
          <a:lstStyle/>
          <a:p>
            <a:pPr algn="l">
              <a:lnSpc>
                <a:spcPct val="100000"/>
              </a:lnSpc>
            </a:pPr>
            <a:r>
              <a:rPr sz="1050" b="1" i="0" spc="190">
                <a:solidFill>
                  <a:srgbClr val="0F6E63"/>
                </a:solidFill>
                <a:latin typeface="Segoe UI"/>
              </a:rPr>
              <a:t>KEY IMPROVEMENTS — AI &amp; AUTOMATION</a:t>
            </a:r>
          </a:p>
        </p:txBody>
      </p:sp>
      <p:sp>
        <p:nvSpPr>
          <p:cNvPr id="4" name="TextBox 3"/>
          <p:cNvSpPr txBox="1"/>
          <p:nvPr/>
        </p:nvSpPr>
        <p:spPr>
          <a:xfrm>
            <a:off x="777240" y="841248"/>
            <a:ext cx="10637215" cy="1371600"/>
          </a:xfrm>
          <a:prstGeom prst="rect">
            <a:avLst/>
          </a:prstGeom>
          <a:noFill/>
        </p:spPr>
        <p:txBody>
          <a:bodyPr wrap="square" anchor="t" lIns="0" rIns="0" tIns="0" bIns="0">
            <a:spAutoFit/>
          </a:bodyPr>
          <a:lstStyle/>
          <a:p>
            <a:pPr algn="l">
              <a:lnSpc>
                <a:spcPct val="108000"/>
              </a:lnSpc>
            </a:pPr>
            <a:r>
              <a:rPr sz="3300" b="1" i="0">
                <a:solidFill>
                  <a:srgbClr val="1B1614"/>
                </a:solidFill>
                <a:latin typeface="Segoe UI"/>
              </a:rPr>
              <a:t>15 capabilities. Six ship at pilot.</a:t>
            </a:r>
          </a:p>
          <a:p>
            <a:pPr algn="l">
              <a:lnSpc>
                <a:spcPct val="108000"/>
              </a:lnSpc>
            </a:pPr>
            <a:r>
              <a:rPr sz="3300" b="1" i="0">
                <a:solidFill>
                  <a:srgbClr val="1B1614"/>
                </a:solidFill>
                <a:latin typeface="Segoe UI"/>
              </a:rPr>
              <a:t>AI drafts, humans decide.</a:t>
            </a:r>
          </a:p>
        </p:txBody>
      </p:sp>
      <p:sp>
        <p:nvSpPr>
          <p:cNvPr id="5" name="Rounded Rectangle 4"/>
          <p:cNvSpPr/>
          <p:nvPr/>
        </p:nvSpPr>
        <p:spPr>
          <a:xfrm>
            <a:off x="777240" y="2395728"/>
            <a:ext cx="5193792" cy="3127248"/>
          </a:xfrm>
          <a:prstGeom prst="roundRect">
            <a:avLst>
              <a:gd name="adj" fmla="val 5000"/>
            </a:avLst>
          </a:prstGeom>
          <a:solidFill>
            <a:srgbClr val="0F6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9848" y="2615184"/>
            <a:ext cx="4608576" cy="274320"/>
          </a:xfrm>
          <a:prstGeom prst="rect">
            <a:avLst/>
          </a:prstGeom>
          <a:noFill/>
        </p:spPr>
        <p:txBody>
          <a:bodyPr wrap="square" anchor="t" lIns="0" rIns="0" tIns="0" bIns="0">
            <a:spAutoFit/>
          </a:bodyPr>
          <a:lstStyle/>
          <a:p>
            <a:pPr algn="l">
              <a:lnSpc>
                <a:spcPct val="100000"/>
              </a:lnSpc>
            </a:pPr>
            <a:r>
              <a:rPr sz="950" b="1" i="0" spc="160">
                <a:solidFill>
                  <a:srgbClr val="9FD8CF"/>
                </a:solidFill>
                <a:latin typeface="Segoe UI"/>
              </a:rPr>
              <a:t>SHIPS AT PILOT — 6</a:t>
            </a:r>
          </a:p>
        </p:txBody>
      </p:sp>
      <p:sp>
        <p:nvSpPr>
          <p:cNvPr id="7" name="TextBox 6"/>
          <p:cNvSpPr txBox="1"/>
          <p:nvPr/>
        </p:nvSpPr>
        <p:spPr>
          <a:xfrm>
            <a:off x="1069848" y="2962656"/>
            <a:ext cx="4608576" cy="2377440"/>
          </a:xfrm>
          <a:prstGeom prst="rect">
            <a:avLst/>
          </a:prstGeom>
          <a:noFill/>
        </p:spPr>
        <p:txBody>
          <a:bodyPr wrap="square" anchor="t" lIns="0" rIns="0" tIns="0" bIns="0">
            <a:spAutoFit/>
          </a:bodyPr>
          <a:lstStyle/>
          <a:p>
            <a:pPr algn="l">
              <a:lnSpc>
                <a:spcPct val="138000"/>
              </a:lnSpc>
            </a:pPr>
            <a:r>
              <a:rPr sz="1000" b="0" i="0">
                <a:solidFill>
                  <a:srgbClr val="DDF0EE"/>
                </a:solidFill>
                <a:latin typeface="Segoe UI"/>
              </a:rPr>
              <a:t>AI-1  Dynamic profile assembly — behavioural flags inferred from the journal, with linked evidence</a:t>
            </a:r>
          </a:p>
          <a:p>
            <a:pPr algn="l">
              <a:lnSpc>
                <a:spcPct val="138000"/>
              </a:lnSpc>
            </a:pPr>
            <a:r>
              <a:rPr sz="1000" b="0" i="0">
                <a:solidFill>
                  <a:srgbClr val="DDF0EE"/>
                </a:solidFill>
                <a:latin typeface="Segoe UI"/>
              </a:rPr>
              <a:t>AI-2  Structured extraction — voice and free text → weight, meals, meds, symptoms; photos auto-tagged</a:t>
            </a:r>
          </a:p>
          <a:p>
            <a:pPr algn="l">
              <a:lnSpc>
                <a:spcPct val="138000"/>
              </a:lnSpc>
            </a:pPr>
            <a:r>
              <a:rPr sz="1000" b="0" i="0">
                <a:solidFill>
                  <a:srgbClr val="DDF0EE"/>
                </a:solidFill>
                <a:latin typeface="Segoe UI"/>
              </a:rPr>
              <a:t>AI-3  Transcription — audio and video become searchable history</a:t>
            </a:r>
          </a:p>
          <a:p>
            <a:pPr algn="l">
              <a:lnSpc>
                <a:spcPct val="138000"/>
              </a:lnSpc>
            </a:pPr>
            <a:r>
              <a:rPr sz="1000" b="0" i="0">
                <a:solidFill>
                  <a:srgbClr val="DDF0EE"/>
                </a:solidFill>
                <a:latin typeface="Segoe UI"/>
              </a:rPr>
              <a:t>AI-4  Matching — three-layer dog↔foster and dog↔volunteer compatibility with plain-language rationale</a:t>
            </a:r>
          </a:p>
          <a:p>
            <a:pPr algn="l">
              <a:lnSpc>
                <a:spcPct val="138000"/>
              </a:lnSpc>
            </a:pPr>
            <a:r>
              <a:rPr sz="1000" b="0" i="0">
                <a:solidFill>
                  <a:srgbClr val="DDF0EE"/>
                </a:solidFill>
                <a:latin typeface="Segoe UI"/>
              </a:rPr>
              <a:t>AI-5  Smart intake — breed and age estimation, document OCR, duplicate and return detection</a:t>
            </a:r>
          </a:p>
          <a:p>
            <a:pPr algn="l">
              <a:lnSpc>
                <a:spcPct val="138000"/>
              </a:lnSpc>
            </a:pPr>
            <a:r>
              <a:rPr sz="1000" b="0" i="0">
                <a:solidFill>
                  <a:srgbClr val="DDF0EE"/>
                </a:solidFill>
                <a:latin typeface="Segoe UI"/>
              </a:rPr>
              <a:t>AI-14  Forum safety — PII detection and emergency interception. A gate, not a feature.</a:t>
            </a:r>
          </a:p>
        </p:txBody>
      </p:sp>
      <p:sp>
        <p:nvSpPr>
          <p:cNvPr id="8" name="Rounded Rectangle 7"/>
          <p:cNvSpPr/>
          <p:nvPr/>
        </p:nvSpPr>
        <p:spPr>
          <a:xfrm>
            <a:off x="6236208" y="2395728"/>
            <a:ext cx="5193792" cy="3127248"/>
          </a:xfrm>
          <a:prstGeom prst="roundRect">
            <a:avLst>
              <a:gd name="adj" fmla="val 5000"/>
            </a:avLst>
          </a:prstGeom>
          <a:solidFill>
            <a:srgbClr val="FFFFFF"/>
          </a:solidFill>
          <a:ln w="12700">
            <a:solidFill>
              <a:srgbClr val="E4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28816" y="2615184"/>
            <a:ext cx="4608576" cy="274320"/>
          </a:xfrm>
          <a:prstGeom prst="rect">
            <a:avLst/>
          </a:prstGeom>
          <a:noFill/>
        </p:spPr>
        <p:txBody>
          <a:bodyPr wrap="square" anchor="t" lIns="0" rIns="0" tIns="0" bIns="0">
            <a:spAutoFit/>
          </a:bodyPr>
          <a:lstStyle/>
          <a:p>
            <a:pPr algn="l">
              <a:lnSpc>
                <a:spcPct val="100000"/>
              </a:lnSpc>
            </a:pPr>
            <a:r>
              <a:rPr sz="950" b="1" i="0" spc="150">
                <a:solidFill>
                  <a:srgbClr val="7C6F66"/>
                </a:solidFill>
                <a:latin typeface="Segoe UI"/>
              </a:rPr>
              <a:t>POST-PILOT — 9, EACH FLAG-CONTROLLED</a:t>
            </a:r>
          </a:p>
        </p:txBody>
      </p:sp>
      <p:sp>
        <p:nvSpPr>
          <p:cNvPr id="10" name="TextBox 9"/>
          <p:cNvSpPr txBox="1"/>
          <p:nvPr/>
        </p:nvSpPr>
        <p:spPr>
          <a:xfrm>
            <a:off x="6528816" y="2962656"/>
            <a:ext cx="4608576" cy="2377440"/>
          </a:xfrm>
          <a:prstGeom prst="rect">
            <a:avLst/>
          </a:prstGeom>
          <a:noFill/>
        </p:spPr>
        <p:txBody>
          <a:bodyPr wrap="square" anchor="t" lIns="0" rIns="0" tIns="0" bIns="0">
            <a:spAutoFit/>
          </a:bodyPr>
          <a:lstStyle/>
          <a:p>
            <a:pPr algn="l">
              <a:lnSpc>
                <a:spcPct val="142000"/>
              </a:lnSpc>
            </a:pPr>
            <a:r>
              <a:rPr sz="1019" b="0" i="0">
                <a:solidFill>
                  <a:srgbClr val="5A504A"/>
                </a:solidFill>
                <a:latin typeface="Segoe UI"/>
              </a:rPr>
              <a:t>AI-6  Health-trend anomaly detection → early warning</a:t>
            </a:r>
          </a:p>
          <a:p>
            <a:pPr algn="l">
              <a:lnSpc>
                <a:spcPct val="142000"/>
              </a:lnSpc>
            </a:pPr>
            <a:r>
              <a:rPr sz="1019" b="0" i="0">
                <a:solidFill>
                  <a:srgbClr val="5A504A"/>
                </a:solidFill>
                <a:latin typeface="Segoe UI"/>
              </a:rPr>
              <a:t>AI-7  Symptom triage assist — advisory only, never diagnostic</a:t>
            </a:r>
          </a:p>
          <a:p>
            <a:pPr algn="l">
              <a:lnSpc>
                <a:spcPct val="142000"/>
              </a:lnSpc>
            </a:pPr>
            <a:r>
              <a:rPr sz="1019" b="0" i="0">
                <a:solidFill>
                  <a:srgbClr val="5A504A"/>
                </a:solidFill>
                <a:latin typeface="Segoe UI"/>
              </a:rPr>
              <a:t>AI-8  Length-of-stay risk prediction</a:t>
            </a:r>
          </a:p>
          <a:p>
            <a:pPr algn="l">
              <a:lnSpc>
                <a:spcPct val="142000"/>
              </a:lnSpc>
            </a:pPr>
            <a:r>
              <a:rPr sz="1019" b="0" i="0">
                <a:solidFill>
                  <a:srgbClr val="5A504A"/>
                </a:solidFill>
                <a:latin typeface="Segoe UI"/>
              </a:rPr>
              <a:t>AI-9  Placement-failure early warning from check-in sentiment</a:t>
            </a:r>
          </a:p>
          <a:p>
            <a:pPr algn="l">
              <a:lnSpc>
                <a:spcPct val="142000"/>
              </a:lnSpc>
            </a:pPr>
            <a:r>
              <a:rPr sz="1019" b="0" i="0">
                <a:solidFill>
                  <a:srgbClr val="5A504A"/>
                </a:solidFill>
                <a:latin typeface="Segoe UI"/>
              </a:rPr>
              <a:t>AI-10  Capacity forecasting from intake patterns</a:t>
            </a:r>
          </a:p>
          <a:p>
            <a:pPr algn="l">
              <a:lnSpc>
                <a:spcPct val="142000"/>
              </a:lnSpc>
            </a:pPr>
            <a:r>
              <a:rPr sz="1019" b="0" i="0">
                <a:solidFill>
                  <a:srgbClr val="5A504A"/>
                </a:solidFill>
                <a:latin typeface="Segoe UI"/>
              </a:rPr>
              <a:t>AI-11  Adoption profile generation from the journal</a:t>
            </a:r>
          </a:p>
          <a:p>
            <a:pPr algn="l">
              <a:lnSpc>
                <a:spcPct val="142000"/>
              </a:lnSpc>
            </a:pPr>
            <a:r>
              <a:rPr sz="1019" b="0" i="0">
                <a:solidFill>
                  <a:srgbClr val="5A504A"/>
                </a:solidFill>
                <a:latin typeface="Segoe UI"/>
              </a:rPr>
              <a:t>AI-12  Natural-language search across animals, people and records</a:t>
            </a:r>
          </a:p>
          <a:p>
            <a:pPr algn="l">
              <a:lnSpc>
                <a:spcPct val="142000"/>
              </a:lnSpc>
            </a:pPr>
            <a:r>
              <a:rPr sz="1019" b="0" i="0">
                <a:solidFill>
                  <a:srgbClr val="5A504A"/>
                </a:solidFill>
                <a:latin typeface="Segoe UI"/>
              </a:rPr>
              <a:t>AI-13  Report generation — SAC matrix and board narratives</a:t>
            </a:r>
          </a:p>
          <a:p>
            <a:pPr algn="l">
              <a:lnSpc>
                <a:spcPct val="142000"/>
              </a:lnSpc>
            </a:pPr>
            <a:r>
              <a:rPr sz="1019" b="0" i="0">
                <a:solidFill>
                  <a:srgbClr val="5A504A"/>
                </a:solidFill>
                <a:latin typeface="Segoe UI"/>
              </a:rPr>
              <a:t>AI-15  Duplicate-question detection in the forum</a:t>
            </a:r>
          </a:p>
        </p:txBody>
      </p:sp>
      <p:sp>
        <p:nvSpPr>
          <p:cNvPr id="11" name="TextBox 10"/>
          <p:cNvSpPr txBox="1"/>
          <p:nvPr/>
        </p:nvSpPr>
        <p:spPr>
          <a:xfrm>
            <a:off x="777240" y="5705856"/>
            <a:ext cx="10637215" cy="457200"/>
          </a:xfrm>
          <a:prstGeom prst="rect">
            <a:avLst/>
          </a:prstGeom>
          <a:noFill/>
        </p:spPr>
        <p:txBody>
          <a:bodyPr wrap="square" anchor="t" lIns="0" rIns="0" tIns="0" bIns="0">
            <a:spAutoFit/>
          </a:bodyPr>
          <a:lstStyle/>
          <a:p>
            <a:pPr algn="l">
              <a:lnSpc>
                <a:spcPct val="135000"/>
              </a:lnSpc>
            </a:pPr>
            <a:r>
              <a:rPr sz="1050" b="0" i="0">
                <a:solidFill>
                  <a:srgbClr val="7C6F66"/>
                </a:solidFill>
                <a:latin typeface="Segoe UI"/>
              </a:rPr>
              <a:t>Guardrails: every output carries its evidence, a confidence band and accept / reject / edit. Every capability has a non-AI fallback and an independent kill switch. Sustained acceptance below 50% turns a capability off. No PII is ever sent to a model.</a:t>
            </a:r>
          </a:p>
        </p:txBody>
      </p:sp>
      <p:sp>
        <p:nvSpPr>
          <p:cNvPr id="12" name="TextBox 11"/>
          <p:cNvSpPr txBox="1"/>
          <p:nvPr/>
        </p:nvSpPr>
        <p:spPr>
          <a:xfrm>
            <a:off x="777240" y="6345936"/>
            <a:ext cx="7315200" cy="274320"/>
          </a:xfrm>
          <a:prstGeom prst="rect">
            <a:avLst/>
          </a:prstGeom>
          <a:noFill/>
        </p:spPr>
        <p:txBody>
          <a:bodyPr wrap="square" anchor="t" lIns="0" rIns="0" tIns="0" bIns="0">
            <a:spAutoFit/>
          </a:bodyPr>
          <a:lstStyle/>
          <a:p>
            <a:pPr algn="l">
              <a:lnSpc>
                <a:spcPct val="100000"/>
              </a:lnSpc>
            </a:pPr>
            <a:r>
              <a:rPr sz="900" b="0" i="0">
                <a:solidFill>
                  <a:srgbClr val="7C6F66"/>
                </a:solidFill>
                <a:latin typeface="Segoe UI"/>
              </a:rPr>
              <a:t>The Foster Pack  ·  Confidential</a:t>
            </a:r>
          </a:p>
        </p:txBody>
      </p:sp>
      <p:sp>
        <p:nvSpPr>
          <p:cNvPr id="13" name="TextBox 12"/>
          <p:cNvSpPr txBox="1"/>
          <p:nvPr/>
        </p:nvSpPr>
        <p:spPr>
          <a:xfrm>
            <a:off x="10515600" y="6345936"/>
            <a:ext cx="896112" cy="274320"/>
          </a:xfrm>
          <a:prstGeom prst="rect">
            <a:avLst/>
          </a:prstGeom>
          <a:noFill/>
        </p:spPr>
        <p:txBody>
          <a:bodyPr wrap="square" anchor="t" lIns="0" rIns="0" tIns="0" bIns="0">
            <a:spAutoFit/>
          </a:bodyPr>
          <a:lstStyle/>
          <a:p>
            <a:pPr algn="r">
              <a:lnSpc>
                <a:spcPct val="100000"/>
              </a:lnSpc>
            </a:pPr>
            <a:r>
              <a:rPr sz="900" b="1" i="0">
                <a:solidFill>
                  <a:srgbClr val="7C6F66"/>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7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30352"/>
            <a:ext cx="10637215" cy="274320"/>
          </a:xfrm>
          <a:prstGeom prst="rect">
            <a:avLst/>
          </a:prstGeom>
          <a:noFill/>
        </p:spPr>
        <p:txBody>
          <a:bodyPr wrap="square" anchor="t" lIns="0" rIns="0" tIns="0" bIns="0">
            <a:spAutoFit/>
          </a:bodyPr>
          <a:lstStyle/>
          <a:p>
            <a:pPr algn="l">
              <a:lnSpc>
                <a:spcPct val="100000"/>
              </a:lnSpc>
            </a:pPr>
            <a:r>
              <a:rPr sz="1050" b="1" i="0" spc="190">
                <a:solidFill>
                  <a:srgbClr val="0F6E63"/>
                </a:solidFill>
                <a:latin typeface="Segoe UI"/>
              </a:rPr>
              <a:t>AI AGAINST THE LEAK</a:t>
            </a:r>
          </a:p>
        </p:txBody>
      </p:sp>
      <p:sp>
        <p:nvSpPr>
          <p:cNvPr id="4" name="TextBox 3"/>
          <p:cNvSpPr txBox="1"/>
          <p:nvPr/>
        </p:nvSpPr>
        <p:spPr>
          <a:xfrm>
            <a:off x="777240" y="841248"/>
            <a:ext cx="10637215" cy="1371600"/>
          </a:xfrm>
          <a:prstGeom prst="rect">
            <a:avLst/>
          </a:prstGeom>
          <a:noFill/>
        </p:spPr>
        <p:txBody>
          <a:bodyPr wrap="square" anchor="t" lIns="0" rIns="0" tIns="0" bIns="0">
            <a:spAutoFit/>
          </a:bodyPr>
          <a:lstStyle/>
          <a:p>
            <a:pPr algn="l">
              <a:lnSpc>
                <a:spcPct val="108000"/>
              </a:lnSpc>
            </a:pPr>
            <a:r>
              <a:rPr sz="3400" b="1" i="0">
                <a:solidFill>
                  <a:srgbClr val="1B1614"/>
                </a:solidFill>
                <a:latin typeface="Segoe UI"/>
              </a:rPr>
              <a:t>Every capability points at a funnel stage.</a:t>
            </a:r>
          </a:p>
        </p:txBody>
      </p:sp>
      <p:graphicFrame>
        <p:nvGraphicFramePr>
          <p:cNvPr id="5" name="Table 4"/>
          <p:cNvGraphicFramePr>
            <a:graphicFrameLocks noGrp="1"/>
          </p:cNvGraphicFramePr>
          <p:nvPr/>
        </p:nvGraphicFramePr>
        <p:xfrm>
          <a:off x="777240" y="1847088"/>
          <a:ext cx="10637215" cy="3950208"/>
        </p:xfrm>
        <a:graphic>
          <a:graphicData uri="http://schemas.openxmlformats.org/drawingml/2006/table">
            <a:tbl>
              <a:tblPr firstRow="0" bandRow="0">
                <a:tableStyleId>{2D5ABB26-0587-4C30-8999-92F81FD0307C}</a:tableStyleId>
              </a:tblPr>
              <a:tblGrid>
                <a:gridCol w="1965960"/>
                <a:gridCol w="4206240"/>
                <a:gridCol w="4465015"/>
              </a:tblGrid>
              <a:tr h="365760">
                <a:tc>
                  <a:txBody>
                    <a:bodyPr wrap="square"/>
                    <a:lstStyle/>
                    <a:p>
                      <a:pPr>
                        <a:lnSpc>
                          <a:spcPct val="120000"/>
                        </a:lnSpc>
                      </a:pPr>
                      <a:r>
                        <a:rPr sz="980" b="1">
                          <a:solidFill>
                            <a:srgbClr val="FFFFFF"/>
                          </a:solidFill>
                          <a:latin typeface="Segoe UI"/>
                        </a:rPr>
                        <a:t>Funnel stage</a:t>
                      </a:r>
                    </a:p>
                  </a:txBody>
                  <a:tcPr marL="118872" marR="118872" marT="64008" marB="64008" anchor="ctr">
                    <a:solidFill>
                      <a:srgbClr val="0F6E63"/>
                    </a:solidFill>
                  </a:tcPr>
                </a:tc>
                <a:tc>
                  <a:txBody>
                    <a:bodyPr wrap="square"/>
                    <a:lstStyle/>
                    <a:p>
                      <a:pPr>
                        <a:lnSpc>
                          <a:spcPct val="120000"/>
                        </a:lnSpc>
                      </a:pPr>
                      <a:r>
                        <a:rPr sz="980" b="1">
                          <a:solidFill>
                            <a:srgbClr val="FFFFFF"/>
                          </a:solidFill>
                          <a:latin typeface="Segoe UI"/>
                        </a:rPr>
                        <a:t>What we automate</a:t>
                      </a:r>
                    </a:p>
                  </a:txBody>
                  <a:tcPr marL="118872" marR="118872" marT="64008" marB="64008" anchor="ctr">
                    <a:solidFill>
                      <a:srgbClr val="0F6E63"/>
                    </a:solidFill>
                  </a:tcPr>
                </a:tc>
                <a:tc>
                  <a:txBody>
                    <a:bodyPr wrap="square"/>
                    <a:lstStyle/>
                    <a:p>
                      <a:pPr>
                        <a:lnSpc>
                          <a:spcPct val="120000"/>
                        </a:lnSpc>
                      </a:pPr>
                      <a:r>
                        <a:rPr sz="980" b="1">
                          <a:solidFill>
                            <a:srgbClr val="FFFFFF"/>
                          </a:solidFill>
                          <a:latin typeface="Segoe UI"/>
                        </a:rPr>
                        <a:t>Effect on capacity</a:t>
                      </a:r>
                    </a:p>
                  </a:txBody>
                  <a:tcPr marL="118872" marR="118872" marT="64008" marB="64008" anchor="ctr">
                    <a:solidFill>
                      <a:srgbClr val="0F6E63"/>
                    </a:solidFill>
                  </a:tcPr>
                </a:tc>
              </a:tr>
              <a:tr h="512064">
                <a:tc>
                  <a:txBody>
                    <a:bodyPr wrap="square"/>
                    <a:lstStyle/>
                    <a:p>
                      <a:pPr>
                        <a:lnSpc>
                          <a:spcPct val="120000"/>
                        </a:lnSpc>
                      </a:pPr>
                      <a:r>
                        <a:rPr sz="950" b="1">
                          <a:solidFill>
                            <a:srgbClr val="1B1614"/>
                          </a:solidFill>
                          <a:latin typeface="Segoe UI"/>
                        </a:rPr>
                        <a:t>Acquisition</a:t>
                      </a:r>
                    </a:p>
                  </a:txBody>
                  <a:tcPr marL="118872" marR="118872" marT="64008" marB="64008" anchor="ctr">
                    <a:solidFill>
                      <a:srgbClr val="FFFFFF"/>
                    </a:solidFill>
                  </a:tcPr>
                </a:tc>
                <a:tc>
                  <a:txBody>
                    <a:bodyPr wrap="square"/>
                    <a:lstStyle/>
                    <a:p>
                      <a:pPr>
                        <a:lnSpc>
                          <a:spcPct val="120000"/>
                        </a:lnSpc>
                      </a:pPr>
                      <a:r>
                        <a:rPr sz="950" b="0">
                          <a:solidFill>
                            <a:srgbClr val="5A504A"/>
                          </a:solidFill>
                          <a:latin typeface="Segoe UI"/>
                        </a:rPr>
                        <a:t>Consented one-tap social share pipeline; publicly readable, SEO-indexed forum</a:t>
                      </a:r>
                    </a:p>
                  </a:txBody>
                  <a:tcPr marL="118872" marR="118872" marT="64008" marB="64008" anchor="ctr">
                    <a:solidFill>
                      <a:srgbClr val="FFFFFF"/>
                    </a:solidFill>
                  </a:tcPr>
                </a:tc>
                <a:tc>
                  <a:txBody>
                    <a:bodyPr wrap="square"/>
                    <a:lstStyle/>
                    <a:p>
                      <a:pPr>
                        <a:lnSpc>
                          <a:spcPct val="120000"/>
                        </a:lnSpc>
                      </a:pPr>
                      <a:r>
                        <a:rPr sz="950" b="0">
                          <a:solidFill>
                            <a:srgbClr val="5A504A"/>
                          </a:solidFill>
                          <a:latin typeface="Segoe UI"/>
                        </a:rPr>
                        <a:t>Organic inbound fosters at zero staff time. Reach becomes measurable.</a:t>
                      </a:r>
                    </a:p>
                  </a:txBody>
                  <a:tcPr marL="118872" marR="118872" marT="64008" marB="64008" anchor="ctr">
                    <a:solidFill>
                      <a:srgbClr val="FFFFFF"/>
                    </a:solidFill>
                  </a:tcPr>
                </a:tc>
              </a:tr>
              <a:tr h="512064">
                <a:tc>
                  <a:txBody>
                    <a:bodyPr wrap="square"/>
                    <a:lstStyle/>
                    <a:p>
                      <a:pPr>
                        <a:lnSpc>
                          <a:spcPct val="120000"/>
                        </a:lnSpc>
                      </a:pPr>
                      <a:r>
                        <a:rPr sz="950" b="1">
                          <a:solidFill>
                            <a:srgbClr val="1B1614"/>
                          </a:solidFill>
                          <a:latin typeface="Segoe UI"/>
                        </a:rPr>
                        <a:t>Onboarding</a:t>
                      </a:r>
                    </a:p>
                  </a:txBody>
                  <a:tcPr marL="118872" marR="118872" marT="64008" marB="64008" anchor="ctr">
                    <a:solidFill>
                      <a:srgbClr val="F7F2EA"/>
                    </a:solidFill>
                  </a:tcPr>
                </a:tc>
                <a:tc>
                  <a:txBody>
                    <a:bodyPr wrap="square"/>
                    <a:lstStyle/>
                    <a:p>
                      <a:pPr>
                        <a:lnSpc>
                          <a:spcPct val="120000"/>
                        </a:lnSpc>
                      </a:pPr>
                      <a:r>
                        <a:rPr sz="950" b="0">
                          <a:solidFill>
                            <a:srgbClr val="5A504A"/>
                          </a:solidFill>
                          <a:latin typeface="Segoe UI"/>
                        </a:rPr>
                        <a:t>Templated tiered Care Programs that schedule themselves; no PDF packets</a:t>
                      </a:r>
                    </a:p>
                  </a:txBody>
                  <a:tcPr marL="118872" marR="118872" marT="64008" marB="64008" anchor="ctr">
                    <a:solidFill>
                      <a:srgbClr val="F7F2EA"/>
                    </a:solidFill>
                  </a:tcPr>
                </a:tc>
                <a:tc>
                  <a:txBody>
                    <a:bodyPr wrap="square"/>
                    <a:lstStyle/>
                    <a:p>
                      <a:pPr>
                        <a:lnSpc>
                          <a:spcPct val="120000"/>
                        </a:lnSpc>
                      </a:pPr>
                      <a:r>
                        <a:rPr sz="950" b="0">
                          <a:solidFill>
                            <a:srgbClr val="5A504A"/>
                          </a:solidFill>
                          <a:latin typeface="Segoe UI"/>
                        </a:rPr>
                        <a:t>Target: approved to first placement in under 24 hours.</a:t>
                      </a:r>
                    </a:p>
                  </a:txBody>
                  <a:tcPr marL="118872" marR="118872" marT="64008" marB="64008" anchor="ctr">
                    <a:solidFill>
                      <a:srgbClr val="F7F2EA"/>
                    </a:solidFill>
                  </a:tcPr>
                </a:tc>
              </a:tr>
              <a:tr h="512064">
                <a:tc>
                  <a:txBody>
                    <a:bodyPr wrap="square"/>
                    <a:lstStyle/>
                    <a:p>
                      <a:pPr>
                        <a:lnSpc>
                          <a:spcPct val="120000"/>
                        </a:lnSpc>
                      </a:pPr>
                      <a:r>
                        <a:rPr sz="950" b="1">
                          <a:solidFill>
                            <a:srgbClr val="1B1614"/>
                          </a:solidFill>
                          <a:latin typeface="Segoe UI"/>
                        </a:rPr>
                        <a:t>First placement</a:t>
                      </a:r>
                    </a:p>
                  </a:txBody>
                  <a:tcPr marL="118872" marR="118872" marT="64008" marB="64008" anchor="ctr">
                    <a:solidFill>
                      <a:srgbClr val="FFFFFF"/>
                    </a:solidFill>
                  </a:tcPr>
                </a:tc>
                <a:tc>
                  <a:txBody>
                    <a:bodyPr wrap="square"/>
                    <a:lstStyle/>
                    <a:p>
                      <a:pPr>
                        <a:lnSpc>
                          <a:spcPct val="120000"/>
                        </a:lnSpc>
                      </a:pPr>
                      <a:r>
                        <a:rPr sz="950" b="0">
                          <a:solidFill>
                            <a:srgbClr val="5A504A"/>
                          </a:solidFill>
                          <a:latin typeface="Segoe UI"/>
                        </a:rPr>
                        <a:t>AI-4 three-layer matching with plain-language rationale, human-decided</a:t>
                      </a:r>
                    </a:p>
                  </a:txBody>
                  <a:tcPr marL="118872" marR="118872" marT="64008" marB="64008" anchor="ctr">
                    <a:solidFill>
                      <a:srgbClr val="FFFFFF"/>
                    </a:solidFill>
                  </a:tcPr>
                </a:tc>
                <a:tc>
                  <a:txBody>
                    <a:bodyPr wrap="square"/>
                    <a:lstStyle/>
                    <a:p>
                      <a:pPr>
                        <a:lnSpc>
                          <a:spcPct val="120000"/>
                        </a:lnSpc>
                      </a:pPr>
                      <a:r>
                        <a:rPr sz="950" b="0">
                          <a:solidFill>
                            <a:srgbClr val="5A504A"/>
                          </a:solidFill>
                          <a:latin typeface="Segoe UI"/>
                        </a:rPr>
                        <a:t>Right dog first time. Fewer failed placements, fewer scarred beginners.</a:t>
                      </a:r>
                    </a:p>
                  </a:txBody>
                  <a:tcPr marL="118872" marR="118872" marT="64008" marB="64008" anchor="ctr">
                    <a:solidFill>
                      <a:srgbClr val="FFFFFF"/>
                    </a:solidFill>
                  </a:tcPr>
                </a:tc>
              </a:tr>
              <a:tr h="512064">
                <a:tc>
                  <a:txBody>
                    <a:bodyPr wrap="square"/>
                    <a:lstStyle/>
                    <a:p>
                      <a:pPr>
                        <a:lnSpc>
                          <a:spcPct val="120000"/>
                        </a:lnSpc>
                      </a:pPr>
                      <a:r>
                        <a:rPr sz="950" b="1">
                          <a:solidFill>
                            <a:srgbClr val="1B1614"/>
                          </a:solidFill>
                          <a:latin typeface="Segoe UI"/>
                        </a:rPr>
                        <a:t>First 72 hours</a:t>
                      </a:r>
                    </a:p>
                  </a:txBody>
                  <a:tcPr marL="118872" marR="118872" marT="64008" marB="64008" anchor="ctr">
                    <a:solidFill>
                      <a:srgbClr val="F7F2EA"/>
                    </a:solidFill>
                  </a:tcPr>
                </a:tc>
                <a:tc>
                  <a:txBody>
                    <a:bodyPr wrap="square"/>
                    <a:lstStyle/>
                    <a:p>
                      <a:pPr>
                        <a:lnSpc>
                          <a:spcPct val="120000"/>
                        </a:lnSpc>
                      </a:pPr>
                      <a:r>
                        <a:rPr sz="950" b="0">
                          <a:solidFill>
                            <a:srgbClr val="5A504A"/>
                          </a:solidFill>
                          <a:latin typeface="Segoe UI"/>
                        </a:rPr>
                        <a:t>Prompted journaling, mentor pairing, one-tap concern escalation to a human</a:t>
                      </a:r>
                    </a:p>
                  </a:txBody>
                  <a:tcPr marL="118872" marR="118872" marT="64008" marB="64008" anchor="ctr">
                    <a:solidFill>
                      <a:srgbClr val="F7F2EA"/>
                    </a:solidFill>
                  </a:tcPr>
                </a:tc>
                <a:tc>
                  <a:txBody>
                    <a:bodyPr wrap="square"/>
                    <a:lstStyle/>
                    <a:p>
                      <a:pPr>
                        <a:lnSpc>
                          <a:spcPct val="120000"/>
                        </a:lnSpc>
                      </a:pPr>
                      <a:r>
                        <a:rPr sz="950" b="0">
                          <a:solidFill>
                            <a:srgbClr val="5A504A"/>
                          </a:solidFill>
                          <a:latin typeface="Segoe UI"/>
                        </a:rPr>
                        <a:t>The beginner is never alone at 9pm. This is the retention lever.</a:t>
                      </a:r>
                    </a:p>
                  </a:txBody>
                  <a:tcPr marL="118872" marR="118872" marT="64008" marB="64008" anchor="ctr">
                    <a:solidFill>
                      <a:srgbClr val="F7F2EA"/>
                    </a:solidFill>
                  </a:tcPr>
                </a:tc>
              </a:tr>
              <a:tr h="512064">
                <a:tc>
                  <a:txBody>
                    <a:bodyPr wrap="square"/>
                    <a:lstStyle/>
                    <a:p>
                      <a:pPr>
                        <a:lnSpc>
                          <a:spcPct val="120000"/>
                        </a:lnSpc>
                      </a:pPr>
                      <a:r>
                        <a:rPr sz="950" b="1">
                          <a:solidFill>
                            <a:srgbClr val="1B1614"/>
                          </a:solidFill>
                          <a:latin typeface="Segoe UI"/>
                        </a:rPr>
                        <a:t>Ongoing care</a:t>
                      </a:r>
                    </a:p>
                  </a:txBody>
                  <a:tcPr marL="118872" marR="118872" marT="64008" marB="64008" anchor="ctr">
                    <a:solidFill>
                      <a:srgbClr val="FFFFFF"/>
                    </a:solidFill>
                  </a:tcPr>
                </a:tc>
                <a:tc>
                  <a:txBody>
                    <a:bodyPr wrap="square"/>
                    <a:lstStyle/>
                    <a:p>
                      <a:pPr>
                        <a:lnSpc>
                          <a:spcPct val="120000"/>
                        </a:lnSpc>
                      </a:pPr>
                      <a:r>
                        <a:rPr sz="950" b="0">
                          <a:solidFill>
                            <a:srgbClr val="5A504A"/>
                          </a:solidFill>
                          <a:latin typeface="Segoe UI"/>
                        </a:rPr>
                        <a:t>AI-2 and AI-3 turn a 20-second voice note into structured records</a:t>
                      </a:r>
                    </a:p>
                  </a:txBody>
                  <a:tcPr marL="118872" marR="118872" marT="64008" marB="64008" anchor="ctr">
                    <a:solidFill>
                      <a:srgbClr val="FFFFFF"/>
                    </a:solidFill>
                  </a:tcPr>
                </a:tc>
                <a:tc>
                  <a:txBody>
                    <a:bodyPr wrap="square"/>
                    <a:lstStyle/>
                    <a:p>
                      <a:pPr>
                        <a:lnSpc>
                          <a:spcPct val="120000"/>
                        </a:lnSpc>
                      </a:pPr>
                      <a:r>
                        <a:rPr sz="950" b="0">
                          <a:solidFill>
                            <a:srgbClr val="5A504A"/>
                          </a:solidFill>
                          <a:latin typeface="Segoe UI"/>
                        </a:rPr>
                        <a:t>Check-ins complete in under 30 seconds. Journaling actually happens.</a:t>
                      </a:r>
                    </a:p>
                  </a:txBody>
                  <a:tcPr marL="118872" marR="118872" marT="64008" marB="64008" anchor="ctr">
                    <a:solidFill>
                      <a:srgbClr val="FFFFFF"/>
                    </a:solidFill>
                  </a:tcPr>
                </a:tc>
              </a:tr>
              <a:tr h="512064">
                <a:tc>
                  <a:txBody>
                    <a:bodyPr wrap="square"/>
                    <a:lstStyle/>
                    <a:p>
                      <a:pPr>
                        <a:lnSpc>
                          <a:spcPct val="120000"/>
                        </a:lnSpc>
                      </a:pPr>
                      <a:r>
                        <a:rPr sz="950" b="1">
                          <a:solidFill>
                            <a:srgbClr val="1B1614"/>
                          </a:solidFill>
                          <a:latin typeface="Segoe UI"/>
                        </a:rPr>
                        <a:t>Retention</a:t>
                      </a:r>
                    </a:p>
                  </a:txBody>
                  <a:tcPr marL="118872" marR="118872" marT="64008" marB="64008" anchor="ctr">
                    <a:solidFill>
                      <a:srgbClr val="F7F2EA"/>
                    </a:solidFill>
                  </a:tcPr>
                </a:tc>
                <a:tc>
                  <a:txBody>
                    <a:bodyPr wrap="square"/>
                    <a:lstStyle/>
                    <a:p>
                      <a:pPr>
                        <a:lnSpc>
                          <a:spcPct val="120000"/>
                        </a:lnSpc>
                      </a:pPr>
                      <a:r>
                        <a:rPr sz="950" b="0">
                          <a:solidFill>
                            <a:srgbClr val="5A504A"/>
                          </a:solidFill>
                          <a:latin typeface="Segoe UI"/>
                        </a:rPr>
                        <a:t>Quiet-by-default policy; missed check-ins escalate to a coordinator, never to the foster</a:t>
                      </a:r>
                    </a:p>
                  </a:txBody>
                  <a:tcPr marL="118872" marR="118872" marT="64008" marB="64008" anchor="ctr">
                    <a:solidFill>
                      <a:srgbClr val="F7F2EA"/>
                    </a:solidFill>
                  </a:tcPr>
                </a:tc>
                <a:tc>
                  <a:txBody>
                    <a:bodyPr wrap="square"/>
                    <a:lstStyle/>
                    <a:p>
                      <a:pPr>
                        <a:lnSpc>
                          <a:spcPct val="120000"/>
                        </a:lnSpc>
                      </a:pPr>
                      <a:r>
                        <a:rPr sz="950" b="0">
                          <a:solidFill>
                            <a:srgbClr val="5A504A"/>
                          </a:solidFill>
                          <a:latin typeface="Segoe UI"/>
                        </a:rPr>
                        <a:t>Experienced fosters stop churning from notification fatigue.</a:t>
                      </a:r>
                    </a:p>
                  </a:txBody>
                  <a:tcPr marL="118872" marR="118872" marT="64008" marB="64008" anchor="ctr">
                    <a:solidFill>
                      <a:srgbClr val="F7F2EA"/>
                    </a:solidFill>
                  </a:tcPr>
                </a:tc>
              </a:tr>
              <a:tr h="512064">
                <a:tc>
                  <a:txBody>
                    <a:bodyPr wrap="square"/>
                    <a:lstStyle/>
                    <a:p>
                      <a:pPr>
                        <a:lnSpc>
                          <a:spcPct val="120000"/>
                        </a:lnSpc>
                      </a:pPr>
                      <a:r>
                        <a:rPr sz="950" b="1">
                          <a:solidFill>
                            <a:srgbClr val="1B1614"/>
                          </a:solidFill>
                          <a:latin typeface="Segoe UI"/>
                        </a:rPr>
                        <a:t>Adoption</a:t>
                      </a:r>
                    </a:p>
                  </a:txBody>
                  <a:tcPr marL="118872" marR="118872" marT="64008" marB="64008" anchor="ctr">
                    <a:solidFill>
                      <a:srgbClr val="FFFFFF"/>
                    </a:solidFill>
                  </a:tcPr>
                </a:tc>
                <a:tc>
                  <a:txBody>
                    <a:bodyPr wrap="square"/>
                    <a:lstStyle/>
                    <a:p>
                      <a:pPr>
                        <a:lnSpc>
                          <a:spcPct val="120000"/>
                        </a:lnSpc>
                      </a:pPr>
                      <a:r>
                        <a:rPr sz="950" b="0">
                          <a:solidFill>
                            <a:srgbClr val="5A504A"/>
                          </a:solidFill>
                          <a:latin typeface="Segoe UI"/>
                        </a:rPr>
                        <a:t>AI-1 dynamic profile and AI-11 adopter narrative drawn from real observations</a:t>
                      </a:r>
                    </a:p>
                  </a:txBody>
                  <a:tcPr marL="118872" marR="118872" marT="64008" marB="64008" anchor="ctr">
                    <a:solidFill>
                      <a:srgbClr val="FFFFFF"/>
                    </a:solidFill>
                  </a:tcPr>
                </a:tc>
                <a:tc>
                  <a:txBody>
                    <a:bodyPr wrap="square"/>
                    <a:lstStyle/>
                    <a:p>
                      <a:pPr>
                        <a:lnSpc>
                          <a:spcPct val="120000"/>
                        </a:lnSpc>
                      </a:pPr>
                      <a:r>
                        <a:rPr sz="950" b="0">
                          <a:solidFill>
                            <a:srgbClr val="5A504A"/>
                          </a:solidFill>
                          <a:latin typeface="Segoe UI"/>
                        </a:rPr>
                        <a:t>Shorter length of stay. The kennel and the foster home both free up sooner.</a:t>
                      </a:r>
                    </a:p>
                  </a:txBody>
                  <a:tcPr marL="118872" marR="118872" marT="64008" marB="64008" anchor="ctr">
                    <a:solidFill>
                      <a:srgbClr val="FFFFFF"/>
                    </a:solidFill>
                  </a:tcPr>
                </a:tc>
              </a:tr>
            </a:tbl>
          </a:graphicData>
        </a:graphic>
      </p:graphicFrame>
      <p:sp>
        <p:nvSpPr>
          <p:cNvPr id="6" name="TextBox 5"/>
          <p:cNvSpPr txBox="1"/>
          <p:nvPr/>
        </p:nvSpPr>
        <p:spPr>
          <a:xfrm>
            <a:off x="777240" y="6345936"/>
            <a:ext cx="7315200" cy="274320"/>
          </a:xfrm>
          <a:prstGeom prst="rect">
            <a:avLst/>
          </a:prstGeom>
          <a:noFill/>
        </p:spPr>
        <p:txBody>
          <a:bodyPr wrap="square" anchor="t" lIns="0" rIns="0" tIns="0" bIns="0">
            <a:spAutoFit/>
          </a:bodyPr>
          <a:lstStyle/>
          <a:p>
            <a:pPr algn="l">
              <a:lnSpc>
                <a:spcPct val="100000"/>
              </a:lnSpc>
            </a:pPr>
            <a:r>
              <a:rPr sz="900" b="0" i="0">
                <a:solidFill>
                  <a:srgbClr val="7C6F66"/>
                </a:solidFill>
                <a:latin typeface="Segoe UI"/>
              </a:rPr>
              <a:t>The Foster Pack  ·  Confidential</a:t>
            </a:r>
          </a:p>
        </p:txBody>
      </p:sp>
      <p:sp>
        <p:nvSpPr>
          <p:cNvPr id="7" name="TextBox 6"/>
          <p:cNvSpPr txBox="1"/>
          <p:nvPr/>
        </p:nvSpPr>
        <p:spPr>
          <a:xfrm>
            <a:off x="10515600" y="6345936"/>
            <a:ext cx="896112" cy="274320"/>
          </a:xfrm>
          <a:prstGeom prst="rect">
            <a:avLst/>
          </a:prstGeom>
          <a:noFill/>
        </p:spPr>
        <p:txBody>
          <a:bodyPr wrap="square" anchor="t" lIns="0" rIns="0" tIns="0" bIns="0">
            <a:spAutoFit/>
          </a:bodyPr>
          <a:lstStyle/>
          <a:p>
            <a:pPr algn="r">
              <a:lnSpc>
                <a:spcPct val="100000"/>
              </a:lnSpc>
            </a:pPr>
            <a:r>
              <a:rPr sz="900" b="1" i="0">
                <a:solidFill>
                  <a:srgbClr val="7C6F66"/>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30352"/>
            <a:ext cx="10637215" cy="274320"/>
          </a:xfrm>
          <a:prstGeom prst="rect">
            <a:avLst/>
          </a:prstGeom>
          <a:noFill/>
        </p:spPr>
        <p:txBody>
          <a:bodyPr wrap="square" anchor="t" lIns="0" rIns="0" tIns="0" bIns="0">
            <a:spAutoFit/>
          </a:bodyPr>
          <a:lstStyle/>
          <a:p>
            <a:pPr algn="l">
              <a:lnSpc>
                <a:spcPct val="100000"/>
              </a:lnSpc>
            </a:pPr>
            <a:r>
              <a:rPr sz="1050" b="1" i="0" spc="190">
                <a:solidFill>
                  <a:srgbClr val="0F6E63"/>
                </a:solidFill>
                <a:latin typeface="Segoe UI"/>
              </a:rPr>
              <a:t>IMPROVEMENTS — EFFORT SAVED</a:t>
            </a:r>
          </a:p>
        </p:txBody>
      </p:sp>
      <p:sp>
        <p:nvSpPr>
          <p:cNvPr id="4" name="TextBox 3"/>
          <p:cNvSpPr txBox="1"/>
          <p:nvPr/>
        </p:nvSpPr>
        <p:spPr>
          <a:xfrm>
            <a:off x="777240" y="841248"/>
            <a:ext cx="10637215" cy="1371600"/>
          </a:xfrm>
          <a:prstGeom prst="rect">
            <a:avLst/>
          </a:prstGeom>
          <a:noFill/>
        </p:spPr>
        <p:txBody>
          <a:bodyPr wrap="square" anchor="t" lIns="0" rIns="0" tIns="0" bIns="0">
            <a:spAutoFit/>
          </a:bodyPr>
          <a:lstStyle/>
          <a:p>
            <a:pPr algn="l">
              <a:lnSpc>
                <a:spcPct val="108000"/>
              </a:lnSpc>
            </a:pPr>
            <a:r>
              <a:rPr sz="3400" b="1" i="0">
                <a:solidFill>
                  <a:srgbClr val="1B1614"/>
                </a:solidFill>
                <a:latin typeface="Segoe UI"/>
              </a:rPr>
              <a:t>4.8 coordinator hours back, per fostered dog.</a:t>
            </a:r>
          </a:p>
        </p:txBody>
      </p:sp>
      <p:graphicFrame>
        <p:nvGraphicFramePr>
          <p:cNvPr id="5" name="Table 4"/>
          <p:cNvGraphicFramePr>
            <a:graphicFrameLocks noGrp="1"/>
          </p:cNvGraphicFramePr>
          <p:nvPr/>
        </p:nvGraphicFramePr>
        <p:xfrm>
          <a:off x="777240" y="1883664"/>
          <a:ext cx="10637215" cy="3694176"/>
        </p:xfrm>
        <a:graphic>
          <a:graphicData uri="http://schemas.openxmlformats.org/drawingml/2006/table">
            <a:tbl>
              <a:tblPr firstRow="0" bandRow="0">
                <a:tableStyleId>{2D5ABB26-0587-4C30-8999-92F81FD0307C}</a:tableStyleId>
              </a:tblPr>
              <a:tblGrid>
                <a:gridCol w="3657600"/>
                <a:gridCol w="2606040"/>
                <a:gridCol w="2651760"/>
                <a:gridCol w="1721815"/>
              </a:tblGrid>
              <a:tr h="365760">
                <a:tc>
                  <a:txBody>
                    <a:bodyPr wrap="square"/>
                    <a:lstStyle/>
                    <a:p>
                      <a:pPr>
                        <a:lnSpc>
                          <a:spcPct val="120000"/>
                        </a:lnSpc>
                      </a:pPr>
                      <a:r>
                        <a:rPr sz="980" b="1">
                          <a:solidFill>
                            <a:srgbClr val="FFFFFF"/>
                          </a:solidFill>
                          <a:latin typeface="Segoe UI"/>
                        </a:rPr>
                        <a:t>Coordinator activity</a:t>
                      </a:r>
                    </a:p>
                  </a:txBody>
                  <a:tcPr marL="118872" marR="118872" marT="64008" marB="64008" anchor="ctr">
                    <a:solidFill>
                      <a:srgbClr val="0F6E63"/>
                    </a:solidFill>
                  </a:tcPr>
                </a:tc>
                <a:tc>
                  <a:txBody>
                    <a:bodyPr wrap="square"/>
                    <a:lstStyle/>
                    <a:p>
                      <a:pPr>
                        <a:lnSpc>
                          <a:spcPct val="120000"/>
                        </a:lnSpc>
                      </a:pPr>
                      <a:r>
                        <a:rPr sz="980" b="1">
                          <a:solidFill>
                            <a:srgbClr val="FFFFFF"/>
                          </a:solidFill>
                          <a:latin typeface="Segoe UI"/>
                        </a:rPr>
                        <a:t>Today</a:t>
                      </a:r>
                    </a:p>
                  </a:txBody>
                  <a:tcPr marL="118872" marR="118872" marT="64008" marB="64008" anchor="ctr">
                    <a:solidFill>
                      <a:srgbClr val="0F6E63"/>
                    </a:solidFill>
                  </a:tcPr>
                </a:tc>
                <a:tc>
                  <a:txBody>
                    <a:bodyPr wrap="square"/>
                    <a:lstStyle/>
                    <a:p>
                      <a:pPr>
                        <a:lnSpc>
                          <a:spcPct val="120000"/>
                        </a:lnSpc>
                      </a:pPr>
                      <a:r>
                        <a:rPr sz="980" b="1">
                          <a:solidFill>
                            <a:srgbClr val="FFFFFF"/>
                          </a:solidFill>
                          <a:latin typeface="Segoe UI"/>
                        </a:rPr>
                        <a:t>With The Foster Pack</a:t>
                      </a:r>
                    </a:p>
                  </a:txBody>
                  <a:tcPr marL="118872" marR="118872" marT="64008" marB="64008" anchor="ctr">
                    <a:solidFill>
                      <a:srgbClr val="0F6E63"/>
                    </a:solidFill>
                  </a:tcPr>
                </a:tc>
                <a:tc>
                  <a:txBody>
                    <a:bodyPr wrap="square"/>
                    <a:lstStyle/>
                    <a:p>
                      <a:pPr>
                        <a:lnSpc>
                          <a:spcPct val="120000"/>
                        </a:lnSpc>
                      </a:pPr>
                      <a:r>
                        <a:rPr sz="980" b="1">
                          <a:solidFill>
                            <a:srgbClr val="FFFFFF"/>
                          </a:solidFill>
                          <a:latin typeface="Segoe UI"/>
                        </a:rPr>
                        <a:t>Saved</a:t>
                      </a:r>
                    </a:p>
                  </a:txBody>
                  <a:tcPr marL="118872" marR="118872" marT="64008" marB="64008" anchor="ctr">
                    <a:solidFill>
                      <a:srgbClr val="0F6E63"/>
                    </a:solidFill>
                  </a:tcPr>
                </a:tc>
              </a:tr>
              <a:tr h="475488">
                <a:tc>
                  <a:txBody>
                    <a:bodyPr wrap="square"/>
                    <a:lstStyle/>
                    <a:p>
                      <a:pPr>
                        <a:lnSpc>
                          <a:spcPct val="120000"/>
                        </a:lnSpc>
                      </a:pPr>
                      <a:r>
                        <a:rPr sz="950" b="1">
                          <a:solidFill>
                            <a:srgbClr val="1B1614"/>
                          </a:solidFill>
                          <a:latin typeface="Segoe UI"/>
                        </a:rPr>
                        <a:t>Finding and matching a foster</a:t>
                      </a:r>
                    </a:p>
                  </a:txBody>
                  <a:tcPr marL="118872" marR="118872" marT="64008" marB="64008" anchor="ctr">
                    <a:solidFill>
                      <a:srgbClr val="FFFFFF"/>
                    </a:solidFill>
                  </a:tcPr>
                </a:tc>
                <a:tc>
                  <a:txBody>
                    <a:bodyPr wrap="square"/>
                    <a:lstStyle/>
                    <a:p>
                      <a:pPr>
                        <a:lnSpc>
                          <a:spcPct val="120000"/>
                        </a:lnSpc>
                      </a:pPr>
                      <a:r>
                        <a:rPr sz="950" b="0">
                          <a:solidFill>
                            <a:srgbClr val="5A504A"/>
                          </a:solidFill>
                          <a:latin typeface="Segoe UI"/>
                        </a:rPr>
                        <a:t>45 min of broadcast texts and calls</a:t>
                      </a:r>
                    </a:p>
                  </a:txBody>
                  <a:tcPr marL="118872" marR="118872" marT="64008" marB="64008" anchor="ctr">
                    <a:solidFill>
                      <a:srgbClr val="FFFFFF"/>
                    </a:solidFill>
                  </a:tcPr>
                </a:tc>
                <a:tc>
                  <a:txBody>
                    <a:bodyPr wrap="square"/>
                    <a:lstStyle/>
                    <a:p>
                      <a:pPr>
                        <a:lnSpc>
                          <a:spcPct val="120000"/>
                        </a:lnSpc>
                      </a:pPr>
                      <a:r>
                        <a:rPr sz="950" b="0">
                          <a:solidFill>
                            <a:srgbClr val="5A504A"/>
                          </a:solidFill>
                          <a:latin typeface="Segoe UI"/>
                        </a:rPr>
                        <a:t>6 min — AI shortlist, in-app offer</a:t>
                      </a:r>
                    </a:p>
                  </a:txBody>
                  <a:tcPr marL="118872" marR="118872" marT="64008" marB="64008" anchor="ctr">
                    <a:solidFill>
                      <a:srgbClr val="FFFFFF"/>
                    </a:solidFill>
                  </a:tcPr>
                </a:tc>
                <a:tc>
                  <a:txBody>
                    <a:bodyPr wrap="square"/>
                    <a:lstStyle/>
                    <a:p>
                      <a:pPr>
                        <a:lnSpc>
                          <a:spcPct val="120000"/>
                        </a:lnSpc>
                      </a:pPr>
                      <a:r>
                        <a:rPr sz="950" b="0">
                          <a:solidFill>
                            <a:srgbClr val="5A504A"/>
                          </a:solidFill>
                          <a:latin typeface="Segoe UI"/>
                        </a:rPr>
                        <a:t>39 min</a:t>
                      </a:r>
                    </a:p>
                  </a:txBody>
                  <a:tcPr marL="118872" marR="118872" marT="64008" marB="64008" anchor="ctr">
                    <a:solidFill>
                      <a:srgbClr val="FFFFFF"/>
                    </a:solidFill>
                  </a:tcPr>
                </a:tc>
              </a:tr>
              <a:tr h="475488">
                <a:tc>
                  <a:txBody>
                    <a:bodyPr wrap="square"/>
                    <a:lstStyle/>
                    <a:p>
                      <a:pPr>
                        <a:lnSpc>
                          <a:spcPct val="120000"/>
                        </a:lnSpc>
                      </a:pPr>
                      <a:r>
                        <a:rPr sz="950" b="1">
                          <a:solidFill>
                            <a:srgbClr val="1B1614"/>
                          </a:solidFill>
                          <a:latin typeface="Segoe UI"/>
                        </a:rPr>
                        <a:t>Beginner onboarding and hand-holding</a:t>
                      </a:r>
                    </a:p>
                  </a:txBody>
                  <a:tcPr marL="118872" marR="118872" marT="64008" marB="64008" anchor="ctr">
                    <a:solidFill>
                      <a:srgbClr val="F6F1E9"/>
                    </a:solidFill>
                  </a:tcPr>
                </a:tc>
                <a:tc>
                  <a:txBody>
                    <a:bodyPr wrap="square"/>
                    <a:lstStyle/>
                    <a:p>
                      <a:pPr>
                        <a:lnSpc>
                          <a:spcPct val="120000"/>
                        </a:lnSpc>
                      </a:pPr>
                      <a:r>
                        <a:rPr sz="950" b="0">
                          <a:solidFill>
                            <a:srgbClr val="5A504A"/>
                          </a:solidFill>
                          <a:latin typeface="Segoe UI"/>
                        </a:rPr>
                        <a:t>90 min of calls, emails, PDF packets</a:t>
                      </a:r>
                    </a:p>
                  </a:txBody>
                  <a:tcPr marL="118872" marR="118872" marT="64008" marB="64008" anchor="ctr">
                    <a:solidFill>
                      <a:srgbClr val="F6F1E9"/>
                    </a:solidFill>
                  </a:tcPr>
                </a:tc>
                <a:tc>
                  <a:txBody>
                    <a:bodyPr wrap="square"/>
                    <a:lstStyle/>
                    <a:p>
                      <a:pPr>
                        <a:lnSpc>
                          <a:spcPct val="120000"/>
                        </a:lnSpc>
                      </a:pPr>
                      <a:r>
                        <a:rPr sz="950" b="0">
                          <a:solidFill>
                            <a:srgbClr val="5A504A"/>
                          </a:solidFill>
                          <a:latin typeface="Segoe UI"/>
                        </a:rPr>
                        <a:t>15 min — tiered programme runs itself</a:t>
                      </a:r>
                    </a:p>
                  </a:txBody>
                  <a:tcPr marL="118872" marR="118872" marT="64008" marB="64008" anchor="ctr">
                    <a:solidFill>
                      <a:srgbClr val="F6F1E9"/>
                    </a:solidFill>
                  </a:tcPr>
                </a:tc>
                <a:tc>
                  <a:txBody>
                    <a:bodyPr wrap="square"/>
                    <a:lstStyle/>
                    <a:p>
                      <a:pPr>
                        <a:lnSpc>
                          <a:spcPct val="120000"/>
                        </a:lnSpc>
                      </a:pPr>
                      <a:r>
                        <a:rPr sz="950" b="0">
                          <a:solidFill>
                            <a:srgbClr val="5A504A"/>
                          </a:solidFill>
                          <a:latin typeface="Segoe UI"/>
                        </a:rPr>
                        <a:t>75 min</a:t>
                      </a:r>
                    </a:p>
                  </a:txBody>
                  <a:tcPr marL="118872" marR="118872" marT="64008" marB="64008" anchor="ctr">
                    <a:solidFill>
                      <a:srgbClr val="F6F1E9"/>
                    </a:solidFill>
                  </a:tcPr>
                </a:tc>
              </a:tr>
              <a:tr h="475488">
                <a:tc>
                  <a:txBody>
                    <a:bodyPr wrap="square"/>
                    <a:lstStyle/>
                    <a:p>
                      <a:pPr>
                        <a:lnSpc>
                          <a:spcPct val="120000"/>
                        </a:lnSpc>
                      </a:pPr>
                      <a:r>
                        <a:rPr sz="950" b="1">
                          <a:solidFill>
                            <a:srgbClr val="1B1614"/>
                          </a:solidFill>
                          <a:latin typeface="Segoe UI"/>
                        </a:rPr>
                        <a:t>Chasing weekly check-ins (4-week stay)</a:t>
                      </a:r>
                    </a:p>
                  </a:txBody>
                  <a:tcPr marL="118872" marR="118872" marT="64008" marB="64008" anchor="ctr">
                    <a:solidFill>
                      <a:srgbClr val="FFFFFF"/>
                    </a:solidFill>
                  </a:tcPr>
                </a:tc>
                <a:tc>
                  <a:txBody>
                    <a:bodyPr wrap="square"/>
                    <a:lstStyle/>
                    <a:p>
                      <a:pPr>
                        <a:lnSpc>
                          <a:spcPct val="120000"/>
                        </a:lnSpc>
                      </a:pPr>
                      <a:r>
                        <a:rPr sz="950" b="0">
                          <a:solidFill>
                            <a:srgbClr val="5A504A"/>
                          </a:solidFill>
                          <a:latin typeface="Segoe UI"/>
                        </a:rPr>
                        <a:t>80 min of reminders and follow-up</a:t>
                      </a:r>
                    </a:p>
                  </a:txBody>
                  <a:tcPr marL="118872" marR="118872" marT="64008" marB="64008" anchor="ctr">
                    <a:solidFill>
                      <a:srgbClr val="FFFFFF"/>
                    </a:solidFill>
                  </a:tcPr>
                </a:tc>
                <a:tc>
                  <a:txBody>
                    <a:bodyPr wrap="square"/>
                    <a:lstStyle/>
                    <a:p>
                      <a:pPr>
                        <a:lnSpc>
                          <a:spcPct val="120000"/>
                        </a:lnSpc>
                      </a:pPr>
                      <a:r>
                        <a:rPr sz="950" b="0">
                          <a:solidFill>
                            <a:srgbClr val="5A504A"/>
                          </a:solidFill>
                          <a:latin typeface="Segoe UI"/>
                        </a:rPr>
                        <a:t>15 min — exception-only escalation</a:t>
                      </a:r>
                    </a:p>
                  </a:txBody>
                  <a:tcPr marL="118872" marR="118872" marT="64008" marB="64008" anchor="ctr">
                    <a:solidFill>
                      <a:srgbClr val="FFFFFF"/>
                    </a:solidFill>
                  </a:tcPr>
                </a:tc>
                <a:tc>
                  <a:txBody>
                    <a:bodyPr wrap="square"/>
                    <a:lstStyle/>
                    <a:p>
                      <a:pPr>
                        <a:lnSpc>
                          <a:spcPct val="120000"/>
                        </a:lnSpc>
                      </a:pPr>
                      <a:r>
                        <a:rPr sz="950" b="0">
                          <a:solidFill>
                            <a:srgbClr val="5A504A"/>
                          </a:solidFill>
                          <a:latin typeface="Segoe UI"/>
                        </a:rPr>
                        <a:t>65 min</a:t>
                      </a:r>
                    </a:p>
                  </a:txBody>
                  <a:tcPr marL="118872" marR="118872" marT="64008" marB="64008" anchor="ctr">
                    <a:solidFill>
                      <a:srgbClr val="FFFFFF"/>
                    </a:solidFill>
                  </a:tcPr>
                </a:tc>
              </a:tr>
              <a:tr h="475488">
                <a:tc>
                  <a:txBody>
                    <a:bodyPr wrap="square"/>
                    <a:lstStyle/>
                    <a:p>
                      <a:pPr>
                        <a:lnSpc>
                          <a:spcPct val="120000"/>
                        </a:lnSpc>
                      </a:pPr>
                      <a:r>
                        <a:rPr sz="950" b="1">
                          <a:solidFill>
                            <a:srgbClr val="1B1614"/>
                          </a:solidFill>
                          <a:latin typeface="Segoe UI"/>
                        </a:rPr>
                        <a:t>Filling two support tasks (transport, supplies)</a:t>
                      </a:r>
                    </a:p>
                  </a:txBody>
                  <a:tcPr marL="118872" marR="118872" marT="64008" marB="64008" anchor="ctr">
                    <a:solidFill>
                      <a:srgbClr val="F6F1E9"/>
                    </a:solidFill>
                  </a:tcPr>
                </a:tc>
                <a:tc>
                  <a:txBody>
                    <a:bodyPr wrap="square"/>
                    <a:lstStyle/>
                    <a:p>
                      <a:pPr>
                        <a:lnSpc>
                          <a:spcPct val="120000"/>
                        </a:lnSpc>
                      </a:pPr>
                      <a:r>
                        <a:rPr sz="950" b="0">
                          <a:solidFill>
                            <a:srgbClr val="5A504A"/>
                          </a:solidFill>
                          <a:latin typeface="Segoe UI"/>
                        </a:rPr>
                        <a:t>70 min of group-text brokerage</a:t>
                      </a:r>
                    </a:p>
                  </a:txBody>
                  <a:tcPr marL="118872" marR="118872" marT="64008" marB="64008" anchor="ctr">
                    <a:solidFill>
                      <a:srgbClr val="F6F1E9"/>
                    </a:solidFill>
                  </a:tcPr>
                </a:tc>
                <a:tc>
                  <a:txBody>
                    <a:bodyPr wrap="square"/>
                    <a:lstStyle/>
                    <a:p>
                      <a:pPr>
                        <a:lnSpc>
                          <a:spcPct val="120000"/>
                        </a:lnSpc>
                      </a:pPr>
                      <a:r>
                        <a:rPr sz="950" b="0">
                          <a:solidFill>
                            <a:srgbClr val="5A504A"/>
                          </a:solidFill>
                          <a:latin typeface="Segoe UI"/>
                        </a:rPr>
                        <a:t>6 min — volunteers self-serve the marketplace</a:t>
                      </a:r>
                    </a:p>
                  </a:txBody>
                  <a:tcPr marL="118872" marR="118872" marT="64008" marB="64008" anchor="ctr">
                    <a:solidFill>
                      <a:srgbClr val="F6F1E9"/>
                    </a:solidFill>
                  </a:tcPr>
                </a:tc>
                <a:tc>
                  <a:txBody>
                    <a:bodyPr wrap="square"/>
                    <a:lstStyle/>
                    <a:p>
                      <a:pPr>
                        <a:lnSpc>
                          <a:spcPct val="120000"/>
                        </a:lnSpc>
                      </a:pPr>
                      <a:r>
                        <a:rPr sz="950" b="0">
                          <a:solidFill>
                            <a:srgbClr val="5A504A"/>
                          </a:solidFill>
                          <a:latin typeface="Segoe UI"/>
                        </a:rPr>
                        <a:t>64 min</a:t>
                      </a:r>
                    </a:p>
                  </a:txBody>
                  <a:tcPr marL="118872" marR="118872" marT="64008" marB="64008" anchor="ctr">
                    <a:solidFill>
                      <a:srgbClr val="F6F1E9"/>
                    </a:solidFill>
                  </a:tcPr>
                </a:tc>
              </a:tr>
              <a:tr h="475488">
                <a:tc>
                  <a:txBody>
                    <a:bodyPr wrap="square"/>
                    <a:lstStyle/>
                    <a:p>
                      <a:pPr>
                        <a:lnSpc>
                          <a:spcPct val="120000"/>
                        </a:lnSpc>
                      </a:pPr>
                      <a:r>
                        <a:rPr sz="950" b="1">
                          <a:solidFill>
                            <a:srgbClr val="1B1614"/>
                          </a:solidFill>
                          <a:latin typeface="Segoe UI"/>
                        </a:rPr>
                        <a:t>Building the adoption profile</a:t>
                      </a:r>
                    </a:p>
                  </a:txBody>
                  <a:tcPr marL="118872" marR="118872" marT="64008" marB="64008" anchor="ctr">
                    <a:solidFill>
                      <a:srgbClr val="FFFFFF"/>
                    </a:solidFill>
                  </a:tcPr>
                </a:tc>
                <a:tc>
                  <a:txBody>
                    <a:bodyPr wrap="square"/>
                    <a:lstStyle/>
                    <a:p>
                      <a:pPr>
                        <a:lnSpc>
                          <a:spcPct val="120000"/>
                        </a:lnSpc>
                      </a:pPr>
                      <a:r>
                        <a:rPr sz="950" b="0">
                          <a:solidFill>
                            <a:srgbClr val="5A504A"/>
                          </a:solidFill>
                          <a:latin typeface="Segoe UI"/>
                        </a:rPr>
                        <a:t>40 min writing from memory</a:t>
                      </a:r>
                    </a:p>
                  </a:txBody>
                  <a:tcPr marL="118872" marR="118872" marT="64008" marB="64008" anchor="ctr">
                    <a:solidFill>
                      <a:srgbClr val="FFFFFF"/>
                    </a:solidFill>
                  </a:tcPr>
                </a:tc>
                <a:tc>
                  <a:txBody>
                    <a:bodyPr wrap="square"/>
                    <a:lstStyle/>
                    <a:p>
                      <a:pPr>
                        <a:lnSpc>
                          <a:spcPct val="120000"/>
                        </a:lnSpc>
                      </a:pPr>
                      <a:r>
                        <a:rPr sz="950" b="0">
                          <a:solidFill>
                            <a:srgbClr val="5A504A"/>
                          </a:solidFill>
                          <a:latin typeface="Segoe UI"/>
                        </a:rPr>
                        <a:t>8 min — AI draft from the journal</a:t>
                      </a:r>
                    </a:p>
                  </a:txBody>
                  <a:tcPr marL="118872" marR="118872" marT="64008" marB="64008" anchor="ctr">
                    <a:solidFill>
                      <a:srgbClr val="FFFFFF"/>
                    </a:solidFill>
                  </a:tcPr>
                </a:tc>
                <a:tc>
                  <a:txBody>
                    <a:bodyPr wrap="square"/>
                    <a:lstStyle/>
                    <a:p>
                      <a:pPr>
                        <a:lnSpc>
                          <a:spcPct val="120000"/>
                        </a:lnSpc>
                      </a:pPr>
                      <a:r>
                        <a:rPr sz="950" b="0">
                          <a:solidFill>
                            <a:srgbClr val="5A504A"/>
                          </a:solidFill>
                          <a:latin typeface="Segoe UI"/>
                        </a:rPr>
                        <a:t>32 min</a:t>
                      </a:r>
                    </a:p>
                  </a:txBody>
                  <a:tcPr marL="118872" marR="118872" marT="64008" marB="64008" anchor="ctr">
                    <a:solidFill>
                      <a:srgbClr val="FFFFFF"/>
                    </a:solidFill>
                  </a:tcPr>
                </a:tc>
              </a:tr>
              <a:tr h="475488">
                <a:tc>
                  <a:txBody>
                    <a:bodyPr wrap="square"/>
                    <a:lstStyle/>
                    <a:p>
                      <a:pPr>
                        <a:lnSpc>
                          <a:spcPct val="120000"/>
                        </a:lnSpc>
                      </a:pPr>
                      <a:r>
                        <a:rPr sz="950" b="1">
                          <a:solidFill>
                            <a:srgbClr val="1B1614"/>
                          </a:solidFill>
                          <a:latin typeface="Segoe UI"/>
                        </a:rPr>
                        <a:t>Reporting share per dog (SAC, board)</a:t>
                      </a:r>
                    </a:p>
                  </a:txBody>
                  <a:tcPr marL="118872" marR="118872" marT="64008" marB="64008" anchor="ctr">
                    <a:solidFill>
                      <a:srgbClr val="F6F1E9"/>
                    </a:solidFill>
                  </a:tcPr>
                </a:tc>
                <a:tc>
                  <a:txBody>
                    <a:bodyPr wrap="square"/>
                    <a:lstStyle/>
                    <a:p>
                      <a:pPr>
                        <a:lnSpc>
                          <a:spcPct val="120000"/>
                        </a:lnSpc>
                      </a:pPr>
                      <a:r>
                        <a:rPr sz="950" b="0">
                          <a:solidFill>
                            <a:srgbClr val="5A504A"/>
                          </a:solidFill>
                          <a:latin typeface="Segoe UI"/>
                        </a:rPr>
                        <a:t>12 min of manual assembly</a:t>
                      </a:r>
                    </a:p>
                  </a:txBody>
                  <a:tcPr marL="118872" marR="118872" marT="64008" marB="64008" anchor="ctr">
                    <a:solidFill>
                      <a:srgbClr val="F6F1E9"/>
                    </a:solidFill>
                  </a:tcPr>
                </a:tc>
                <a:tc>
                  <a:txBody>
                    <a:bodyPr wrap="square"/>
                    <a:lstStyle/>
                    <a:p>
                      <a:pPr>
                        <a:lnSpc>
                          <a:spcPct val="120000"/>
                        </a:lnSpc>
                      </a:pPr>
                      <a:r>
                        <a:rPr sz="950" b="0">
                          <a:solidFill>
                            <a:srgbClr val="5A504A"/>
                          </a:solidFill>
                          <a:latin typeface="Segoe UI"/>
                        </a:rPr>
                        <a:t>1 min — auto-generated</a:t>
                      </a:r>
                    </a:p>
                  </a:txBody>
                  <a:tcPr marL="118872" marR="118872" marT="64008" marB="64008" anchor="ctr">
                    <a:solidFill>
                      <a:srgbClr val="F6F1E9"/>
                    </a:solidFill>
                  </a:tcPr>
                </a:tc>
                <a:tc>
                  <a:txBody>
                    <a:bodyPr wrap="square"/>
                    <a:lstStyle/>
                    <a:p>
                      <a:pPr>
                        <a:lnSpc>
                          <a:spcPct val="120000"/>
                        </a:lnSpc>
                      </a:pPr>
                      <a:r>
                        <a:rPr sz="950" b="0">
                          <a:solidFill>
                            <a:srgbClr val="5A504A"/>
                          </a:solidFill>
                          <a:latin typeface="Segoe UI"/>
                        </a:rPr>
                        <a:t>11 min</a:t>
                      </a:r>
                    </a:p>
                  </a:txBody>
                  <a:tcPr marL="118872" marR="118872" marT="64008" marB="64008" anchor="ctr">
                    <a:solidFill>
                      <a:srgbClr val="F6F1E9"/>
                    </a:solidFill>
                  </a:tcPr>
                </a:tc>
              </a:tr>
              <a:tr h="475488">
                <a:tc>
                  <a:txBody>
                    <a:bodyPr wrap="square"/>
                    <a:lstStyle/>
                    <a:p>
                      <a:pPr>
                        <a:lnSpc>
                          <a:spcPct val="120000"/>
                        </a:lnSpc>
                      </a:pPr>
                      <a:r>
                        <a:rPr sz="950" b="1">
                          <a:solidFill>
                            <a:srgbClr val="FFFFFF"/>
                          </a:solidFill>
                          <a:latin typeface="Segoe UI"/>
                        </a:rPr>
                        <a:t>Total per fostered dog</a:t>
                      </a:r>
                    </a:p>
                  </a:txBody>
                  <a:tcPr marL="118872" marR="118872" marT="64008" marB="64008" anchor="ctr">
                    <a:solidFill>
                      <a:srgbClr val="0F6E63"/>
                    </a:solidFill>
                  </a:tcPr>
                </a:tc>
                <a:tc>
                  <a:txBody>
                    <a:bodyPr wrap="square"/>
                    <a:lstStyle/>
                    <a:p>
                      <a:pPr>
                        <a:lnSpc>
                          <a:spcPct val="120000"/>
                        </a:lnSpc>
                      </a:pPr>
                      <a:r>
                        <a:rPr sz="950" b="1">
                          <a:solidFill>
                            <a:srgbClr val="FFFFFF"/>
                          </a:solidFill>
                          <a:latin typeface="Segoe UI"/>
                        </a:rPr>
                        <a:t>5.6 hours</a:t>
                      </a:r>
                    </a:p>
                  </a:txBody>
                  <a:tcPr marL="118872" marR="118872" marT="64008" marB="64008" anchor="ctr">
                    <a:solidFill>
                      <a:srgbClr val="0F6E63"/>
                    </a:solidFill>
                  </a:tcPr>
                </a:tc>
                <a:tc>
                  <a:txBody>
                    <a:bodyPr wrap="square"/>
                    <a:lstStyle/>
                    <a:p>
                      <a:pPr>
                        <a:lnSpc>
                          <a:spcPct val="120000"/>
                        </a:lnSpc>
                      </a:pPr>
                      <a:r>
                        <a:rPr sz="950" b="1">
                          <a:solidFill>
                            <a:srgbClr val="FFFFFF"/>
                          </a:solidFill>
                          <a:latin typeface="Segoe UI"/>
                        </a:rPr>
                        <a:t>0.85 hours</a:t>
                      </a:r>
                    </a:p>
                  </a:txBody>
                  <a:tcPr marL="118872" marR="118872" marT="64008" marB="64008" anchor="ctr">
                    <a:solidFill>
                      <a:srgbClr val="0F6E63"/>
                    </a:solidFill>
                  </a:tcPr>
                </a:tc>
                <a:tc>
                  <a:txBody>
                    <a:bodyPr wrap="square"/>
                    <a:lstStyle/>
                    <a:p>
                      <a:pPr>
                        <a:lnSpc>
                          <a:spcPct val="120000"/>
                        </a:lnSpc>
                      </a:pPr>
                      <a:r>
                        <a:rPr sz="950" b="1">
                          <a:solidFill>
                            <a:srgbClr val="FFFFFF"/>
                          </a:solidFill>
                          <a:latin typeface="Segoe UI"/>
                        </a:rPr>
                        <a:t>−85%</a:t>
                      </a:r>
                    </a:p>
                  </a:txBody>
                  <a:tcPr marL="118872" marR="118872" marT="64008" marB="64008" anchor="ctr">
                    <a:solidFill>
                      <a:srgbClr val="0F6E63"/>
                    </a:solidFill>
                  </a:tcPr>
                </a:tc>
              </a:tr>
            </a:tbl>
          </a:graphicData>
        </a:graphic>
      </p:graphicFrame>
      <p:sp>
        <p:nvSpPr>
          <p:cNvPr id="6" name="TextBox 5"/>
          <p:cNvSpPr txBox="1"/>
          <p:nvPr/>
        </p:nvSpPr>
        <p:spPr>
          <a:xfrm>
            <a:off x="777240" y="5943600"/>
            <a:ext cx="10637215" cy="274320"/>
          </a:xfrm>
          <a:prstGeom prst="rect">
            <a:avLst/>
          </a:prstGeom>
          <a:noFill/>
        </p:spPr>
        <p:txBody>
          <a:bodyPr wrap="square" anchor="t" lIns="0" rIns="0" tIns="0" bIns="0">
            <a:spAutoFit/>
          </a:bodyPr>
          <a:lstStyle/>
          <a:p>
            <a:pPr algn="l">
              <a:lnSpc>
                <a:spcPct val="120000"/>
              </a:lnSpc>
            </a:pPr>
            <a:r>
              <a:rPr sz="900" b="0" i="1">
                <a:solidFill>
                  <a:srgbClr val="7C6F66"/>
                </a:solidFill>
                <a:latin typeface="Segoe UI"/>
              </a:rPr>
              <a:t>Modelled on a four-week average foster stay at SFSPCA scale. Baselines are captured before launch (PRD §4); the committed year-one target is a conservative ≥40% reduction in coordinator hours per fostered dog.</a:t>
            </a:r>
          </a:p>
        </p:txBody>
      </p:sp>
      <p:sp>
        <p:nvSpPr>
          <p:cNvPr id="7" name="TextBox 6"/>
          <p:cNvSpPr txBox="1"/>
          <p:nvPr/>
        </p:nvSpPr>
        <p:spPr>
          <a:xfrm>
            <a:off x="777240" y="6345936"/>
            <a:ext cx="7315200" cy="274320"/>
          </a:xfrm>
          <a:prstGeom prst="rect">
            <a:avLst/>
          </a:prstGeom>
          <a:noFill/>
        </p:spPr>
        <p:txBody>
          <a:bodyPr wrap="square" anchor="t" lIns="0" rIns="0" tIns="0" bIns="0">
            <a:spAutoFit/>
          </a:bodyPr>
          <a:lstStyle/>
          <a:p>
            <a:pPr algn="l">
              <a:lnSpc>
                <a:spcPct val="100000"/>
              </a:lnSpc>
            </a:pPr>
            <a:r>
              <a:rPr sz="900" b="0" i="0">
                <a:solidFill>
                  <a:srgbClr val="7C6F66"/>
                </a:solidFill>
                <a:latin typeface="Segoe UI"/>
              </a:rPr>
              <a:t>The Foster Pack  ·  Confidential</a:t>
            </a:r>
          </a:p>
        </p:txBody>
      </p:sp>
      <p:sp>
        <p:nvSpPr>
          <p:cNvPr id="8" name="TextBox 7"/>
          <p:cNvSpPr txBox="1"/>
          <p:nvPr/>
        </p:nvSpPr>
        <p:spPr>
          <a:xfrm>
            <a:off x="10515600" y="6345936"/>
            <a:ext cx="896112" cy="274320"/>
          </a:xfrm>
          <a:prstGeom prst="rect">
            <a:avLst/>
          </a:prstGeom>
          <a:noFill/>
        </p:spPr>
        <p:txBody>
          <a:bodyPr wrap="square" anchor="t" lIns="0" rIns="0" tIns="0" bIns="0">
            <a:spAutoFit/>
          </a:bodyPr>
          <a:lstStyle/>
          <a:p>
            <a:pPr algn="r">
              <a:lnSpc>
                <a:spcPct val="100000"/>
              </a:lnSpc>
            </a:pPr>
            <a:r>
              <a:rPr sz="900" b="1" i="0">
                <a:solidFill>
                  <a:srgbClr val="7C6F66"/>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A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30352"/>
            <a:ext cx="10637215" cy="274320"/>
          </a:xfrm>
          <a:prstGeom prst="rect">
            <a:avLst/>
          </a:prstGeom>
          <a:noFill/>
        </p:spPr>
        <p:txBody>
          <a:bodyPr wrap="square" anchor="t" lIns="0" rIns="0" tIns="0" bIns="0">
            <a:spAutoFit/>
          </a:bodyPr>
          <a:lstStyle/>
          <a:p>
            <a:pPr algn="l">
              <a:lnSpc>
                <a:spcPct val="100000"/>
              </a:lnSpc>
            </a:pPr>
            <a:r>
              <a:rPr sz="1050" b="1" i="0" spc="190">
                <a:solidFill>
                  <a:srgbClr val="F0A544"/>
                </a:solidFill>
                <a:latin typeface="Segoe UI"/>
              </a:rPr>
              <a:t>WHAT THAT BUYS</a:t>
            </a:r>
          </a:p>
        </p:txBody>
      </p:sp>
      <p:sp>
        <p:nvSpPr>
          <p:cNvPr id="4" name="TextBox 3"/>
          <p:cNvSpPr txBox="1"/>
          <p:nvPr/>
        </p:nvSpPr>
        <p:spPr>
          <a:xfrm>
            <a:off x="777240" y="841248"/>
            <a:ext cx="10637215" cy="1371600"/>
          </a:xfrm>
          <a:prstGeom prst="rect">
            <a:avLst/>
          </a:prstGeom>
          <a:noFill/>
        </p:spPr>
        <p:txBody>
          <a:bodyPr wrap="square" anchor="t" lIns="0" rIns="0" tIns="0" bIns="0">
            <a:spAutoFit/>
          </a:bodyPr>
          <a:lstStyle/>
          <a:p>
            <a:pPr algn="l">
              <a:lnSpc>
                <a:spcPct val="108000"/>
              </a:lnSpc>
            </a:pPr>
            <a:r>
              <a:rPr sz="3800" b="1" i="0">
                <a:solidFill>
                  <a:srgbClr val="FFFFFF"/>
                </a:solidFill>
                <a:latin typeface="Segoe UI"/>
              </a:rPr>
              <a:t>1.2 coordinators, handed back.</a:t>
            </a:r>
          </a:p>
        </p:txBody>
      </p:sp>
      <p:sp>
        <p:nvSpPr>
          <p:cNvPr id="5" name="TextBox 4"/>
          <p:cNvSpPr txBox="1"/>
          <p:nvPr/>
        </p:nvSpPr>
        <p:spPr>
          <a:xfrm>
            <a:off x="777240" y="1773936"/>
            <a:ext cx="9692640" cy="914400"/>
          </a:xfrm>
          <a:prstGeom prst="rect">
            <a:avLst/>
          </a:prstGeom>
          <a:noFill/>
        </p:spPr>
        <p:txBody>
          <a:bodyPr wrap="square" anchor="t" lIns="0" rIns="0" tIns="0" bIns="0">
            <a:spAutoFit/>
          </a:bodyPr>
          <a:lstStyle/>
          <a:p>
            <a:pPr algn="l">
              <a:lnSpc>
                <a:spcPct val="142000"/>
              </a:lnSpc>
            </a:pPr>
            <a:r>
              <a:rPr sz="1450" b="0" i="0">
                <a:solidFill>
                  <a:srgbClr val="C9C1BA"/>
                </a:solidFill>
                <a:latin typeface="Segoe UI"/>
              </a:rPr>
              <a:t>For a shelter placing 40 dogs into foster each month — and the coordinator is the actual constraint on how many foster homes a shelter can run.</a:t>
            </a:r>
          </a:p>
        </p:txBody>
      </p:sp>
      <p:sp>
        <p:nvSpPr>
          <p:cNvPr id="6" name="Rounded Rectangle 5"/>
          <p:cNvSpPr/>
          <p:nvPr/>
        </p:nvSpPr>
        <p:spPr>
          <a:xfrm>
            <a:off x="777240" y="2926080"/>
            <a:ext cx="2487168" cy="2011680"/>
          </a:xfrm>
          <a:prstGeom prst="roundRect">
            <a:avLst>
              <a:gd name="adj" fmla="val 5000"/>
            </a:avLst>
          </a:prstGeom>
          <a:solidFill>
            <a:srgbClr val="1A17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3127248"/>
            <a:ext cx="2011680" cy="640080"/>
          </a:xfrm>
          <a:prstGeom prst="rect">
            <a:avLst/>
          </a:prstGeom>
          <a:noFill/>
        </p:spPr>
        <p:txBody>
          <a:bodyPr wrap="square" anchor="t" lIns="0" rIns="0" tIns="0" bIns="0">
            <a:spAutoFit/>
          </a:bodyPr>
          <a:lstStyle/>
          <a:p>
            <a:pPr algn="l">
              <a:lnSpc>
                <a:spcPct val="100000"/>
              </a:lnSpc>
            </a:pPr>
            <a:r>
              <a:rPr sz="3200" b="1" i="0">
                <a:solidFill>
                  <a:srgbClr val="F0A544"/>
                </a:solidFill>
                <a:latin typeface="Segoe UI"/>
              </a:rPr>
              <a:t>4.8 hrs</a:t>
            </a:r>
          </a:p>
        </p:txBody>
      </p:sp>
      <p:sp>
        <p:nvSpPr>
          <p:cNvPr id="8" name="TextBox 7"/>
          <p:cNvSpPr txBox="1"/>
          <p:nvPr/>
        </p:nvSpPr>
        <p:spPr>
          <a:xfrm>
            <a:off x="1014984" y="3712464"/>
            <a:ext cx="2011680" cy="457200"/>
          </a:xfrm>
          <a:prstGeom prst="rect">
            <a:avLst/>
          </a:prstGeom>
          <a:noFill/>
        </p:spPr>
        <p:txBody>
          <a:bodyPr wrap="square" anchor="t" lIns="0" rIns="0" tIns="0" bIns="0">
            <a:spAutoFit/>
          </a:bodyPr>
          <a:lstStyle/>
          <a:p>
            <a:pPr algn="l">
              <a:lnSpc>
                <a:spcPct val="125000"/>
              </a:lnSpc>
            </a:pPr>
            <a:r>
              <a:rPr sz="1100" b="1" i="0">
                <a:solidFill>
                  <a:srgbClr val="FFFFFF"/>
                </a:solidFill>
                <a:latin typeface="Segoe UI"/>
              </a:rPr>
              <a:t>saved per fostered dog</a:t>
            </a:r>
          </a:p>
        </p:txBody>
      </p:sp>
      <p:sp>
        <p:nvSpPr>
          <p:cNvPr id="9" name="TextBox 8"/>
          <p:cNvSpPr txBox="1"/>
          <p:nvPr/>
        </p:nvSpPr>
        <p:spPr>
          <a:xfrm>
            <a:off x="1014984" y="4370832"/>
            <a:ext cx="2011680" cy="457200"/>
          </a:xfrm>
          <a:prstGeom prst="rect">
            <a:avLst/>
          </a:prstGeom>
          <a:noFill/>
        </p:spPr>
        <p:txBody>
          <a:bodyPr wrap="square" anchor="t" lIns="0" rIns="0" tIns="0" bIns="0">
            <a:spAutoFit/>
          </a:bodyPr>
          <a:lstStyle/>
          <a:p>
            <a:pPr algn="l">
              <a:lnSpc>
                <a:spcPct val="128000"/>
              </a:lnSpc>
            </a:pPr>
            <a:r>
              <a:rPr sz="950" b="0" i="0">
                <a:solidFill>
                  <a:srgbClr val="938A82"/>
                </a:solidFill>
                <a:latin typeface="Segoe UI"/>
              </a:rPr>
              <a:t>Across matching, onboarding, check-ins and reporting</a:t>
            </a:r>
          </a:p>
        </p:txBody>
      </p:sp>
      <p:sp>
        <p:nvSpPr>
          <p:cNvPr id="10" name="Rounded Rectangle 9"/>
          <p:cNvSpPr/>
          <p:nvPr/>
        </p:nvSpPr>
        <p:spPr>
          <a:xfrm>
            <a:off x="3483864" y="2926080"/>
            <a:ext cx="2487168" cy="2011680"/>
          </a:xfrm>
          <a:prstGeom prst="roundRect">
            <a:avLst>
              <a:gd name="adj" fmla="val 5000"/>
            </a:avLst>
          </a:prstGeom>
          <a:solidFill>
            <a:srgbClr val="1A17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21608" y="3127248"/>
            <a:ext cx="2011680" cy="640080"/>
          </a:xfrm>
          <a:prstGeom prst="rect">
            <a:avLst/>
          </a:prstGeom>
          <a:noFill/>
        </p:spPr>
        <p:txBody>
          <a:bodyPr wrap="square" anchor="t" lIns="0" rIns="0" tIns="0" bIns="0">
            <a:spAutoFit/>
          </a:bodyPr>
          <a:lstStyle/>
          <a:p>
            <a:pPr algn="l">
              <a:lnSpc>
                <a:spcPct val="100000"/>
              </a:lnSpc>
            </a:pPr>
            <a:r>
              <a:rPr sz="3200" b="1" i="0">
                <a:solidFill>
                  <a:srgbClr val="F0A544"/>
                </a:solidFill>
                <a:latin typeface="Segoe UI"/>
              </a:rPr>
              <a:t>192 hrs</a:t>
            </a:r>
          </a:p>
        </p:txBody>
      </p:sp>
      <p:sp>
        <p:nvSpPr>
          <p:cNvPr id="12" name="TextBox 11"/>
          <p:cNvSpPr txBox="1"/>
          <p:nvPr/>
        </p:nvSpPr>
        <p:spPr>
          <a:xfrm>
            <a:off x="3721608" y="3712464"/>
            <a:ext cx="2011680" cy="457200"/>
          </a:xfrm>
          <a:prstGeom prst="rect">
            <a:avLst/>
          </a:prstGeom>
          <a:noFill/>
        </p:spPr>
        <p:txBody>
          <a:bodyPr wrap="square" anchor="t" lIns="0" rIns="0" tIns="0" bIns="0">
            <a:spAutoFit/>
          </a:bodyPr>
          <a:lstStyle/>
          <a:p>
            <a:pPr algn="l">
              <a:lnSpc>
                <a:spcPct val="125000"/>
              </a:lnSpc>
            </a:pPr>
            <a:r>
              <a:rPr sz="1100" b="1" i="0">
                <a:solidFill>
                  <a:srgbClr val="FFFFFF"/>
                </a:solidFill>
                <a:latin typeface="Segoe UI"/>
              </a:rPr>
              <a:t>returned every month</a:t>
            </a:r>
          </a:p>
        </p:txBody>
      </p:sp>
      <p:sp>
        <p:nvSpPr>
          <p:cNvPr id="13" name="TextBox 12"/>
          <p:cNvSpPr txBox="1"/>
          <p:nvPr/>
        </p:nvSpPr>
        <p:spPr>
          <a:xfrm>
            <a:off x="3721608" y="4370832"/>
            <a:ext cx="2011680" cy="457200"/>
          </a:xfrm>
          <a:prstGeom prst="rect">
            <a:avLst/>
          </a:prstGeom>
          <a:noFill/>
        </p:spPr>
        <p:txBody>
          <a:bodyPr wrap="square" anchor="t" lIns="0" rIns="0" tIns="0" bIns="0">
            <a:spAutoFit/>
          </a:bodyPr>
          <a:lstStyle/>
          <a:p>
            <a:pPr algn="l">
              <a:lnSpc>
                <a:spcPct val="128000"/>
              </a:lnSpc>
            </a:pPr>
            <a:r>
              <a:rPr sz="950" b="0" i="0">
                <a:solidFill>
                  <a:srgbClr val="938A82"/>
                </a:solidFill>
                <a:latin typeface="Segoe UI"/>
              </a:rPr>
              <a:t>At 40 foster placements per month</a:t>
            </a:r>
          </a:p>
        </p:txBody>
      </p:sp>
      <p:sp>
        <p:nvSpPr>
          <p:cNvPr id="14" name="Rounded Rectangle 13"/>
          <p:cNvSpPr/>
          <p:nvPr/>
        </p:nvSpPr>
        <p:spPr>
          <a:xfrm>
            <a:off x="6190488" y="2926080"/>
            <a:ext cx="2487168" cy="2011680"/>
          </a:xfrm>
          <a:prstGeom prst="roundRect">
            <a:avLst>
              <a:gd name="adj" fmla="val 5000"/>
            </a:avLst>
          </a:prstGeom>
          <a:solidFill>
            <a:srgbClr val="1A17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8232" y="3127248"/>
            <a:ext cx="2011680" cy="640080"/>
          </a:xfrm>
          <a:prstGeom prst="rect">
            <a:avLst/>
          </a:prstGeom>
          <a:noFill/>
        </p:spPr>
        <p:txBody>
          <a:bodyPr wrap="square" anchor="t" lIns="0" rIns="0" tIns="0" bIns="0">
            <a:spAutoFit/>
          </a:bodyPr>
          <a:lstStyle/>
          <a:p>
            <a:pPr algn="l">
              <a:lnSpc>
                <a:spcPct val="100000"/>
              </a:lnSpc>
            </a:pPr>
            <a:r>
              <a:rPr sz="3200" b="1" i="0">
                <a:solidFill>
                  <a:srgbClr val="F0A544"/>
                </a:solidFill>
                <a:latin typeface="Segoe UI"/>
              </a:rPr>
              <a:t>2,300 hrs</a:t>
            </a:r>
          </a:p>
        </p:txBody>
      </p:sp>
      <p:sp>
        <p:nvSpPr>
          <p:cNvPr id="16" name="TextBox 15"/>
          <p:cNvSpPr txBox="1"/>
          <p:nvPr/>
        </p:nvSpPr>
        <p:spPr>
          <a:xfrm>
            <a:off x="6428232" y="3712464"/>
            <a:ext cx="2011680" cy="457200"/>
          </a:xfrm>
          <a:prstGeom prst="rect">
            <a:avLst/>
          </a:prstGeom>
          <a:noFill/>
        </p:spPr>
        <p:txBody>
          <a:bodyPr wrap="square" anchor="t" lIns="0" rIns="0" tIns="0" bIns="0">
            <a:spAutoFit/>
          </a:bodyPr>
          <a:lstStyle/>
          <a:p>
            <a:pPr algn="l">
              <a:lnSpc>
                <a:spcPct val="125000"/>
              </a:lnSpc>
            </a:pPr>
            <a:r>
              <a:rPr sz="1100" b="1" i="0">
                <a:solidFill>
                  <a:srgbClr val="FFFFFF"/>
                </a:solidFill>
                <a:latin typeface="Segoe UI"/>
              </a:rPr>
              <a:t>returned every year</a:t>
            </a:r>
          </a:p>
        </p:txBody>
      </p:sp>
      <p:sp>
        <p:nvSpPr>
          <p:cNvPr id="17" name="TextBox 16"/>
          <p:cNvSpPr txBox="1"/>
          <p:nvPr/>
        </p:nvSpPr>
        <p:spPr>
          <a:xfrm>
            <a:off x="6428232" y="4370832"/>
            <a:ext cx="2011680" cy="457200"/>
          </a:xfrm>
          <a:prstGeom prst="rect">
            <a:avLst/>
          </a:prstGeom>
          <a:noFill/>
        </p:spPr>
        <p:txBody>
          <a:bodyPr wrap="square" anchor="t" lIns="0" rIns="0" tIns="0" bIns="0">
            <a:spAutoFit/>
          </a:bodyPr>
          <a:lstStyle/>
          <a:p>
            <a:pPr algn="l">
              <a:lnSpc>
                <a:spcPct val="128000"/>
              </a:lnSpc>
            </a:pPr>
            <a:r>
              <a:rPr sz="950" b="0" i="0">
                <a:solidFill>
                  <a:srgbClr val="938A82"/>
                </a:solidFill>
                <a:latin typeface="Segoe UI"/>
              </a:rPr>
              <a:t>Roughly 1.2 full-time coordinators</a:t>
            </a:r>
          </a:p>
        </p:txBody>
      </p:sp>
      <p:sp>
        <p:nvSpPr>
          <p:cNvPr id="18" name="Rounded Rectangle 17"/>
          <p:cNvSpPr/>
          <p:nvPr/>
        </p:nvSpPr>
        <p:spPr>
          <a:xfrm>
            <a:off x="8897112" y="2926080"/>
            <a:ext cx="2487168" cy="2011680"/>
          </a:xfrm>
          <a:prstGeom prst="roundRect">
            <a:avLst>
              <a:gd name="adj" fmla="val 5000"/>
            </a:avLst>
          </a:prstGeom>
          <a:solidFill>
            <a:srgbClr val="1A17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4856" y="3127248"/>
            <a:ext cx="2011680" cy="640080"/>
          </a:xfrm>
          <a:prstGeom prst="rect">
            <a:avLst/>
          </a:prstGeom>
          <a:noFill/>
        </p:spPr>
        <p:txBody>
          <a:bodyPr wrap="square" anchor="t" lIns="0" rIns="0" tIns="0" bIns="0">
            <a:spAutoFit/>
          </a:bodyPr>
          <a:lstStyle/>
          <a:p>
            <a:pPr algn="l">
              <a:lnSpc>
                <a:spcPct val="100000"/>
              </a:lnSpc>
            </a:pPr>
            <a:r>
              <a:rPr sz="3200" b="1" i="0">
                <a:solidFill>
                  <a:srgbClr val="F0A544"/>
                </a:solidFill>
                <a:latin typeface="Segoe UI"/>
              </a:rPr>
              <a:t>~0 min</a:t>
            </a:r>
          </a:p>
        </p:txBody>
      </p:sp>
      <p:sp>
        <p:nvSpPr>
          <p:cNvPr id="20" name="TextBox 19"/>
          <p:cNvSpPr txBox="1"/>
          <p:nvPr/>
        </p:nvSpPr>
        <p:spPr>
          <a:xfrm>
            <a:off x="9134856" y="3712464"/>
            <a:ext cx="2011680" cy="457200"/>
          </a:xfrm>
          <a:prstGeom prst="rect">
            <a:avLst/>
          </a:prstGeom>
          <a:noFill/>
        </p:spPr>
        <p:txBody>
          <a:bodyPr wrap="square" anchor="t" lIns="0" rIns="0" tIns="0" bIns="0">
            <a:spAutoFit/>
          </a:bodyPr>
          <a:lstStyle/>
          <a:p>
            <a:pPr algn="l">
              <a:lnSpc>
                <a:spcPct val="125000"/>
              </a:lnSpc>
            </a:pPr>
            <a:r>
              <a:rPr sz="1100" b="1" i="0">
                <a:solidFill>
                  <a:srgbClr val="FFFFFF"/>
                </a:solidFill>
                <a:latin typeface="Segoe UI"/>
              </a:rPr>
              <a:t>monthly SAC reporting</a:t>
            </a:r>
          </a:p>
        </p:txBody>
      </p:sp>
      <p:sp>
        <p:nvSpPr>
          <p:cNvPr id="21" name="TextBox 20"/>
          <p:cNvSpPr txBox="1"/>
          <p:nvPr/>
        </p:nvSpPr>
        <p:spPr>
          <a:xfrm>
            <a:off x="9134856" y="4370832"/>
            <a:ext cx="2011680" cy="457200"/>
          </a:xfrm>
          <a:prstGeom prst="rect">
            <a:avLst/>
          </a:prstGeom>
          <a:noFill/>
        </p:spPr>
        <p:txBody>
          <a:bodyPr wrap="square" anchor="t" lIns="0" rIns="0" tIns="0" bIns="0">
            <a:spAutoFit/>
          </a:bodyPr>
          <a:lstStyle/>
          <a:p>
            <a:pPr algn="l">
              <a:lnSpc>
                <a:spcPct val="128000"/>
              </a:lnSpc>
            </a:pPr>
            <a:r>
              <a:rPr sz="950" b="0" i="0">
                <a:solidFill>
                  <a:srgbClr val="938A82"/>
                </a:solidFill>
                <a:latin typeface="Segoe UI"/>
              </a:rPr>
              <a:t>From six hours of manual assembly</a:t>
            </a:r>
          </a:p>
        </p:txBody>
      </p:sp>
      <p:sp>
        <p:nvSpPr>
          <p:cNvPr id="22" name="TextBox 21"/>
          <p:cNvSpPr txBox="1"/>
          <p:nvPr/>
        </p:nvSpPr>
        <p:spPr>
          <a:xfrm>
            <a:off x="777240" y="5230368"/>
            <a:ext cx="10637215" cy="457200"/>
          </a:xfrm>
          <a:prstGeom prst="rect">
            <a:avLst/>
          </a:prstGeom>
          <a:noFill/>
        </p:spPr>
        <p:txBody>
          <a:bodyPr wrap="square" anchor="t" lIns="0" rIns="0" tIns="0" bIns="0">
            <a:spAutoFit/>
          </a:bodyPr>
          <a:lstStyle/>
          <a:p>
            <a:pPr algn="l">
              <a:lnSpc>
                <a:spcPct val="132000"/>
              </a:lnSpc>
            </a:pPr>
            <a:r>
              <a:rPr sz="1400" b="1" i="0">
                <a:solidFill>
                  <a:srgbClr val="FFFFFF"/>
                </a:solidFill>
                <a:latin typeface="Segoe UI"/>
              </a:rPr>
              <a:t>We are not asking shelters to hire. We are giving them a coordinator back — and then using that coordinator to grow the foster base.</a:t>
            </a:r>
          </a:p>
        </p:txBody>
      </p:sp>
      <p:sp>
        <p:nvSpPr>
          <p:cNvPr id="23" name="TextBox 22"/>
          <p:cNvSpPr txBox="1"/>
          <p:nvPr/>
        </p:nvSpPr>
        <p:spPr>
          <a:xfrm>
            <a:off x="777240" y="6345936"/>
            <a:ext cx="7315200" cy="274320"/>
          </a:xfrm>
          <a:prstGeom prst="rect">
            <a:avLst/>
          </a:prstGeom>
          <a:noFill/>
        </p:spPr>
        <p:txBody>
          <a:bodyPr wrap="square" anchor="t" lIns="0" rIns="0" tIns="0" bIns="0">
            <a:spAutoFit/>
          </a:bodyPr>
          <a:lstStyle/>
          <a:p>
            <a:pPr algn="l">
              <a:lnSpc>
                <a:spcPct val="100000"/>
              </a:lnSpc>
            </a:pPr>
            <a:r>
              <a:rPr sz="900" b="0" i="0">
                <a:solidFill>
                  <a:srgbClr val="FFFFFF"/>
                </a:solidFill>
                <a:latin typeface="Segoe UI"/>
              </a:rPr>
              <a:t>The Foster Pack  ·  Confidential</a:t>
            </a:r>
          </a:p>
        </p:txBody>
      </p:sp>
      <p:sp>
        <p:nvSpPr>
          <p:cNvPr id="24" name="TextBox 23"/>
          <p:cNvSpPr txBox="1"/>
          <p:nvPr/>
        </p:nvSpPr>
        <p:spPr>
          <a:xfrm>
            <a:off x="10515600" y="6345936"/>
            <a:ext cx="896112" cy="274320"/>
          </a:xfrm>
          <a:prstGeom prst="rect">
            <a:avLst/>
          </a:prstGeom>
          <a:noFill/>
        </p:spPr>
        <p:txBody>
          <a:bodyPr wrap="square" anchor="t" lIns="0" rIns="0" tIns="0" bIns="0">
            <a:spAutoFit/>
          </a:bodyPr>
          <a:lstStyle/>
          <a:p>
            <a:pPr algn="r">
              <a:lnSpc>
                <a:spcPct val="100000"/>
              </a:lnSpc>
            </a:pPr>
            <a:r>
              <a:rPr sz="900" b="1" i="0">
                <a:solidFill>
                  <a:srgbClr val="FFFFFF"/>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30352"/>
            <a:ext cx="10637215" cy="274320"/>
          </a:xfrm>
          <a:prstGeom prst="rect">
            <a:avLst/>
          </a:prstGeom>
          <a:noFill/>
        </p:spPr>
        <p:txBody>
          <a:bodyPr wrap="square" anchor="t" lIns="0" rIns="0" tIns="0" bIns="0">
            <a:spAutoFit/>
          </a:bodyPr>
          <a:lstStyle/>
          <a:p>
            <a:pPr algn="l">
              <a:lnSpc>
                <a:spcPct val="100000"/>
              </a:lnSpc>
            </a:pPr>
            <a:r>
              <a:rPr sz="1050" b="1" i="0" spc="190">
                <a:solidFill>
                  <a:srgbClr val="0F6E63"/>
                </a:solidFill>
                <a:latin typeface="Segoe UI"/>
              </a:rPr>
              <a:t>KEY METRICS</a:t>
            </a:r>
          </a:p>
        </p:txBody>
      </p:sp>
      <p:sp>
        <p:nvSpPr>
          <p:cNvPr id="4" name="TextBox 3"/>
          <p:cNvSpPr txBox="1"/>
          <p:nvPr/>
        </p:nvSpPr>
        <p:spPr>
          <a:xfrm>
            <a:off x="777240" y="841248"/>
            <a:ext cx="10637215" cy="1371600"/>
          </a:xfrm>
          <a:prstGeom prst="rect">
            <a:avLst/>
          </a:prstGeom>
          <a:noFill/>
        </p:spPr>
        <p:txBody>
          <a:bodyPr wrap="square" anchor="t" lIns="0" rIns="0" tIns="0" bIns="0">
            <a:spAutoFit/>
          </a:bodyPr>
          <a:lstStyle/>
          <a:p>
            <a:pPr algn="l">
              <a:lnSpc>
                <a:spcPct val="108000"/>
              </a:lnSpc>
            </a:pPr>
            <a:r>
              <a:rPr sz="3500" b="1" i="0">
                <a:solidFill>
                  <a:srgbClr val="1B1614"/>
                </a:solidFill>
                <a:latin typeface="Segoe UI"/>
              </a:rPr>
              <a:t>Northstar: Foster Care Nights Delivered.</a:t>
            </a:r>
          </a:p>
        </p:txBody>
      </p:sp>
      <p:sp>
        <p:nvSpPr>
          <p:cNvPr id="5" name="Rounded Rectangle 4"/>
          <p:cNvSpPr/>
          <p:nvPr/>
        </p:nvSpPr>
        <p:spPr>
          <a:xfrm>
            <a:off x="777240" y="1773936"/>
            <a:ext cx="10637215" cy="1060704"/>
          </a:xfrm>
          <a:prstGeom prst="roundRect">
            <a:avLst>
              <a:gd name="adj" fmla="val 5000"/>
            </a:avLst>
          </a:prstGeom>
          <a:solidFill>
            <a:srgbClr val="0F6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6424" y="1956816"/>
            <a:ext cx="9978847" cy="731520"/>
          </a:xfrm>
          <a:prstGeom prst="rect">
            <a:avLst/>
          </a:prstGeom>
          <a:noFill/>
        </p:spPr>
        <p:txBody>
          <a:bodyPr wrap="square" anchor="t" lIns="0" rIns="0" tIns="0" bIns="0">
            <a:spAutoFit/>
          </a:bodyPr>
          <a:lstStyle/>
          <a:p>
            <a:pPr algn="l">
              <a:lnSpc>
                <a:spcPct val="140000"/>
              </a:lnSpc>
            </a:pPr>
            <a:r>
              <a:rPr sz="1300" b="0" i="0">
                <a:solidFill>
                  <a:srgbClr val="FFFFFF"/>
                </a:solidFill>
                <a:latin typeface="Segoe UI"/>
              </a:rPr>
              <a:t>Total nights dogs spend in foster homes per shelter, per month. It only rises when we recruit more fosters, onboard them faster, keep them past placement #1, and free coordinator time to run more placements.</a:t>
            </a:r>
          </a:p>
        </p:txBody>
      </p:sp>
      <p:sp>
        <p:nvSpPr>
          <p:cNvPr id="7" name="TextBox 6"/>
          <p:cNvSpPr txBox="1"/>
          <p:nvPr/>
        </p:nvSpPr>
        <p:spPr>
          <a:xfrm>
            <a:off x="777240" y="3072384"/>
            <a:ext cx="10637215" cy="274320"/>
          </a:xfrm>
          <a:prstGeom prst="rect">
            <a:avLst/>
          </a:prstGeom>
          <a:noFill/>
        </p:spPr>
        <p:txBody>
          <a:bodyPr wrap="square" anchor="t" lIns="0" rIns="0" tIns="0" bIns="0">
            <a:spAutoFit/>
          </a:bodyPr>
          <a:lstStyle/>
          <a:p>
            <a:pPr algn="l">
              <a:lnSpc>
                <a:spcPct val="100000"/>
              </a:lnSpc>
            </a:pPr>
            <a:r>
              <a:rPr sz="950" b="1" i="0" spc="160">
                <a:solidFill>
                  <a:srgbClr val="7C6F66"/>
                </a:solidFill>
                <a:latin typeface="Segoe UI"/>
              </a:rPr>
              <a:t>THE FOUR INPUTS THAT MOVE IT</a:t>
            </a:r>
          </a:p>
        </p:txBody>
      </p:sp>
      <p:sp>
        <p:nvSpPr>
          <p:cNvPr id="8" name="Rounded Rectangle 7"/>
          <p:cNvSpPr/>
          <p:nvPr/>
        </p:nvSpPr>
        <p:spPr>
          <a:xfrm>
            <a:off x="777240" y="3438144"/>
            <a:ext cx="2487168" cy="2139696"/>
          </a:xfrm>
          <a:prstGeom prst="roundRect">
            <a:avLst>
              <a:gd name="adj" fmla="val 5000"/>
            </a:avLst>
          </a:prstGeom>
          <a:solidFill>
            <a:srgbClr val="FFFFFF"/>
          </a:solidFill>
          <a:ln w="12700">
            <a:solidFill>
              <a:srgbClr val="E4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3438144"/>
            <a:ext cx="2487168" cy="43180"/>
          </a:xfrm>
          <a:prstGeom prst="rect">
            <a:avLst/>
          </a:prstGeom>
          <a:solidFill>
            <a:srgbClr val="F0A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3675887"/>
            <a:ext cx="2048256" cy="512064"/>
          </a:xfrm>
          <a:prstGeom prst="rect">
            <a:avLst/>
          </a:prstGeom>
          <a:noFill/>
        </p:spPr>
        <p:txBody>
          <a:bodyPr wrap="square" anchor="t" lIns="0" rIns="0" tIns="0" bIns="0">
            <a:spAutoFit/>
          </a:bodyPr>
          <a:lstStyle/>
          <a:p>
            <a:pPr algn="l">
              <a:lnSpc>
                <a:spcPct val="116000"/>
              </a:lnSpc>
            </a:pPr>
            <a:r>
              <a:rPr sz="1250" b="1" i="0">
                <a:solidFill>
                  <a:srgbClr val="1B1614"/>
                </a:solidFill>
                <a:latin typeface="Segoe UI"/>
              </a:rPr>
              <a:t>New fosters activated</a:t>
            </a:r>
          </a:p>
        </p:txBody>
      </p:sp>
      <p:sp>
        <p:nvSpPr>
          <p:cNvPr id="11" name="TextBox 10"/>
          <p:cNvSpPr txBox="1"/>
          <p:nvPr/>
        </p:nvSpPr>
        <p:spPr>
          <a:xfrm>
            <a:off x="996696" y="4224528"/>
            <a:ext cx="2048256" cy="219456"/>
          </a:xfrm>
          <a:prstGeom prst="rect">
            <a:avLst/>
          </a:prstGeom>
          <a:noFill/>
        </p:spPr>
        <p:txBody>
          <a:bodyPr wrap="square" anchor="t" lIns="0" rIns="0" tIns="0" bIns="0">
            <a:spAutoFit/>
          </a:bodyPr>
          <a:lstStyle/>
          <a:p>
            <a:pPr algn="l">
              <a:lnSpc>
                <a:spcPct val="100000"/>
              </a:lnSpc>
            </a:pPr>
            <a:r>
              <a:rPr sz="850" b="1" i="0" spc="140">
                <a:solidFill>
                  <a:srgbClr val="F0A544"/>
                </a:solidFill>
                <a:latin typeface="Segoe UI"/>
              </a:rPr>
              <a:t>PER MONTH</a:t>
            </a:r>
          </a:p>
        </p:txBody>
      </p:sp>
      <p:sp>
        <p:nvSpPr>
          <p:cNvPr id="12" name="TextBox 11"/>
          <p:cNvSpPr txBox="1"/>
          <p:nvPr/>
        </p:nvSpPr>
        <p:spPr>
          <a:xfrm>
            <a:off x="996696" y="4517136"/>
            <a:ext cx="2048256" cy="658368"/>
          </a:xfrm>
          <a:prstGeom prst="rect">
            <a:avLst/>
          </a:prstGeom>
          <a:noFill/>
        </p:spPr>
        <p:txBody>
          <a:bodyPr wrap="square" anchor="t" lIns="0" rIns="0" tIns="0" bIns="0">
            <a:spAutoFit/>
          </a:bodyPr>
          <a:lstStyle/>
          <a:p>
            <a:pPr algn="l">
              <a:lnSpc>
                <a:spcPct val="134000"/>
              </a:lnSpc>
            </a:pPr>
            <a:r>
              <a:rPr sz="980" b="0" i="0">
                <a:solidFill>
                  <a:srgbClr val="5A504A"/>
                </a:solidFill>
                <a:latin typeface="Segoe UI"/>
              </a:rPr>
              <a:t>Acquisition — driven by social sharing and forum reach</a:t>
            </a:r>
          </a:p>
        </p:txBody>
      </p:sp>
      <p:sp>
        <p:nvSpPr>
          <p:cNvPr id="13" name="TextBox 12"/>
          <p:cNvSpPr txBox="1"/>
          <p:nvPr/>
        </p:nvSpPr>
        <p:spPr>
          <a:xfrm>
            <a:off x="996696" y="5175504"/>
            <a:ext cx="2048256" cy="274320"/>
          </a:xfrm>
          <a:prstGeom prst="rect">
            <a:avLst/>
          </a:prstGeom>
          <a:noFill/>
        </p:spPr>
        <p:txBody>
          <a:bodyPr wrap="square" anchor="t" lIns="0" rIns="0" tIns="0" bIns="0">
            <a:spAutoFit/>
          </a:bodyPr>
          <a:lstStyle/>
          <a:p>
            <a:pPr algn="l">
              <a:lnSpc>
                <a:spcPct val="110000"/>
              </a:lnSpc>
            </a:pPr>
            <a:r>
              <a:rPr sz="1400" b="1" i="0">
                <a:solidFill>
                  <a:srgbClr val="F0A544"/>
                </a:solidFill>
                <a:latin typeface="Segoe UI"/>
              </a:rPr>
              <a:t>Baseline +30%</a:t>
            </a:r>
          </a:p>
        </p:txBody>
      </p:sp>
      <p:sp>
        <p:nvSpPr>
          <p:cNvPr id="14" name="Rounded Rectangle 13"/>
          <p:cNvSpPr/>
          <p:nvPr/>
        </p:nvSpPr>
        <p:spPr>
          <a:xfrm>
            <a:off x="3483864" y="3438144"/>
            <a:ext cx="2487168" cy="2139696"/>
          </a:xfrm>
          <a:prstGeom prst="roundRect">
            <a:avLst>
              <a:gd name="adj" fmla="val 5000"/>
            </a:avLst>
          </a:prstGeom>
          <a:solidFill>
            <a:srgbClr val="FFFFFF"/>
          </a:solidFill>
          <a:ln w="12700">
            <a:solidFill>
              <a:srgbClr val="E4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83864" y="3438144"/>
            <a:ext cx="2487168" cy="43180"/>
          </a:xfrm>
          <a:prstGeom prst="rect">
            <a:avLst/>
          </a:prstGeom>
          <a:solidFill>
            <a:srgbClr val="0F6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03320" y="3675887"/>
            <a:ext cx="2048256" cy="512064"/>
          </a:xfrm>
          <a:prstGeom prst="rect">
            <a:avLst/>
          </a:prstGeom>
          <a:noFill/>
        </p:spPr>
        <p:txBody>
          <a:bodyPr wrap="square" anchor="t" lIns="0" rIns="0" tIns="0" bIns="0">
            <a:spAutoFit/>
          </a:bodyPr>
          <a:lstStyle/>
          <a:p>
            <a:pPr algn="l">
              <a:lnSpc>
                <a:spcPct val="116000"/>
              </a:lnSpc>
            </a:pPr>
            <a:r>
              <a:rPr sz="1250" b="1" i="0">
                <a:solidFill>
                  <a:srgbClr val="1B1614"/>
                </a:solidFill>
                <a:latin typeface="Segoe UI"/>
              </a:rPr>
              <a:t>Time to first placement</a:t>
            </a:r>
          </a:p>
        </p:txBody>
      </p:sp>
      <p:sp>
        <p:nvSpPr>
          <p:cNvPr id="17" name="TextBox 16"/>
          <p:cNvSpPr txBox="1"/>
          <p:nvPr/>
        </p:nvSpPr>
        <p:spPr>
          <a:xfrm>
            <a:off x="3703320" y="4224528"/>
            <a:ext cx="2048256" cy="219456"/>
          </a:xfrm>
          <a:prstGeom prst="rect">
            <a:avLst/>
          </a:prstGeom>
          <a:noFill/>
        </p:spPr>
        <p:txBody>
          <a:bodyPr wrap="square" anchor="t" lIns="0" rIns="0" tIns="0" bIns="0">
            <a:spAutoFit/>
          </a:bodyPr>
          <a:lstStyle/>
          <a:p>
            <a:pPr algn="l">
              <a:lnSpc>
                <a:spcPct val="100000"/>
              </a:lnSpc>
            </a:pPr>
            <a:r>
              <a:rPr sz="850" b="1" i="0" spc="140">
                <a:solidFill>
                  <a:srgbClr val="0F6E63"/>
                </a:solidFill>
                <a:latin typeface="Segoe UI"/>
              </a:rPr>
              <a:t>HOURS</a:t>
            </a:r>
          </a:p>
        </p:txBody>
      </p:sp>
      <p:sp>
        <p:nvSpPr>
          <p:cNvPr id="18" name="TextBox 17"/>
          <p:cNvSpPr txBox="1"/>
          <p:nvPr/>
        </p:nvSpPr>
        <p:spPr>
          <a:xfrm>
            <a:off x="3703320" y="4517136"/>
            <a:ext cx="2048256" cy="658368"/>
          </a:xfrm>
          <a:prstGeom prst="rect">
            <a:avLst/>
          </a:prstGeom>
          <a:noFill/>
        </p:spPr>
        <p:txBody>
          <a:bodyPr wrap="square" anchor="t" lIns="0" rIns="0" tIns="0" bIns="0">
            <a:spAutoFit/>
          </a:bodyPr>
          <a:lstStyle/>
          <a:p>
            <a:pPr algn="l">
              <a:lnSpc>
                <a:spcPct val="134000"/>
              </a:lnSpc>
            </a:pPr>
            <a:r>
              <a:rPr sz="980" b="0" i="0">
                <a:solidFill>
                  <a:srgbClr val="5A504A"/>
                </a:solidFill>
                <a:latin typeface="Segoe UI"/>
              </a:rPr>
              <a:t>Onboarding — approval to a dog in the home</a:t>
            </a:r>
          </a:p>
        </p:txBody>
      </p:sp>
      <p:sp>
        <p:nvSpPr>
          <p:cNvPr id="19" name="TextBox 18"/>
          <p:cNvSpPr txBox="1"/>
          <p:nvPr/>
        </p:nvSpPr>
        <p:spPr>
          <a:xfrm>
            <a:off x="3703320" y="5175504"/>
            <a:ext cx="2048256" cy="274320"/>
          </a:xfrm>
          <a:prstGeom prst="rect">
            <a:avLst/>
          </a:prstGeom>
          <a:noFill/>
        </p:spPr>
        <p:txBody>
          <a:bodyPr wrap="square" anchor="t" lIns="0" rIns="0" tIns="0" bIns="0">
            <a:spAutoFit/>
          </a:bodyPr>
          <a:lstStyle/>
          <a:p>
            <a:pPr algn="l">
              <a:lnSpc>
                <a:spcPct val="110000"/>
              </a:lnSpc>
            </a:pPr>
            <a:r>
              <a:rPr sz="1400" b="1" i="0">
                <a:solidFill>
                  <a:srgbClr val="0F6E63"/>
                </a:solidFill>
                <a:latin typeface="Segoe UI"/>
              </a:rPr>
              <a:t>&lt; 24 hours</a:t>
            </a:r>
          </a:p>
        </p:txBody>
      </p:sp>
      <p:sp>
        <p:nvSpPr>
          <p:cNvPr id="20" name="Rounded Rectangle 19"/>
          <p:cNvSpPr/>
          <p:nvPr/>
        </p:nvSpPr>
        <p:spPr>
          <a:xfrm>
            <a:off x="6190488" y="3438144"/>
            <a:ext cx="2487168" cy="2139696"/>
          </a:xfrm>
          <a:prstGeom prst="roundRect">
            <a:avLst>
              <a:gd name="adj" fmla="val 5000"/>
            </a:avLst>
          </a:prstGeom>
          <a:solidFill>
            <a:srgbClr val="FFFFFF"/>
          </a:solidFill>
          <a:ln w="12700">
            <a:solidFill>
              <a:srgbClr val="E4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3438144"/>
            <a:ext cx="2487168" cy="43180"/>
          </a:xfrm>
          <a:prstGeom prst="rect">
            <a:avLst/>
          </a:prstGeom>
          <a:solidFill>
            <a:srgbClr val="C4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9944" y="3675887"/>
            <a:ext cx="2048256" cy="512064"/>
          </a:xfrm>
          <a:prstGeom prst="rect">
            <a:avLst/>
          </a:prstGeom>
          <a:noFill/>
        </p:spPr>
        <p:txBody>
          <a:bodyPr wrap="square" anchor="t" lIns="0" rIns="0" tIns="0" bIns="0">
            <a:spAutoFit/>
          </a:bodyPr>
          <a:lstStyle/>
          <a:p>
            <a:pPr algn="l">
              <a:lnSpc>
                <a:spcPct val="116000"/>
              </a:lnSpc>
            </a:pPr>
            <a:r>
              <a:rPr sz="1250" b="1" i="0">
                <a:solidFill>
                  <a:srgbClr val="1B1614"/>
                </a:solidFill>
                <a:latin typeface="Segoe UI"/>
              </a:rPr>
              <a:t>Beginner 2nd-placement rate</a:t>
            </a:r>
          </a:p>
        </p:txBody>
      </p:sp>
      <p:sp>
        <p:nvSpPr>
          <p:cNvPr id="23" name="TextBox 22"/>
          <p:cNvSpPr txBox="1"/>
          <p:nvPr/>
        </p:nvSpPr>
        <p:spPr>
          <a:xfrm>
            <a:off x="6409944" y="4224528"/>
            <a:ext cx="2048256" cy="219456"/>
          </a:xfrm>
          <a:prstGeom prst="rect">
            <a:avLst/>
          </a:prstGeom>
          <a:noFill/>
        </p:spPr>
        <p:txBody>
          <a:bodyPr wrap="square" anchor="t" lIns="0" rIns="0" tIns="0" bIns="0">
            <a:spAutoFit/>
          </a:bodyPr>
          <a:lstStyle/>
          <a:p>
            <a:pPr algn="l">
              <a:lnSpc>
                <a:spcPct val="100000"/>
              </a:lnSpc>
            </a:pPr>
            <a:r>
              <a:rPr sz="850" b="1" i="0" spc="140">
                <a:solidFill>
                  <a:srgbClr val="C4553D"/>
                </a:solidFill>
                <a:latin typeface="Segoe UI"/>
              </a:rPr>
              <a:t>WITHIN 90 DAYS</a:t>
            </a:r>
          </a:p>
        </p:txBody>
      </p:sp>
      <p:sp>
        <p:nvSpPr>
          <p:cNvPr id="24" name="TextBox 23"/>
          <p:cNvSpPr txBox="1"/>
          <p:nvPr/>
        </p:nvSpPr>
        <p:spPr>
          <a:xfrm>
            <a:off x="6409944" y="4517136"/>
            <a:ext cx="2048256" cy="658368"/>
          </a:xfrm>
          <a:prstGeom prst="rect">
            <a:avLst/>
          </a:prstGeom>
          <a:noFill/>
        </p:spPr>
        <p:txBody>
          <a:bodyPr wrap="square" anchor="t" lIns="0" rIns="0" tIns="0" bIns="0">
            <a:spAutoFit/>
          </a:bodyPr>
          <a:lstStyle/>
          <a:p>
            <a:pPr algn="l">
              <a:lnSpc>
                <a:spcPct val="134000"/>
              </a:lnSpc>
            </a:pPr>
            <a:r>
              <a:rPr sz="980" b="0" i="0">
                <a:solidFill>
                  <a:srgbClr val="5A504A"/>
                </a:solidFill>
                <a:latin typeface="Segoe UI"/>
              </a:rPr>
              <a:t>Retention — the capacity leak we are closing</a:t>
            </a:r>
          </a:p>
        </p:txBody>
      </p:sp>
      <p:sp>
        <p:nvSpPr>
          <p:cNvPr id="25" name="TextBox 24"/>
          <p:cNvSpPr txBox="1"/>
          <p:nvPr/>
        </p:nvSpPr>
        <p:spPr>
          <a:xfrm>
            <a:off x="6409944" y="5175504"/>
            <a:ext cx="2048256" cy="274320"/>
          </a:xfrm>
          <a:prstGeom prst="rect">
            <a:avLst/>
          </a:prstGeom>
          <a:noFill/>
        </p:spPr>
        <p:txBody>
          <a:bodyPr wrap="square" anchor="t" lIns="0" rIns="0" tIns="0" bIns="0">
            <a:spAutoFit/>
          </a:bodyPr>
          <a:lstStyle/>
          <a:p>
            <a:pPr algn="l">
              <a:lnSpc>
                <a:spcPct val="110000"/>
              </a:lnSpc>
            </a:pPr>
            <a:r>
              <a:rPr sz="1400" b="1" i="0">
                <a:solidFill>
                  <a:srgbClr val="C4553D"/>
                </a:solidFill>
                <a:latin typeface="Segoe UI"/>
              </a:rPr>
              <a:t>40% → 65%</a:t>
            </a:r>
          </a:p>
        </p:txBody>
      </p:sp>
      <p:sp>
        <p:nvSpPr>
          <p:cNvPr id="26" name="Rounded Rectangle 25"/>
          <p:cNvSpPr/>
          <p:nvPr/>
        </p:nvSpPr>
        <p:spPr>
          <a:xfrm>
            <a:off x="8897112" y="3438144"/>
            <a:ext cx="2487168" cy="2139696"/>
          </a:xfrm>
          <a:prstGeom prst="roundRect">
            <a:avLst>
              <a:gd name="adj" fmla="val 5000"/>
            </a:avLst>
          </a:prstGeom>
          <a:solidFill>
            <a:srgbClr val="FFFFFF"/>
          </a:solidFill>
          <a:ln w="12700">
            <a:solidFill>
              <a:srgbClr val="E4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97112" y="3438144"/>
            <a:ext cx="2487168" cy="43180"/>
          </a:xfrm>
          <a:prstGeom prst="rect">
            <a:avLst/>
          </a:prstGeom>
          <a:solidFill>
            <a:srgbClr val="0B55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16568" y="3675887"/>
            <a:ext cx="2048256" cy="512064"/>
          </a:xfrm>
          <a:prstGeom prst="rect">
            <a:avLst/>
          </a:prstGeom>
          <a:noFill/>
        </p:spPr>
        <p:txBody>
          <a:bodyPr wrap="square" anchor="t" lIns="0" rIns="0" tIns="0" bIns="0">
            <a:spAutoFit/>
          </a:bodyPr>
          <a:lstStyle/>
          <a:p>
            <a:pPr algn="l">
              <a:lnSpc>
                <a:spcPct val="116000"/>
              </a:lnSpc>
            </a:pPr>
            <a:r>
              <a:rPr sz="1250" b="1" i="0">
                <a:solidFill>
                  <a:srgbClr val="1B1614"/>
                </a:solidFill>
                <a:latin typeface="Segoe UI"/>
              </a:rPr>
              <a:t>Coordinator hours per placed dog</a:t>
            </a:r>
          </a:p>
        </p:txBody>
      </p:sp>
      <p:sp>
        <p:nvSpPr>
          <p:cNvPr id="29" name="TextBox 28"/>
          <p:cNvSpPr txBox="1"/>
          <p:nvPr/>
        </p:nvSpPr>
        <p:spPr>
          <a:xfrm>
            <a:off x="9116568" y="4224528"/>
            <a:ext cx="2048256" cy="219456"/>
          </a:xfrm>
          <a:prstGeom prst="rect">
            <a:avLst/>
          </a:prstGeom>
          <a:noFill/>
        </p:spPr>
        <p:txBody>
          <a:bodyPr wrap="square" anchor="t" lIns="0" rIns="0" tIns="0" bIns="0">
            <a:spAutoFit/>
          </a:bodyPr>
          <a:lstStyle/>
          <a:p>
            <a:pPr algn="l">
              <a:lnSpc>
                <a:spcPct val="100000"/>
              </a:lnSpc>
            </a:pPr>
            <a:r>
              <a:rPr sz="850" b="1" i="0" spc="140">
                <a:solidFill>
                  <a:srgbClr val="0B554D"/>
                </a:solidFill>
                <a:latin typeface="Segoe UI"/>
              </a:rPr>
              <a:t>HOURS</a:t>
            </a:r>
          </a:p>
        </p:txBody>
      </p:sp>
      <p:sp>
        <p:nvSpPr>
          <p:cNvPr id="30" name="TextBox 29"/>
          <p:cNvSpPr txBox="1"/>
          <p:nvPr/>
        </p:nvSpPr>
        <p:spPr>
          <a:xfrm>
            <a:off x="9116568" y="4517136"/>
            <a:ext cx="2048256" cy="658368"/>
          </a:xfrm>
          <a:prstGeom prst="rect">
            <a:avLst/>
          </a:prstGeom>
          <a:noFill/>
        </p:spPr>
        <p:txBody>
          <a:bodyPr wrap="square" anchor="t" lIns="0" rIns="0" tIns="0" bIns="0">
            <a:spAutoFit/>
          </a:bodyPr>
          <a:lstStyle/>
          <a:p>
            <a:pPr algn="l">
              <a:lnSpc>
                <a:spcPct val="134000"/>
              </a:lnSpc>
            </a:pPr>
            <a:r>
              <a:rPr sz="980" b="0" i="0">
                <a:solidFill>
                  <a:srgbClr val="5A504A"/>
                </a:solidFill>
                <a:latin typeface="Segoe UI"/>
              </a:rPr>
              <a:t>Leverage — capacity to run more placements</a:t>
            </a:r>
          </a:p>
        </p:txBody>
      </p:sp>
      <p:sp>
        <p:nvSpPr>
          <p:cNvPr id="31" name="TextBox 30"/>
          <p:cNvSpPr txBox="1"/>
          <p:nvPr/>
        </p:nvSpPr>
        <p:spPr>
          <a:xfrm>
            <a:off x="9116568" y="5175504"/>
            <a:ext cx="2048256" cy="274320"/>
          </a:xfrm>
          <a:prstGeom prst="rect">
            <a:avLst/>
          </a:prstGeom>
          <a:noFill/>
        </p:spPr>
        <p:txBody>
          <a:bodyPr wrap="square" anchor="t" lIns="0" rIns="0" tIns="0" bIns="0">
            <a:spAutoFit/>
          </a:bodyPr>
          <a:lstStyle/>
          <a:p>
            <a:pPr algn="l">
              <a:lnSpc>
                <a:spcPct val="110000"/>
              </a:lnSpc>
            </a:pPr>
            <a:r>
              <a:rPr sz="1400" b="1" i="0">
                <a:solidFill>
                  <a:srgbClr val="0B554D"/>
                </a:solidFill>
                <a:latin typeface="Segoe UI"/>
              </a:rPr>
              <a:t>−40%</a:t>
            </a:r>
          </a:p>
        </p:txBody>
      </p:sp>
      <p:sp>
        <p:nvSpPr>
          <p:cNvPr id="32" name="TextBox 31"/>
          <p:cNvSpPr txBox="1"/>
          <p:nvPr/>
        </p:nvSpPr>
        <p:spPr>
          <a:xfrm>
            <a:off x="777240" y="5779008"/>
            <a:ext cx="10637215" cy="365760"/>
          </a:xfrm>
          <a:prstGeom prst="rect">
            <a:avLst/>
          </a:prstGeom>
          <a:noFill/>
        </p:spPr>
        <p:txBody>
          <a:bodyPr wrap="square" anchor="t" lIns="0" rIns="0" tIns="0" bIns="0">
            <a:spAutoFit/>
          </a:bodyPr>
          <a:lstStyle/>
          <a:p>
            <a:pPr algn="l">
              <a:lnSpc>
                <a:spcPct val="132000"/>
              </a:lnSpc>
            </a:pPr>
            <a:r>
              <a:rPr sz="1100" b="0" i="0">
                <a:solidFill>
                  <a:srgbClr val="7C6F66"/>
                </a:solidFill>
                <a:latin typeface="Segoe UI"/>
              </a:rPr>
              <a:t>Chosen because it is capacity expressed in the unit a shelter actually feels — a night a dog did not spend in a kennel, or in no home at all.</a:t>
            </a:r>
          </a:p>
        </p:txBody>
      </p:sp>
      <p:sp>
        <p:nvSpPr>
          <p:cNvPr id="33" name="TextBox 32"/>
          <p:cNvSpPr txBox="1"/>
          <p:nvPr/>
        </p:nvSpPr>
        <p:spPr>
          <a:xfrm>
            <a:off x="777240" y="6345936"/>
            <a:ext cx="7315200" cy="274320"/>
          </a:xfrm>
          <a:prstGeom prst="rect">
            <a:avLst/>
          </a:prstGeom>
          <a:noFill/>
        </p:spPr>
        <p:txBody>
          <a:bodyPr wrap="square" anchor="t" lIns="0" rIns="0" tIns="0" bIns="0">
            <a:spAutoFit/>
          </a:bodyPr>
          <a:lstStyle/>
          <a:p>
            <a:pPr algn="l">
              <a:lnSpc>
                <a:spcPct val="100000"/>
              </a:lnSpc>
            </a:pPr>
            <a:r>
              <a:rPr sz="900" b="0" i="0">
                <a:solidFill>
                  <a:srgbClr val="7C6F66"/>
                </a:solidFill>
                <a:latin typeface="Segoe UI"/>
              </a:rPr>
              <a:t>The Foster Pack  ·  Confidential</a:t>
            </a:r>
          </a:p>
        </p:txBody>
      </p:sp>
      <p:sp>
        <p:nvSpPr>
          <p:cNvPr id="34" name="TextBox 33"/>
          <p:cNvSpPr txBox="1"/>
          <p:nvPr/>
        </p:nvSpPr>
        <p:spPr>
          <a:xfrm>
            <a:off x="10515600" y="6345936"/>
            <a:ext cx="896112" cy="274320"/>
          </a:xfrm>
          <a:prstGeom prst="rect">
            <a:avLst/>
          </a:prstGeom>
          <a:noFill/>
        </p:spPr>
        <p:txBody>
          <a:bodyPr wrap="square" anchor="t" lIns="0" rIns="0" tIns="0" bIns="0">
            <a:spAutoFit/>
          </a:bodyPr>
          <a:lstStyle/>
          <a:p>
            <a:pPr algn="r">
              <a:lnSpc>
                <a:spcPct val="100000"/>
              </a:lnSpc>
            </a:pPr>
            <a:r>
              <a:rPr sz="900" b="1" i="0">
                <a:solidFill>
                  <a:srgbClr val="7C6F66"/>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30352"/>
            <a:ext cx="10637215" cy="274320"/>
          </a:xfrm>
          <a:prstGeom prst="rect">
            <a:avLst/>
          </a:prstGeom>
          <a:noFill/>
        </p:spPr>
        <p:txBody>
          <a:bodyPr wrap="square" anchor="t" lIns="0" rIns="0" tIns="0" bIns="0">
            <a:spAutoFit/>
          </a:bodyPr>
          <a:lstStyle/>
          <a:p>
            <a:pPr algn="l">
              <a:lnSpc>
                <a:spcPct val="100000"/>
              </a:lnSpc>
            </a:pPr>
            <a:r>
              <a:rPr sz="1050" b="1" i="0" spc="190">
                <a:solidFill>
                  <a:srgbClr val="0F6E63"/>
                </a:solidFill>
                <a:latin typeface="Segoe UI"/>
              </a:rPr>
              <a:t>KEY METRICS TO TRACK</a:t>
            </a:r>
          </a:p>
        </p:txBody>
      </p:sp>
      <p:sp>
        <p:nvSpPr>
          <p:cNvPr id="4" name="TextBox 3"/>
          <p:cNvSpPr txBox="1"/>
          <p:nvPr/>
        </p:nvSpPr>
        <p:spPr>
          <a:xfrm>
            <a:off x="777240" y="841248"/>
            <a:ext cx="10637215" cy="1371600"/>
          </a:xfrm>
          <a:prstGeom prst="rect">
            <a:avLst/>
          </a:prstGeom>
          <a:noFill/>
        </p:spPr>
        <p:txBody>
          <a:bodyPr wrap="square" anchor="t" lIns="0" rIns="0" tIns="0" bIns="0">
            <a:spAutoFit/>
          </a:bodyPr>
          <a:lstStyle/>
          <a:p>
            <a:pPr algn="l">
              <a:lnSpc>
                <a:spcPct val="108000"/>
              </a:lnSpc>
            </a:pPr>
            <a:r>
              <a:rPr sz="3500" b="1" i="0">
                <a:solidFill>
                  <a:srgbClr val="1B1614"/>
                </a:solidFill>
                <a:latin typeface="Segoe UI"/>
              </a:rPr>
              <a:t>What we instrument from day one.</a:t>
            </a:r>
          </a:p>
        </p:txBody>
      </p:sp>
      <p:sp>
        <p:nvSpPr>
          <p:cNvPr id="5" name="TextBox 4"/>
          <p:cNvSpPr txBox="1"/>
          <p:nvPr/>
        </p:nvSpPr>
        <p:spPr>
          <a:xfrm>
            <a:off x="777240" y="1700784"/>
            <a:ext cx="9692640" cy="914400"/>
          </a:xfrm>
          <a:prstGeom prst="rect">
            <a:avLst/>
          </a:prstGeom>
          <a:noFill/>
        </p:spPr>
        <p:txBody>
          <a:bodyPr wrap="square" anchor="t" lIns="0" rIns="0" tIns="0" bIns="0">
            <a:spAutoFit/>
          </a:bodyPr>
          <a:lstStyle/>
          <a:p>
            <a:pPr algn="l">
              <a:lnSpc>
                <a:spcPct val="142000"/>
              </a:lnSpc>
            </a:pPr>
            <a:r>
              <a:rPr sz="1450" b="0" i="0">
                <a:solidFill>
                  <a:srgbClr val="5A504A"/>
                </a:solidFill>
                <a:latin typeface="Segoe UI"/>
              </a:rPr>
              <a:t>The §4 metrics are unmeasurable retroactively, so instrumentation is a milestone-one deliverable, not a later addition.</a:t>
            </a:r>
          </a:p>
        </p:txBody>
      </p:sp>
      <p:graphicFrame>
        <p:nvGraphicFramePr>
          <p:cNvPr id="6" name="Table 5"/>
          <p:cNvGraphicFramePr>
            <a:graphicFrameLocks noGrp="1"/>
          </p:cNvGraphicFramePr>
          <p:nvPr/>
        </p:nvGraphicFramePr>
        <p:xfrm>
          <a:off x="777240" y="2267712"/>
          <a:ext cx="10637215" cy="3639312"/>
        </p:xfrm>
        <a:graphic>
          <a:graphicData uri="http://schemas.openxmlformats.org/drawingml/2006/table">
            <a:tbl>
              <a:tblPr firstRow="0" bandRow="0">
                <a:tableStyleId>{2D5ABB26-0587-4C30-8999-92F81FD0307C}</a:tableStyleId>
              </a:tblPr>
              <a:tblGrid>
                <a:gridCol w="2057400"/>
                <a:gridCol w="2788920"/>
                <a:gridCol w="3017520"/>
                <a:gridCol w="2773375"/>
              </a:tblGrid>
              <a:tr h="347472">
                <a:tc>
                  <a:txBody>
                    <a:bodyPr wrap="square"/>
                    <a:lstStyle/>
                    <a:p>
                      <a:pPr>
                        <a:lnSpc>
                          <a:spcPct val="120000"/>
                        </a:lnSpc>
                      </a:pPr>
                      <a:r>
                        <a:rPr sz="980" b="1">
                          <a:solidFill>
                            <a:srgbClr val="FFFFFF"/>
                          </a:solidFill>
                          <a:latin typeface="Segoe UI"/>
                        </a:rPr>
                        <a:t>Group</a:t>
                      </a:r>
                    </a:p>
                  </a:txBody>
                  <a:tcPr marL="118872" marR="118872" marT="64008" marB="64008" anchor="ctr">
                    <a:solidFill>
                      <a:srgbClr val="0F6E63"/>
                    </a:solidFill>
                  </a:tcPr>
                </a:tc>
                <a:tc>
                  <a:txBody>
                    <a:bodyPr wrap="square"/>
                    <a:lstStyle/>
                    <a:p>
                      <a:pPr>
                        <a:lnSpc>
                          <a:spcPct val="120000"/>
                        </a:lnSpc>
                      </a:pPr>
                      <a:r>
                        <a:rPr sz="980" b="1">
                          <a:solidFill>
                            <a:srgbClr val="FFFFFF"/>
                          </a:solidFill>
                          <a:latin typeface="Segoe UI"/>
                        </a:rPr>
                        <a:t>Metric</a:t>
                      </a:r>
                    </a:p>
                  </a:txBody>
                  <a:tcPr marL="118872" marR="118872" marT="64008" marB="64008" anchor="ctr">
                    <a:solidFill>
                      <a:srgbClr val="0F6E63"/>
                    </a:solidFill>
                  </a:tcPr>
                </a:tc>
                <a:tc>
                  <a:txBody>
                    <a:bodyPr wrap="square"/>
                    <a:lstStyle/>
                    <a:p>
                      <a:pPr>
                        <a:lnSpc>
                          <a:spcPct val="120000"/>
                        </a:lnSpc>
                      </a:pPr>
                      <a:r>
                        <a:rPr sz="980" b="1">
                          <a:solidFill>
                            <a:srgbClr val="FFFFFF"/>
                          </a:solidFill>
                          <a:latin typeface="Segoe UI"/>
                        </a:rPr>
                        <a:t>Definition</a:t>
                      </a:r>
                    </a:p>
                  </a:txBody>
                  <a:tcPr marL="118872" marR="118872" marT="64008" marB="64008" anchor="ctr">
                    <a:solidFill>
                      <a:srgbClr val="0F6E63"/>
                    </a:solidFill>
                  </a:tcPr>
                </a:tc>
                <a:tc>
                  <a:txBody>
                    <a:bodyPr wrap="square"/>
                    <a:lstStyle/>
                    <a:p>
                      <a:pPr>
                        <a:lnSpc>
                          <a:spcPct val="120000"/>
                        </a:lnSpc>
                      </a:pPr>
                      <a:r>
                        <a:rPr sz="980" b="1">
                          <a:solidFill>
                            <a:srgbClr val="FFFFFF"/>
                          </a:solidFill>
                          <a:latin typeface="Segoe UI"/>
                        </a:rPr>
                        <a:t>Target</a:t>
                      </a:r>
                    </a:p>
                  </a:txBody>
                  <a:tcPr marL="118872" marR="118872" marT="64008" marB="64008" anchor="ctr">
                    <a:solidFill>
                      <a:srgbClr val="0F6E63"/>
                    </a:solidFill>
                  </a:tcPr>
                </a:tc>
              </a:tr>
              <a:tr h="365760">
                <a:tc>
                  <a:txBody>
                    <a:bodyPr wrap="square"/>
                    <a:lstStyle/>
                    <a:p>
                      <a:pPr>
                        <a:lnSpc>
                          <a:spcPct val="120000"/>
                        </a:lnSpc>
                      </a:pPr>
                      <a:r>
                        <a:rPr sz="900" b="1">
                          <a:solidFill>
                            <a:srgbClr val="1B1614"/>
                          </a:solidFill>
                          <a:latin typeface="Segoe UI"/>
                        </a:rPr>
                        <a:t>Core bet</a:t>
                      </a:r>
                    </a:p>
                  </a:txBody>
                  <a:tcPr marL="118872" marR="118872" marT="64008" marB="64008" anchor="ctr">
                    <a:solidFill>
                      <a:srgbClr val="FFFFFF"/>
                    </a:solidFill>
                  </a:tcPr>
                </a:tc>
                <a:tc>
                  <a:txBody>
                    <a:bodyPr wrap="square"/>
                    <a:lstStyle/>
                    <a:p>
                      <a:pPr>
                        <a:lnSpc>
                          <a:spcPct val="120000"/>
                        </a:lnSpc>
                      </a:pPr>
                      <a:r>
                        <a:rPr sz="900" b="0">
                          <a:solidFill>
                            <a:srgbClr val="5A504A"/>
                          </a:solidFill>
                          <a:latin typeface="Segoe UI"/>
                        </a:rPr>
                        <a:t>Volunteer task fill rate</a:t>
                      </a:r>
                    </a:p>
                  </a:txBody>
                  <a:tcPr marL="118872" marR="118872" marT="64008" marB="64008" anchor="ctr">
                    <a:solidFill>
                      <a:srgbClr val="FFFFFF"/>
                    </a:solidFill>
                  </a:tcPr>
                </a:tc>
                <a:tc>
                  <a:txBody>
                    <a:bodyPr wrap="square"/>
                    <a:lstStyle/>
                    <a:p>
                      <a:pPr>
                        <a:lnSpc>
                          <a:spcPct val="120000"/>
                        </a:lnSpc>
                      </a:pPr>
                      <a:r>
                        <a:rPr sz="900" b="0">
                          <a:solidFill>
                            <a:srgbClr val="5A504A"/>
                          </a:solidFill>
                          <a:latin typeface="Segoe UI"/>
                        </a:rPr>
                        <a:t>Published tasks claimed before deadline</a:t>
                      </a:r>
                    </a:p>
                  </a:txBody>
                  <a:tcPr marL="118872" marR="118872" marT="64008" marB="64008" anchor="ctr">
                    <a:solidFill>
                      <a:srgbClr val="FFFFFF"/>
                    </a:solidFill>
                  </a:tcPr>
                </a:tc>
                <a:tc>
                  <a:txBody>
                    <a:bodyPr wrap="square"/>
                    <a:lstStyle/>
                    <a:p>
                      <a:pPr>
                        <a:lnSpc>
                          <a:spcPct val="120000"/>
                        </a:lnSpc>
                      </a:pPr>
                      <a:r>
                        <a:rPr sz="900" b="0">
                          <a:solidFill>
                            <a:srgbClr val="5A504A"/>
                          </a:solidFill>
                          <a:latin typeface="Segoe UI"/>
                        </a:rPr>
                        <a:t>≥ 90%</a:t>
                      </a:r>
                    </a:p>
                  </a:txBody>
                  <a:tcPr marL="118872" marR="118872" marT="64008" marB="64008" anchor="ctr">
                    <a:solidFill>
                      <a:srgbClr val="FFFFFF"/>
                    </a:solidFill>
                  </a:tcPr>
                </a:tc>
              </a:tr>
              <a:tr h="365760">
                <a:tc>
                  <a:txBody>
                    <a:bodyPr wrap="square"/>
                    <a:lstStyle/>
                    <a:p>
                      <a:pPr>
                        <a:lnSpc>
                          <a:spcPct val="120000"/>
                        </a:lnSpc>
                      </a:pPr>
                      <a:r>
                        <a:rPr sz="900" b="1">
                          <a:solidFill>
                            <a:srgbClr val="1B1614"/>
                          </a:solidFill>
                          <a:latin typeface="Segoe UI"/>
                        </a:rPr>
                        <a:t>Core bet</a:t>
                      </a:r>
                    </a:p>
                  </a:txBody>
                  <a:tcPr marL="118872" marR="118872" marT="64008" marB="64008" anchor="ctr">
                    <a:solidFill>
                      <a:srgbClr val="F6F1E9"/>
                    </a:solidFill>
                  </a:tcPr>
                </a:tc>
                <a:tc>
                  <a:txBody>
                    <a:bodyPr wrap="square"/>
                    <a:lstStyle/>
                    <a:p>
                      <a:pPr>
                        <a:lnSpc>
                          <a:spcPct val="120000"/>
                        </a:lnSpc>
                      </a:pPr>
                      <a:r>
                        <a:rPr sz="900" b="0">
                          <a:solidFill>
                            <a:srgbClr val="5A504A"/>
                          </a:solidFill>
                          <a:latin typeface="Segoe UI"/>
                        </a:rPr>
                        <a:t>Roster currency</a:t>
                      </a:r>
                    </a:p>
                  </a:txBody>
                  <a:tcPr marL="118872" marR="118872" marT="64008" marB="64008" anchor="ctr">
                    <a:solidFill>
                      <a:srgbClr val="F6F1E9"/>
                    </a:solidFill>
                  </a:tcPr>
                </a:tc>
                <a:tc>
                  <a:txBody>
                    <a:bodyPr wrap="square"/>
                    <a:lstStyle/>
                    <a:p>
                      <a:pPr>
                        <a:lnSpc>
                          <a:spcPct val="120000"/>
                        </a:lnSpc>
                      </a:pPr>
                      <a:r>
                        <a:rPr sz="900" b="0">
                          <a:solidFill>
                            <a:srgbClr val="5A504A"/>
                          </a:solidFill>
                          <a:latin typeface="Segoe UI"/>
                        </a:rPr>
                        <a:t>Volunteers and fosters with current availability on file</a:t>
                      </a:r>
                    </a:p>
                  </a:txBody>
                  <a:tcPr marL="118872" marR="118872" marT="64008" marB="64008" anchor="ctr">
                    <a:solidFill>
                      <a:srgbClr val="F6F1E9"/>
                    </a:solidFill>
                  </a:tcPr>
                </a:tc>
                <a:tc>
                  <a:txBody>
                    <a:bodyPr wrap="square"/>
                    <a:lstStyle/>
                    <a:p>
                      <a:pPr>
                        <a:lnSpc>
                          <a:spcPct val="120000"/>
                        </a:lnSpc>
                      </a:pPr>
                      <a:r>
                        <a:rPr sz="900" b="0">
                          <a:solidFill>
                            <a:srgbClr val="5A504A"/>
                          </a:solidFill>
                          <a:latin typeface="Segoe UI"/>
                        </a:rPr>
                        <a:t>≥ 80%</a:t>
                      </a:r>
                    </a:p>
                  </a:txBody>
                  <a:tcPr marL="118872" marR="118872" marT="64008" marB="64008" anchor="ctr">
                    <a:solidFill>
                      <a:srgbClr val="F6F1E9"/>
                    </a:solidFill>
                  </a:tcPr>
                </a:tc>
              </a:tr>
              <a:tr h="365760">
                <a:tc>
                  <a:txBody>
                    <a:bodyPr wrap="square"/>
                    <a:lstStyle/>
                    <a:p>
                      <a:pPr>
                        <a:lnSpc>
                          <a:spcPct val="120000"/>
                        </a:lnSpc>
                      </a:pPr>
                      <a:r>
                        <a:rPr sz="900" b="1">
                          <a:solidFill>
                            <a:srgbClr val="1B1614"/>
                          </a:solidFill>
                          <a:latin typeface="Segoe UI"/>
                        </a:rPr>
                        <a:t>Core bet</a:t>
                      </a:r>
                    </a:p>
                  </a:txBody>
                  <a:tcPr marL="118872" marR="118872" marT="64008" marB="64008" anchor="ctr">
                    <a:solidFill>
                      <a:srgbClr val="FFFFFF"/>
                    </a:solidFill>
                  </a:tcPr>
                </a:tc>
                <a:tc>
                  <a:txBody>
                    <a:bodyPr wrap="square"/>
                    <a:lstStyle/>
                    <a:p>
                      <a:pPr>
                        <a:lnSpc>
                          <a:spcPct val="120000"/>
                        </a:lnSpc>
                      </a:pPr>
                      <a:r>
                        <a:rPr sz="900" b="0">
                          <a:solidFill>
                            <a:srgbClr val="5A504A"/>
                          </a:solidFill>
                          <a:latin typeface="Segoe UI"/>
                        </a:rPr>
                        <a:t>Match acceptance rate</a:t>
                      </a:r>
                    </a:p>
                  </a:txBody>
                  <a:tcPr marL="118872" marR="118872" marT="64008" marB="64008" anchor="ctr">
                    <a:solidFill>
                      <a:srgbClr val="FFFFFF"/>
                    </a:solidFill>
                  </a:tcPr>
                </a:tc>
                <a:tc>
                  <a:txBody>
                    <a:bodyPr wrap="square"/>
                    <a:lstStyle/>
                    <a:p>
                      <a:pPr>
                        <a:lnSpc>
                          <a:spcPct val="120000"/>
                        </a:lnSpc>
                      </a:pPr>
                      <a:r>
                        <a:rPr sz="900" b="0">
                          <a:solidFill>
                            <a:srgbClr val="5A504A"/>
                          </a:solidFill>
                          <a:latin typeface="Segoe UI"/>
                        </a:rPr>
                        <a:t>System-suggested matches accepted without override</a:t>
                      </a:r>
                    </a:p>
                  </a:txBody>
                  <a:tcPr marL="118872" marR="118872" marT="64008" marB="64008" anchor="ctr">
                    <a:solidFill>
                      <a:srgbClr val="FFFFFF"/>
                    </a:solidFill>
                  </a:tcPr>
                </a:tc>
                <a:tc>
                  <a:txBody>
                    <a:bodyPr wrap="square"/>
                    <a:lstStyle/>
                    <a:p>
                      <a:pPr>
                        <a:lnSpc>
                          <a:spcPct val="120000"/>
                        </a:lnSpc>
                      </a:pPr>
                      <a:r>
                        <a:rPr sz="900" b="0">
                          <a:solidFill>
                            <a:srgbClr val="5A504A"/>
                          </a:solidFill>
                          <a:latin typeface="Segoe UI"/>
                        </a:rPr>
                        <a:t>Rising</a:t>
                      </a:r>
                    </a:p>
                  </a:txBody>
                  <a:tcPr marL="118872" marR="118872" marT="64008" marB="64008" anchor="ctr">
                    <a:solidFill>
                      <a:srgbClr val="FFFFFF"/>
                    </a:solidFill>
                  </a:tcPr>
                </a:tc>
              </a:tr>
              <a:tr h="365760">
                <a:tc>
                  <a:txBody>
                    <a:bodyPr wrap="square"/>
                    <a:lstStyle/>
                    <a:p>
                      <a:pPr>
                        <a:lnSpc>
                          <a:spcPct val="120000"/>
                        </a:lnSpc>
                      </a:pPr>
                      <a:r>
                        <a:rPr sz="900" b="1">
                          <a:solidFill>
                            <a:srgbClr val="1B1614"/>
                          </a:solidFill>
                          <a:latin typeface="Segoe UI"/>
                        </a:rPr>
                        <a:t>Foster health</a:t>
                      </a:r>
                    </a:p>
                  </a:txBody>
                  <a:tcPr marL="118872" marR="118872" marT="64008" marB="64008" anchor="ctr">
                    <a:solidFill>
                      <a:srgbClr val="F6F1E9"/>
                    </a:solidFill>
                  </a:tcPr>
                </a:tc>
                <a:tc>
                  <a:txBody>
                    <a:bodyPr wrap="square"/>
                    <a:lstStyle/>
                    <a:p>
                      <a:pPr>
                        <a:lnSpc>
                          <a:spcPct val="120000"/>
                        </a:lnSpc>
                      </a:pPr>
                      <a:r>
                        <a:rPr sz="900" b="0">
                          <a:solidFill>
                            <a:srgbClr val="5A504A"/>
                          </a:solidFill>
                          <a:latin typeface="Segoe UI"/>
                        </a:rPr>
                        <a:t>Journalling adoption</a:t>
                      </a:r>
                    </a:p>
                  </a:txBody>
                  <a:tcPr marL="118872" marR="118872" marT="64008" marB="64008" anchor="ctr">
                    <a:solidFill>
                      <a:srgbClr val="F6F1E9"/>
                    </a:solidFill>
                  </a:tcPr>
                </a:tc>
                <a:tc>
                  <a:txBody>
                    <a:bodyPr wrap="square"/>
                    <a:lstStyle/>
                    <a:p>
                      <a:pPr>
                        <a:lnSpc>
                          <a:spcPct val="120000"/>
                        </a:lnSpc>
                      </a:pPr>
                      <a:r>
                        <a:rPr sz="900" b="0">
                          <a:solidFill>
                            <a:srgbClr val="5A504A"/>
                          </a:solidFill>
                          <a:latin typeface="Segoe UI"/>
                        </a:rPr>
                        <a:t>Active fosters posting ≥ 3 entries a week</a:t>
                      </a:r>
                    </a:p>
                  </a:txBody>
                  <a:tcPr marL="118872" marR="118872" marT="64008" marB="64008" anchor="ctr">
                    <a:solidFill>
                      <a:srgbClr val="F6F1E9"/>
                    </a:solidFill>
                  </a:tcPr>
                </a:tc>
                <a:tc>
                  <a:txBody>
                    <a:bodyPr wrap="square"/>
                    <a:lstStyle/>
                    <a:p>
                      <a:pPr>
                        <a:lnSpc>
                          <a:spcPct val="120000"/>
                        </a:lnSpc>
                      </a:pPr>
                      <a:r>
                        <a:rPr sz="900" b="0">
                          <a:solidFill>
                            <a:srgbClr val="5A504A"/>
                          </a:solidFill>
                          <a:latin typeface="Segoe UI"/>
                        </a:rPr>
                        <a:t>Launch KPI #1</a:t>
                      </a:r>
                    </a:p>
                  </a:txBody>
                  <a:tcPr marL="118872" marR="118872" marT="64008" marB="64008" anchor="ctr">
                    <a:solidFill>
                      <a:srgbClr val="F6F1E9"/>
                    </a:solidFill>
                  </a:tcPr>
                </a:tc>
              </a:tr>
              <a:tr h="365760">
                <a:tc>
                  <a:txBody>
                    <a:bodyPr wrap="square"/>
                    <a:lstStyle/>
                    <a:p>
                      <a:pPr>
                        <a:lnSpc>
                          <a:spcPct val="120000"/>
                        </a:lnSpc>
                      </a:pPr>
                      <a:r>
                        <a:rPr sz="900" b="1">
                          <a:solidFill>
                            <a:srgbClr val="1B1614"/>
                          </a:solidFill>
                          <a:latin typeface="Segoe UI"/>
                        </a:rPr>
                        <a:t>Foster health</a:t>
                      </a:r>
                    </a:p>
                  </a:txBody>
                  <a:tcPr marL="118872" marR="118872" marT="64008" marB="64008" anchor="ctr">
                    <a:solidFill>
                      <a:srgbClr val="FFFFFF"/>
                    </a:solidFill>
                  </a:tcPr>
                </a:tc>
                <a:tc>
                  <a:txBody>
                    <a:bodyPr wrap="square"/>
                    <a:lstStyle/>
                    <a:p>
                      <a:pPr>
                        <a:lnSpc>
                          <a:spcPct val="120000"/>
                        </a:lnSpc>
                      </a:pPr>
                      <a:r>
                        <a:rPr sz="900" b="0">
                          <a:solidFill>
                            <a:srgbClr val="5A504A"/>
                          </a:solidFill>
                          <a:latin typeface="Segoe UI"/>
                        </a:rPr>
                        <a:t>Check-in compliance</a:t>
                      </a:r>
                    </a:p>
                  </a:txBody>
                  <a:tcPr marL="118872" marR="118872" marT="64008" marB="64008" anchor="ctr">
                    <a:solidFill>
                      <a:srgbClr val="FFFFFF"/>
                    </a:solidFill>
                  </a:tcPr>
                </a:tc>
                <a:tc>
                  <a:txBody>
                    <a:bodyPr wrap="square"/>
                    <a:lstStyle/>
                    <a:p>
                      <a:pPr>
                        <a:lnSpc>
                          <a:spcPct val="120000"/>
                        </a:lnSpc>
                      </a:pPr>
                      <a:r>
                        <a:rPr sz="900" b="0">
                          <a:solidFill>
                            <a:srgbClr val="5A504A"/>
                          </a:solidFill>
                          <a:latin typeface="Segoe UI"/>
                        </a:rPr>
                        <a:t>Required check-ins completed on time, by tier</a:t>
                      </a:r>
                    </a:p>
                  </a:txBody>
                  <a:tcPr marL="118872" marR="118872" marT="64008" marB="64008" anchor="ctr">
                    <a:solidFill>
                      <a:srgbClr val="FFFFFF"/>
                    </a:solidFill>
                  </a:tcPr>
                </a:tc>
                <a:tc>
                  <a:txBody>
                    <a:bodyPr wrap="square"/>
                    <a:lstStyle/>
                    <a:p>
                      <a:pPr>
                        <a:lnSpc>
                          <a:spcPct val="120000"/>
                        </a:lnSpc>
                      </a:pPr>
                      <a:r>
                        <a:rPr sz="900" b="0">
                          <a:solidFill>
                            <a:srgbClr val="5A504A"/>
                          </a:solidFill>
                          <a:latin typeface="Segoe UI"/>
                        </a:rPr>
                        <a:t>Beginner ≥ 85%</a:t>
                      </a:r>
                    </a:p>
                  </a:txBody>
                  <a:tcPr marL="118872" marR="118872" marT="64008" marB="64008" anchor="ctr">
                    <a:solidFill>
                      <a:srgbClr val="FFFFFF"/>
                    </a:solidFill>
                  </a:tcPr>
                </a:tc>
              </a:tr>
              <a:tr h="365760">
                <a:tc>
                  <a:txBody>
                    <a:bodyPr wrap="square"/>
                    <a:lstStyle/>
                    <a:p>
                      <a:pPr>
                        <a:lnSpc>
                          <a:spcPct val="120000"/>
                        </a:lnSpc>
                      </a:pPr>
                      <a:r>
                        <a:rPr sz="900" b="1">
                          <a:solidFill>
                            <a:srgbClr val="1B1614"/>
                          </a:solidFill>
                          <a:latin typeface="Segoe UI"/>
                        </a:rPr>
                        <a:t>Foster health</a:t>
                      </a:r>
                    </a:p>
                  </a:txBody>
                  <a:tcPr marL="118872" marR="118872" marT="64008" marB="64008" anchor="ctr">
                    <a:solidFill>
                      <a:srgbClr val="F6F1E9"/>
                    </a:solidFill>
                  </a:tcPr>
                </a:tc>
                <a:tc>
                  <a:txBody>
                    <a:bodyPr wrap="square"/>
                    <a:lstStyle/>
                    <a:p>
                      <a:pPr>
                        <a:lnSpc>
                          <a:spcPct val="120000"/>
                        </a:lnSpc>
                      </a:pPr>
                      <a:r>
                        <a:rPr sz="900" b="0">
                          <a:solidFill>
                            <a:srgbClr val="5A504A"/>
                          </a:solidFill>
                          <a:latin typeface="Segoe UI"/>
                        </a:rPr>
                        <a:t>Failed placement rate</a:t>
                      </a:r>
                    </a:p>
                  </a:txBody>
                  <a:tcPr marL="118872" marR="118872" marT="64008" marB="64008" anchor="ctr">
                    <a:solidFill>
                      <a:srgbClr val="F6F1E9"/>
                    </a:solidFill>
                  </a:tcPr>
                </a:tc>
                <a:tc>
                  <a:txBody>
                    <a:bodyPr wrap="square"/>
                    <a:lstStyle/>
                    <a:p>
                      <a:pPr>
                        <a:lnSpc>
                          <a:spcPct val="120000"/>
                        </a:lnSpc>
                      </a:pPr>
                      <a:r>
                        <a:rPr sz="900" b="0">
                          <a:solidFill>
                            <a:srgbClr val="5A504A"/>
                          </a:solidFill>
                          <a:latin typeface="Segoe UI"/>
                        </a:rPr>
                        <a:t>Placements returned early</a:t>
                      </a:r>
                    </a:p>
                  </a:txBody>
                  <a:tcPr marL="118872" marR="118872" marT="64008" marB="64008" anchor="ctr">
                    <a:solidFill>
                      <a:srgbClr val="F6F1E9"/>
                    </a:solidFill>
                  </a:tcPr>
                </a:tc>
                <a:tc>
                  <a:txBody>
                    <a:bodyPr wrap="square"/>
                    <a:lstStyle/>
                    <a:p>
                      <a:pPr>
                        <a:lnSpc>
                          <a:spcPct val="120000"/>
                        </a:lnSpc>
                      </a:pPr>
                      <a:r>
                        <a:rPr sz="900" b="0">
                          <a:solidFill>
                            <a:srgbClr val="5A504A"/>
                          </a:solidFill>
                          <a:latin typeface="Segoe UI"/>
                        </a:rPr>
                        <a:t>Falling</a:t>
                      </a:r>
                    </a:p>
                  </a:txBody>
                  <a:tcPr marL="118872" marR="118872" marT="64008" marB="64008" anchor="ctr">
                    <a:solidFill>
                      <a:srgbClr val="F6F1E9"/>
                    </a:solidFill>
                  </a:tcPr>
                </a:tc>
              </a:tr>
              <a:tr h="365760">
                <a:tc>
                  <a:txBody>
                    <a:bodyPr wrap="square"/>
                    <a:lstStyle/>
                    <a:p>
                      <a:pPr>
                        <a:lnSpc>
                          <a:spcPct val="120000"/>
                        </a:lnSpc>
                      </a:pPr>
                      <a:r>
                        <a:rPr sz="900" b="1">
                          <a:solidFill>
                            <a:srgbClr val="1B1614"/>
                          </a:solidFill>
                          <a:latin typeface="Segoe UI"/>
                        </a:rPr>
                        <a:t>Shelter ops</a:t>
                      </a:r>
                    </a:p>
                  </a:txBody>
                  <a:tcPr marL="118872" marR="118872" marT="64008" marB="64008" anchor="ctr">
                    <a:solidFill>
                      <a:srgbClr val="FFFFFF"/>
                    </a:solidFill>
                  </a:tcPr>
                </a:tc>
                <a:tc>
                  <a:txBody>
                    <a:bodyPr wrap="square"/>
                    <a:lstStyle/>
                    <a:p>
                      <a:pPr>
                        <a:lnSpc>
                          <a:spcPct val="120000"/>
                        </a:lnSpc>
                      </a:pPr>
                      <a:r>
                        <a:rPr sz="900" b="0">
                          <a:solidFill>
                            <a:srgbClr val="5A504A"/>
                          </a:solidFill>
                          <a:latin typeface="Segoe UI"/>
                        </a:rPr>
                        <a:t>Length of stay</a:t>
                      </a:r>
                    </a:p>
                  </a:txBody>
                  <a:tcPr marL="118872" marR="118872" marT="64008" marB="64008" anchor="ctr">
                    <a:solidFill>
                      <a:srgbClr val="FFFFFF"/>
                    </a:solidFill>
                  </a:tcPr>
                </a:tc>
                <a:tc>
                  <a:txBody>
                    <a:bodyPr wrap="square"/>
                    <a:lstStyle/>
                    <a:p>
                      <a:pPr>
                        <a:lnSpc>
                          <a:spcPct val="120000"/>
                        </a:lnSpc>
                      </a:pPr>
                      <a:r>
                        <a:rPr sz="900" b="0">
                          <a:solidFill>
                            <a:srgbClr val="5A504A"/>
                          </a:solidFill>
                          <a:latin typeface="Segoe UI"/>
                        </a:rPr>
                        <a:t>Days from intake to adoption</a:t>
                      </a:r>
                    </a:p>
                  </a:txBody>
                  <a:tcPr marL="118872" marR="118872" marT="64008" marB="64008" anchor="ctr">
                    <a:solidFill>
                      <a:srgbClr val="FFFFFF"/>
                    </a:solidFill>
                  </a:tcPr>
                </a:tc>
                <a:tc>
                  <a:txBody>
                    <a:bodyPr wrap="square"/>
                    <a:lstStyle/>
                    <a:p>
                      <a:pPr>
                        <a:lnSpc>
                          <a:spcPct val="120000"/>
                        </a:lnSpc>
                      </a:pPr>
                      <a:r>
                        <a:rPr sz="900" b="0">
                          <a:solidFill>
                            <a:srgbClr val="5A504A"/>
                          </a:solidFill>
                          <a:latin typeface="Segoe UI"/>
                        </a:rPr>
                        <a:t>−15%</a:t>
                      </a:r>
                    </a:p>
                  </a:txBody>
                  <a:tcPr marL="118872" marR="118872" marT="64008" marB="64008" anchor="ctr">
                    <a:solidFill>
                      <a:srgbClr val="FFFFFF"/>
                    </a:solidFill>
                  </a:tcPr>
                </a:tc>
              </a:tr>
              <a:tr h="365760">
                <a:tc>
                  <a:txBody>
                    <a:bodyPr wrap="square"/>
                    <a:lstStyle/>
                    <a:p>
                      <a:pPr>
                        <a:lnSpc>
                          <a:spcPct val="120000"/>
                        </a:lnSpc>
                      </a:pPr>
                      <a:r>
                        <a:rPr sz="900" b="1">
                          <a:solidFill>
                            <a:srgbClr val="1B1614"/>
                          </a:solidFill>
                          <a:latin typeface="Segoe UI"/>
                        </a:rPr>
                        <a:t>Shelter ops</a:t>
                      </a:r>
                    </a:p>
                  </a:txBody>
                  <a:tcPr marL="118872" marR="118872" marT="64008" marB="64008" anchor="ctr">
                    <a:solidFill>
                      <a:srgbClr val="F6F1E9"/>
                    </a:solidFill>
                  </a:tcPr>
                </a:tc>
                <a:tc>
                  <a:txBody>
                    <a:bodyPr wrap="square"/>
                    <a:lstStyle/>
                    <a:p>
                      <a:pPr>
                        <a:lnSpc>
                          <a:spcPct val="120000"/>
                        </a:lnSpc>
                      </a:pPr>
                      <a:r>
                        <a:rPr sz="900" b="0">
                          <a:solidFill>
                            <a:srgbClr val="5A504A"/>
                          </a:solidFill>
                          <a:latin typeface="Segoe UI"/>
                        </a:rPr>
                        <a:t>Record completeness</a:t>
                      </a:r>
                    </a:p>
                  </a:txBody>
                  <a:tcPr marL="118872" marR="118872" marT="64008" marB="64008" anchor="ctr">
                    <a:solidFill>
                      <a:srgbClr val="F6F1E9"/>
                    </a:solidFill>
                  </a:tcPr>
                </a:tc>
                <a:tc>
                  <a:txBody>
                    <a:bodyPr wrap="square"/>
                    <a:lstStyle/>
                    <a:p>
                      <a:pPr>
                        <a:lnSpc>
                          <a:spcPct val="120000"/>
                        </a:lnSpc>
                      </a:pPr>
                      <a:r>
                        <a:rPr sz="900" b="0">
                          <a:solidFill>
                            <a:srgbClr val="5A504A"/>
                          </a:solidFill>
                          <a:latin typeface="Segoe UI"/>
                        </a:rPr>
                        <a:t>Intake, medical, microchip and outcome fully populated</a:t>
                      </a:r>
                    </a:p>
                  </a:txBody>
                  <a:tcPr marL="118872" marR="118872" marT="64008" marB="64008" anchor="ctr">
                    <a:solidFill>
                      <a:srgbClr val="F6F1E9"/>
                    </a:solidFill>
                  </a:tcPr>
                </a:tc>
                <a:tc>
                  <a:txBody>
                    <a:bodyPr wrap="square"/>
                    <a:lstStyle/>
                    <a:p>
                      <a:pPr>
                        <a:lnSpc>
                          <a:spcPct val="120000"/>
                        </a:lnSpc>
                      </a:pPr>
                      <a:r>
                        <a:rPr sz="900" b="0">
                          <a:solidFill>
                            <a:srgbClr val="5A504A"/>
                          </a:solidFill>
                          <a:latin typeface="Segoe UI"/>
                        </a:rPr>
                        <a:t>≥ 95%</a:t>
                      </a:r>
                    </a:p>
                  </a:txBody>
                  <a:tcPr marL="118872" marR="118872" marT="64008" marB="64008" anchor="ctr">
                    <a:solidFill>
                      <a:srgbClr val="F6F1E9"/>
                    </a:solidFill>
                  </a:tcPr>
                </a:tc>
              </a:tr>
              <a:tr h="365760">
                <a:tc>
                  <a:txBody>
                    <a:bodyPr wrap="square"/>
                    <a:lstStyle/>
                    <a:p>
                      <a:pPr>
                        <a:lnSpc>
                          <a:spcPct val="120000"/>
                        </a:lnSpc>
                      </a:pPr>
                      <a:r>
                        <a:rPr sz="900" b="1">
                          <a:solidFill>
                            <a:srgbClr val="1B1614"/>
                          </a:solidFill>
                          <a:latin typeface="Segoe UI"/>
                        </a:rPr>
                        <a:t>AI health</a:t>
                      </a:r>
                    </a:p>
                  </a:txBody>
                  <a:tcPr marL="118872" marR="118872" marT="64008" marB="64008" anchor="ctr">
                    <a:solidFill>
                      <a:srgbClr val="FFFFFF"/>
                    </a:solidFill>
                  </a:tcPr>
                </a:tc>
                <a:tc>
                  <a:txBody>
                    <a:bodyPr wrap="square"/>
                    <a:lstStyle/>
                    <a:p>
                      <a:pPr>
                        <a:lnSpc>
                          <a:spcPct val="120000"/>
                        </a:lnSpc>
                      </a:pPr>
                      <a:r>
                        <a:rPr sz="900" b="0">
                          <a:solidFill>
                            <a:srgbClr val="5A504A"/>
                          </a:solidFill>
                          <a:latin typeface="Segoe UI"/>
                        </a:rPr>
                        <a:t>Suggestion acceptance rate</a:t>
                      </a:r>
                    </a:p>
                  </a:txBody>
                  <a:tcPr marL="118872" marR="118872" marT="64008" marB="64008" anchor="ctr">
                    <a:solidFill>
                      <a:srgbClr val="FFFFFF"/>
                    </a:solidFill>
                  </a:tcPr>
                </a:tc>
                <a:tc>
                  <a:txBody>
                    <a:bodyPr wrap="square"/>
                    <a:lstStyle/>
                    <a:p>
                      <a:pPr>
                        <a:lnSpc>
                          <a:spcPct val="120000"/>
                        </a:lnSpc>
                      </a:pPr>
                      <a:r>
                        <a:rPr sz="900" b="0">
                          <a:solidFill>
                            <a:srgbClr val="5A504A"/>
                          </a:solidFill>
                          <a:latin typeface="Segoe UI"/>
                        </a:rPr>
                        <a:t>Accepted ÷ (accepted + rejected), per capability</a:t>
                      </a:r>
                    </a:p>
                  </a:txBody>
                  <a:tcPr marL="118872" marR="118872" marT="64008" marB="64008" anchor="ctr">
                    <a:solidFill>
                      <a:srgbClr val="FFFFFF"/>
                    </a:solidFill>
                  </a:tcPr>
                </a:tc>
                <a:tc>
                  <a:txBody>
                    <a:bodyPr wrap="square"/>
                    <a:lstStyle/>
                    <a:p>
                      <a:pPr>
                        <a:lnSpc>
                          <a:spcPct val="120000"/>
                        </a:lnSpc>
                      </a:pPr>
                      <a:r>
                        <a:rPr sz="900" b="0">
                          <a:solidFill>
                            <a:srgbClr val="5A504A"/>
                          </a:solidFill>
                          <a:latin typeface="Segoe UI"/>
                        </a:rPr>
                        <a:t>Kill switch &lt; 50%</a:t>
                      </a:r>
                    </a:p>
                  </a:txBody>
                  <a:tcPr marL="118872" marR="118872" marT="64008" marB="64008" anchor="ctr">
                    <a:solidFill>
                      <a:srgbClr val="FFFFFF"/>
                    </a:solidFill>
                  </a:tcPr>
                </a:tc>
              </a:tr>
            </a:tbl>
          </a:graphicData>
        </a:graphic>
      </p:graphicFrame>
      <p:sp>
        <p:nvSpPr>
          <p:cNvPr id="7" name="TextBox 6"/>
          <p:cNvSpPr txBox="1"/>
          <p:nvPr/>
        </p:nvSpPr>
        <p:spPr>
          <a:xfrm>
            <a:off x="777240" y="6345936"/>
            <a:ext cx="7315200" cy="274320"/>
          </a:xfrm>
          <a:prstGeom prst="rect">
            <a:avLst/>
          </a:prstGeom>
          <a:noFill/>
        </p:spPr>
        <p:txBody>
          <a:bodyPr wrap="square" anchor="t" lIns="0" rIns="0" tIns="0" bIns="0">
            <a:spAutoFit/>
          </a:bodyPr>
          <a:lstStyle/>
          <a:p>
            <a:pPr algn="l">
              <a:lnSpc>
                <a:spcPct val="100000"/>
              </a:lnSpc>
            </a:pPr>
            <a:r>
              <a:rPr sz="900" b="0" i="0">
                <a:solidFill>
                  <a:srgbClr val="7C6F66"/>
                </a:solidFill>
                <a:latin typeface="Segoe UI"/>
              </a:rPr>
              <a:t>The Foster Pack  ·  Confidential</a:t>
            </a:r>
          </a:p>
        </p:txBody>
      </p:sp>
      <p:sp>
        <p:nvSpPr>
          <p:cNvPr id="8" name="TextBox 7"/>
          <p:cNvSpPr txBox="1"/>
          <p:nvPr/>
        </p:nvSpPr>
        <p:spPr>
          <a:xfrm>
            <a:off x="10515600" y="6345936"/>
            <a:ext cx="896112" cy="274320"/>
          </a:xfrm>
          <a:prstGeom prst="rect">
            <a:avLst/>
          </a:prstGeom>
          <a:noFill/>
        </p:spPr>
        <p:txBody>
          <a:bodyPr wrap="square" anchor="t" lIns="0" rIns="0" tIns="0" bIns="0">
            <a:spAutoFit/>
          </a:bodyPr>
          <a:lstStyle/>
          <a:p>
            <a:pPr algn="r">
              <a:lnSpc>
                <a:spcPct val="100000"/>
              </a:lnSpc>
            </a:pPr>
            <a:r>
              <a:rPr sz="900" b="1" i="0">
                <a:solidFill>
                  <a:srgbClr val="7C6F66"/>
                </a:solidFill>
                <a:latin typeface="Segoe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30352"/>
            <a:ext cx="10637215" cy="274320"/>
          </a:xfrm>
          <a:prstGeom prst="rect">
            <a:avLst/>
          </a:prstGeom>
          <a:noFill/>
        </p:spPr>
        <p:txBody>
          <a:bodyPr wrap="square" anchor="t" lIns="0" rIns="0" tIns="0" bIns="0">
            <a:spAutoFit/>
          </a:bodyPr>
          <a:lstStyle/>
          <a:p>
            <a:pPr algn="l">
              <a:lnSpc>
                <a:spcPct val="100000"/>
              </a:lnSpc>
            </a:pPr>
            <a:r>
              <a:rPr sz="1050" b="1" i="0" spc="190">
                <a:solidFill>
                  <a:srgbClr val="0F6E63"/>
                </a:solidFill>
                <a:latin typeface="Segoe UI"/>
              </a:rPr>
              <a:t>LIVES IMPACT</a:t>
            </a:r>
          </a:p>
        </p:txBody>
      </p:sp>
      <p:sp>
        <p:nvSpPr>
          <p:cNvPr id="4" name="TextBox 3"/>
          <p:cNvSpPr txBox="1"/>
          <p:nvPr/>
        </p:nvSpPr>
        <p:spPr>
          <a:xfrm>
            <a:off x="777240" y="841248"/>
            <a:ext cx="10637215" cy="1371600"/>
          </a:xfrm>
          <a:prstGeom prst="rect">
            <a:avLst/>
          </a:prstGeom>
          <a:noFill/>
        </p:spPr>
        <p:txBody>
          <a:bodyPr wrap="square" anchor="t" lIns="0" rIns="0" tIns="0" bIns="0">
            <a:spAutoFit/>
          </a:bodyPr>
          <a:lstStyle/>
          <a:p>
            <a:pPr algn="l">
              <a:lnSpc>
                <a:spcPct val="108000"/>
              </a:lnSpc>
            </a:pPr>
            <a:r>
              <a:rPr sz="3600" b="1" i="0">
                <a:solidFill>
                  <a:srgbClr val="1B1614"/>
                </a:solidFill>
                <a:latin typeface="Segoe UI"/>
              </a:rPr>
              <a:t>+118 dogs a year, per shelter.</a:t>
            </a:r>
          </a:p>
        </p:txBody>
      </p:sp>
      <p:sp>
        <p:nvSpPr>
          <p:cNvPr id="5" name="TextBox 4"/>
          <p:cNvSpPr txBox="1"/>
          <p:nvPr/>
        </p:nvSpPr>
        <p:spPr>
          <a:xfrm>
            <a:off x="777240" y="1719072"/>
            <a:ext cx="9692640" cy="914400"/>
          </a:xfrm>
          <a:prstGeom prst="rect">
            <a:avLst/>
          </a:prstGeom>
          <a:noFill/>
        </p:spPr>
        <p:txBody>
          <a:bodyPr wrap="square" anchor="t" lIns="0" rIns="0" tIns="0" bIns="0">
            <a:spAutoFit/>
          </a:bodyPr>
          <a:lstStyle/>
          <a:p>
            <a:pPr algn="l">
              <a:lnSpc>
                <a:spcPct val="142000"/>
              </a:lnSpc>
            </a:pPr>
            <a:r>
              <a:rPr sz="1450" b="0" i="0">
                <a:solidFill>
                  <a:srgbClr val="5A504A"/>
                </a:solidFill>
                <a:latin typeface="Segoe UI"/>
              </a:rPr>
              <a:t>Modelled on the SFSPCA-scale seed: 250 dogs, 120 fosters, 200 volunteers, 45-day average length of stay.</a:t>
            </a:r>
          </a:p>
        </p:txBody>
      </p:sp>
      <p:sp>
        <p:nvSpPr>
          <p:cNvPr id="6" name="Rounded Rectangle 5"/>
          <p:cNvSpPr/>
          <p:nvPr/>
        </p:nvSpPr>
        <p:spPr>
          <a:xfrm>
            <a:off x="777240" y="2286000"/>
            <a:ext cx="3392424" cy="3127248"/>
          </a:xfrm>
          <a:prstGeom prst="roundRect">
            <a:avLst>
              <a:gd name="adj" fmla="val 5000"/>
            </a:avLst>
          </a:prstGeom>
          <a:solidFill>
            <a:srgbClr val="FFFFFF"/>
          </a:solidFill>
          <a:ln w="12700">
            <a:solidFill>
              <a:srgbClr val="E4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86000"/>
            <a:ext cx="3392424" cy="43180"/>
          </a:xfrm>
          <a:prstGeom prst="rect">
            <a:avLst/>
          </a:prstGeom>
          <a:solidFill>
            <a:srgbClr val="0F6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2505456"/>
            <a:ext cx="2916936" cy="237744"/>
          </a:xfrm>
          <a:prstGeom prst="rect">
            <a:avLst/>
          </a:prstGeom>
          <a:noFill/>
        </p:spPr>
        <p:txBody>
          <a:bodyPr wrap="square" anchor="t" lIns="0" rIns="0" tIns="0" bIns="0">
            <a:spAutoFit/>
          </a:bodyPr>
          <a:lstStyle/>
          <a:p>
            <a:pPr algn="l">
              <a:lnSpc>
                <a:spcPct val="100000"/>
              </a:lnSpc>
            </a:pPr>
            <a:r>
              <a:rPr sz="1000" b="1" i="0" spc="180">
                <a:solidFill>
                  <a:srgbClr val="0F6E63"/>
                </a:solidFill>
                <a:latin typeface="Segoe UI"/>
              </a:rPr>
              <a:t>A</a:t>
            </a:r>
          </a:p>
        </p:txBody>
      </p:sp>
      <p:sp>
        <p:nvSpPr>
          <p:cNvPr id="9" name="TextBox 8"/>
          <p:cNvSpPr txBox="1"/>
          <p:nvPr/>
        </p:nvSpPr>
        <p:spPr>
          <a:xfrm>
            <a:off x="1014984" y="2761488"/>
            <a:ext cx="2916936" cy="512064"/>
          </a:xfrm>
          <a:prstGeom prst="rect">
            <a:avLst/>
          </a:prstGeom>
          <a:noFill/>
        </p:spPr>
        <p:txBody>
          <a:bodyPr wrap="square" anchor="t" lIns="0" rIns="0" tIns="0" bIns="0">
            <a:spAutoFit/>
          </a:bodyPr>
          <a:lstStyle/>
          <a:p>
            <a:pPr algn="l">
              <a:lnSpc>
                <a:spcPct val="116000"/>
              </a:lnSpc>
            </a:pPr>
            <a:r>
              <a:rPr sz="1350" b="1" i="0">
                <a:solidFill>
                  <a:srgbClr val="1B1614"/>
                </a:solidFill>
                <a:latin typeface="Segoe UI"/>
              </a:rPr>
              <a:t>More durable foster homes</a:t>
            </a:r>
          </a:p>
        </p:txBody>
      </p:sp>
      <p:sp>
        <p:nvSpPr>
          <p:cNvPr id="10" name="TextBox 9"/>
          <p:cNvSpPr txBox="1"/>
          <p:nvPr/>
        </p:nvSpPr>
        <p:spPr>
          <a:xfrm>
            <a:off x="1014984" y="3346704"/>
            <a:ext cx="2916936" cy="1554480"/>
          </a:xfrm>
          <a:prstGeom prst="rect">
            <a:avLst/>
          </a:prstGeom>
          <a:noFill/>
        </p:spPr>
        <p:txBody>
          <a:bodyPr wrap="square" anchor="t" lIns="0" rIns="0" tIns="0" bIns="0">
            <a:spAutoFit/>
          </a:bodyPr>
          <a:lstStyle/>
          <a:p>
            <a:pPr algn="l">
              <a:lnSpc>
                <a:spcPct val="138000"/>
              </a:lnSpc>
            </a:pPr>
            <a:r>
              <a:rPr sz="980" b="0" i="0">
                <a:solidFill>
                  <a:srgbClr val="5A504A"/>
                </a:solidFill>
                <a:latin typeface="Segoe UI"/>
              </a:rPr>
              <a:t>Social and forum reach lifts recruitment 60 → 78 new fosters a year. Fast onboarding, mentor pairing and week-one support lift the second-placement rate from 40% to 65%.</a:t>
            </a:r>
          </a:p>
          <a:p>
            <a:pPr algn="l">
              <a:lnSpc>
                <a:spcPct val="138000"/>
              </a:lnSpc>
            </a:pPr>
            <a:r>
              <a:rPr sz="980" b="0" i="0">
                <a:solidFill>
                  <a:srgbClr val="5A504A"/>
                </a:solidFill>
                <a:latin typeface="Segoe UI"/>
              </a:rPr>
              <a:t/>
            </a:r>
          </a:p>
          <a:p>
            <a:pPr algn="l">
              <a:lnSpc>
                <a:spcPct val="138000"/>
              </a:lnSpc>
            </a:pPr>
            <a:r>
              <a:rPr sz="980" b="0" i="0">
                <a:solidFill>
                  <a:srgbClr val="5A504A"/>
                </a:solidFill>
                <a:latin typeface="Segoe UI"/>
              </a:rPr>
              <a:t>Durable homes: 24 → 51  (+27)</a:t>
            </a:r>
          </a:p>
          <a:p>
            <a:pPr algn="l">
              <a:lnSpc>
                <a:spcPct val="138000"/>
              </a:lnSpc>
            </a:pPr>
            <a:r>
              <a:rPr sz="980" b="0" i="0">
                <a:solidFill>
                  <a:srgbClr val="5A504A"/>
                </a:solidFill>
                <a:latin typeface="Segoe UI"/>
              </a:rPr>
              <a:t>At ~3 placements per home per year</a:t>
            </a:r>
          </a:p>
        </p:txBody>
      </p:sp>
      <p:sp>
        <p:nvSpPr>
          <p:cNvPr id="11" name="TextBox 10"/>
          <p:cNvSpPr txBox="1"/>
          <p:nvPr/>
        </p:nvSpPr>
        <p:spPr>
          <a:xfrm>
            <a:off x="1014984" y="4901184"/>
            <a:ext cx="2916936" cy="365760"/>
          </a:xfrm>
          <a:prstGeom prst="rect">
            <a:avLst/>
          </a:prstGeom>
          <a:noFill/>
        </p:spPr>
        <p:txBody>
          <a:bodyPr wrap="square" anchor="t" lIns="0" rIns="0" tIns="0" bIns="0">
            <a:spAutoFit/>
          </a:bodyPr>
          <a:lstStyle/>
          <a:p>
            <a:pPr algn="l">
              <a:lnSpc>
                <a:spcPct val="120000"/>
              </a:lnSpc>
            </a:pPr>
            <a:r>
              <a:rPr sz="1250" b="1" i="0">
                <a:solidFill>
                  <a:srgbClr val="0F6E63"/>
                </a:solidFill>
                <a:latin typeface="Segoe UI"/>
              </a:rPr>
              <a:t>+81 dogs into foster</a:t>
            </a:r>
          </a:p>
        </p:txBody>
      </p:sp>
      <p:sp>
        <p:nvSpPr>
          <p:cNvPr id="12" name="Rounded Rectangle 11"/>
          <p:cNvSpPr/>
          <p:nvPr/>
        </p:nvSpPr>
        <p:spPr>
          <a:xfrm>
            <a:off x="4407408" y="2286000"/>
            <a:ext cx="3392424" cy="3127248"/>
          </a:xfrm>
          <a:prstGeom prst="roundRect">
            <a:avLst>
              <a:gd name="adj" fmla="val 5000"/>
            </a:avLst>
          </a:prstGeom>
          <a:solidFill>
            <a:srgbClr val="FFFFFF"/>
          </a:solidFill>
          <a:ln w="12700">
            <a:solidFill>
              <a:srgbClr val="E4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7408" y="2286000"/>
            <a:ext cx="3392424" cy="43180"/>
          </a:xfrm>
          <a:prstGeom prst="rect">
            <a:avLst/>
          </a:prstGeom>
          <a:solidFill>
            <a:srgbClr val="F0A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45152" y="2505456"/>
            <a:ext cx="2916936" cy="237744"/>
          </a:xfrm>
          <a:prstGeom prst="rect">
            <a:avLst/>
          </a:prstGeom>
          <a:noFill/>
        </p:spPr>
        <p:txBody>
          <a:bodyPr wrap="square" anchor="t" lIns="0" rIns="0" tIns="0" bIns="0">
            <a:spAutoFit/>
          </a:bodyPr>
          <a:lstStyle/>
          <a:p>
            <a:pPr algn="l">
              <a:lnSpc>
                <a:spcPct val="100000"/>
              </a:lnSpc>
            </a:pPr>
            <a:r>
              <a:rPr sz="1000" b="1" i="0" spc="180">
                <a:solidFill>
                  <a:srgbClr val="F0A544"/>
                </a:solidFill>
                <a:latin typeface="Segoe UI"/>
              </a:rPr>
              <a:t>B</a:t>
            </a:r>
          </a:p>
        </p:txBody>
      </p:sp>
      <p:sp>
        <p:nvSpPr>
          <p:cNvPr id="15" name="TextBox 14"/>
          <p:cNvSpPr txBox="1"/>
          <p:nvPr/>
        </p:nvSpPr>
        <p:spPr>
          <a:xfrm>
            <a:off x="4645152" y="2761488"/>
            <a:ext cx="2916936" cy="512064"/>
          </a:xfrm>
          <a:prstGeom prst="rect">
            <a:avLst/>
          </a:prstGeom>
          <a:noFill/>
        </p:spPr>
        <p:txBody>
          <a:bodyPr wrap="square" anchor="t" lIns="0" rIns="0" tIns="0" bIns="0">
            <a:spAutoFit/>
          </a:bodyPr>
          <a:lstStyle/>
          <a:p>
            <a:pPr algn="l">
              <a:lnSpc>
                <a:spcPct val="116000"/>
              </a:lnSpc>
            </a:pPr>
            <a:r>
              <a:rPr sz="1350" b="1" i="0">
                <a:solidFill>
                  <a:srgbClr val="1B1614"/>
                </a:solidFill>
                <a:latin typeface="Segoe UI"/>
              </a:rPr>
              <a:t>Faster adoptions free the building</a:t>
            </a:r>
          </a:p>
        </p:txBody>
      </p:sp>
      <p:sp>
        <p:nvSpPr>
          <p:cNvPr id="16" name="TextBox 15"/>
          <p:cNvSpPr txBox="1"/>
          <p:nvPr/>
        </p:nvSpPr>
        <p:spPr>
          <a:xfrm>
            <a:off x="4645152" y="3346704"/>
            <a:ext cx="2916936" cy="1554480"/>
          </a:xfrm>
          <a:prstGeom prst="rect">
            <a:avLst/>
          </a:prstGeom>
          <a:noFill/>
        </p:spPr>
        <p:txBody>
          <a:bodyPr wrap="square" anchor="t" lIns="0" rIns="0" tIns="0" bIns="0">
            <a:spAutoFit/>
          </a:bodyPr>
          <a:lstStyle/>
          <a:p>
            <a:pPr algn="l">
              <a:lnSpc>
                <a:spcPct val="138000"/>
              </a:lnSpc>
            </a:pPr>
            <a:r>
              <a:rPr sz="980" b="0" i="0">
                <a:solidFill>
                  <a:srgbClr val="5A504A"/>
                </a:solidFill>
                <a:latin typeface="Segoe UI"/>
              </a:rPr>
              <a:t>Evidence-linked behavioural profiles and better first-time matching cut length of stay by 15% across 250 dogs.</a:t>
            </a:r>
          </a:p>
          <a:p>
            <a:pPr algn="l">
              <a:lnSpc>
                <a:spcPct val="138000"/>
              </a:lnSpc>
            </a:pPr>
            <a:r>
              <a:rPr sz="980" b="0" i="0">
                <a:solidFill>
                  <a:srgbClr val="5A504A"/>
                </a:solidFill>
                <a:latin typeface="Segoe UI"/>
              </a:rPr>
              <a:t/>
            </a:r>
          </a:p>
          <a:p>
            <a:pPr algn="l">
              <a:lnSpc>
                <a:spcPct val="138000"/>
              </a:lnSpc>
            </a:pPr>
            <a:r>
              <a:rPr sz="980" b="0" i="0">
                <a:solidFill>
                  <a:srgbClr val="5A504A"/>
                </a:solidFill>
                <a:latin typeface="Segoe UI"/>
              </a:rPr>
              <a:t>11,250 kennel-days → 1,690 days freed</a:t>
            </a:r>
          </a:p>
          <a:p>
            <a:pPr algn="l">
              <a:lnSpc>
                <a:spcPct val="138000"/>
              </a:lnSpc>
            </a:pPr>
            <a:r>
              <a:rPr sz="980" b="0" i="0">
                <a:solidFill>
                  <a:srgbClr val="5A504A"/>
                </a:solidFill>
                <a:latin typeface="Segoe UI"/>
              </a:rPr>
              <a:t>At 45 days per dog</a:t>
            </a:r>
          </a:p>
        </p:txBody>
      </p:sp>
      <p:sp>
        <p:nvSpPr>
          <p:cNvPr id="17" name="TextBox 16"/>
          <p:cNvSpPr txBox="1"/>
          <p:nvPr/>
        </p:nvSpPr>
        <p:spPr>
          <a:xfrm>
            <a:off x="4645152" y="4901184"/>
            <a:ext cx="2916936" cy="365760"/>
          </a:xfrm>
          <a:prstGeom prst="rect">
            <a:avLst/>
          </a:prstGeom>
          <a:noFill/>
        </p:spPr>
        <p:txBody>
          <a:bodyPr wrap="square" anchor="t" lIns="0" rIns="0" tIns="0" bIns="0">
            <a:spAutoFit/>
          </a:bodyPr>
          <a:lstStyle/>
          <a:p>
            <a:pPr algn="l">
              <a:lnSpc>
                <a:spcPct val="120000"/>
              </a:lnSpc>
            </a:pPr>
            <a:r>
              <a:rPr sz="1250" b="1" i="0">
                <a:solidFill>
                  <a:srgbClr val="F0A544"/>
                </a:solidFill>
                <a:latin typeface="Segoe UI"/>
              </a:rPr>
              <a:t>+37 dogs through the same kennels</a:t>
            </a:r>
          </a:p>
        </p:txBody>
      </p:sp>
      <p:sp>
        <p:nvSpPr>
          <p:cNvPr id="18" name="Rounded Rectangle 17"/>
          <p:cNvSpPr/>
          <p:nvPr/>
        </p:nvSpPr>
        <p:spPr>
          <a:xfrm>
            <a:off x="8037576" y="2286000"/>
            <a:ext cx="3392424" cy="3127248"/>
          </a:xfrm>
          <a:prstGeom prst="roundRect">
            <a:avLst>
              <a:gd name="adj" fmla="val 5000"/>
            </a:avLst>
          </a:prstGeom>
          <a:solidFill>
            <a:srgbClr val="FFFFFF"/>
          </a:solidFill>
          <a:ln w="12700">
            <a:solidFill>
              <a:srgbClr val="E4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37576" y="2286000"/>
            <a:ext cx="3392424" cy="43180"/>
          </a:xfrm>
          <a:prstGeom prst="rect">
            <a:avLst/>
          </a:prstGeom>
          <a:solidFill>
            <a:srgbClr val="C4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2505456"/>
            <a:ext cx="2916936" cy="237744"/>
          </a:xfrm>
          <a:prstGeom prst="rect">
            <a:avLst/>
          </a:prstGeom>
          <a:noFill/>
        </p:spPr>
        <p:txBody>
          <a:bodyPr wrap="square" anchor="t" lIns="0" rIns="0" tIns="0" bIns="0">
            <a:spAutoFit/>
          </a:bodyPr>
          <a:lstStyle/>
          <a:p>
            <a:pPr algn="l">
              <a:lnSpc>
                <a:spcPct val="100000"/>
              </a:lnSpc>
            </a:pPr>
            <a:r>
              <a:rPr sz="1000" b="1" i="0" spc="180">
                <a:solidFill>
                  <a:srgbClr val="C4553D"/>
                </a:solidFill>
                <a:latin typeface="Segoe UI"/>
              </a:rPr>
              <a:t>C</a:t>
            </a:r>
          </a:p>
        </p:txBody>
      </p:sp>
      <p:sp>
        <p:nvSpPr>
          <p:cNvPr id="21" name="TextBox 20"/>
          <p:cNvSpPr txBox="1"/>
          <p:nvPr/>
        </p:nvSpPr>
        <p:spPr>
          <a:xfrm>
            <a:off x="8275320" y="2761488"/>
            <a:ext cx="2916936" cy="512064"/>
          </a:xfrm>
          <a:prstGeom prst="rect">
            <a:avLst/>
          </a:prstGeom>
          <a:noFill/>
        </p:spPr>
        <p:txBody>
          <a:bodyPr wrap="square" anchor="t" lIns="0" rIns="0" tIns="0" bIns="0">
            <a:spAutoFit/>
          </a:bodyPr>
          <a:lstStyle/>
          <a:p>
            <a:pPr algn="l">
              <a:lnSpc>
                <a:spcPct val="116000"/>
              </a:lnSpc>
            </a:pPr>
            <a:r>
              <a:rPr sz="1350" b="1" i="0">
                <a:solidFill>
                  <a:srgbClr val="1B1614"/>
                </a:solidFill>
                <a:latin typeface="Segoe UI"/>
              </a:rPr>
              <a:t>Compounding effect</a:t>
            </a:r>
          </a:p>
        </p:txBody>
      </p:sp>
      <p:sp>
        <p:nvSpPr>
          <p:cNvPr id="22" name="TextBox 21"/>
          <p:cNvSpPr txBox="1"/>
          <p:nvPr/>
        </p:nvSpPr>
        <p:spPr>
          <a:xfrm>
            <a:off x="8275320" y="3346704"/>
            <a:ext cx="2916936" cy="1554480"/>
          </a:xfrm>
          <a:prstGeom prst="rect">
            <a:avLst/>
          </a:prstGeom>
          <a:noFill/>
        </p:spPr>
        <p:txBody>
          <a:bodyPr wrap="square" anchor="t" lIns="0" rIns="0" tIns="0" bIns="0">
            <a:spAutoFit/>
          </a:bodyPr>
          <a:lstStyle/>
          <a:p>
            <a:pPr algn="l">
              <a:lnSpc>
                <a:spcPct val="138000"/>
              </a:lnSpc>
            </a:pPr>
            <a:r>
              <a:rPr sz="980" b="0" i="0">
                <a:solidFill>
                  <a:srgbClr val="5A504A"/>
                </a:solidFill>
                <a:latin typeface="Segoe UI"/>
              </a:rPr>
              <a:t>1.2 coordinators handed back are reinvested into recruitment and support, which raises A again the following year.</a:t>
            </a:r>
          </a:p>
          <a:p>
            <a:pPr algn="l">
              <a:lnSpc>
                <a:spcPct val="138000"/>
              </a:lnSpc>
            </a:pPr>
            <a:r>
              <a:rPr sz="980" b="0" i="0">
                <a:solidFill>
                  <a:srgbClr val="5A504A"/>
                </a:solidFill>
                <a:latin typeface="Segoe UI"/>
              </a:rPr>
              <a:t/>
            </a:r>
          </a:p>
          <a:p>
            <a:pPr algn="l">
              <a:lnSpc>
                <a:spcPct val="138000"/>
              </a:lnSpc>
            </a:pPr>
            <a:r>
              <a:rPr sz="980" b="0" i="0">
                <a:solidFill>
                  <a:srgbClr val="5A504A"/>
                </a:solidFill>
                <a:latin typeface="Segoe UI"/>
              </a:rPr>
              <a:t>Year two builds on a larger, better-retained base — the model above is deliberately single-year and does not price this in.</a:t>
            </a:r>
          </a:p>
        </p:txBody>
      </p:sp>
      <p:sp>
        <p:nvSpPr>
          <p:cNvPr id="23" name="TextBox 22"/>
          <p:cNvSpPr txBox="1"/>
          <p:nvPr/>
        </p:nvSpPr>
        <p:spPr>
          <a:xfrm>
            <a:off x="8275320" y="4901184"/>
            <a:ext cx="2916936" cy="365760"/>
          </a:xfrm>
          <a:prstGeom prst="rect">
            <a:avLst/>
          </a:prstGeom>
          <a:noFill/>
        </p:spPr>
        <p:txBody>
          <a:bodyPr wrap="square" anchor="t" lIns="0" rIns="0" tIns="0" bIns="0">
            <a:spAutoFit/>
          </a:bodyPr>
          <a:lstStyle/>
          <a:p>
            <a:pPr algn="l">
              <a:lnSpc>
                <a:spcPct val="120000"/>
              </a:lnSpc>
            </a:pPr>
            <a:r>
              <a:rPr sz="1250" b="1" i="0">
                <a:solidFill>
                  <a:srgbClr val="C4553D"/>
                </a:solidFill>
                <a:latin typeface="Segoe UI"/>
              </a:rPr>
              <a:t>Not counted in the +118</a:t>
            </a:r>
          </a:p>
        </p:txBody>
      </p:sp>
      <p:sp>
        <p:nvSpPr>
          <p:cNvPr id="24" name="TextBox 23"/>
          <p:cNvSpPr txBox="1"/>
          <p:nvPr/>
        </p:nvSpPr>
        <p:spPr>
          <a:xfrm>
            <a:off x="777240" y="5632704"/>
            <a:ext cx="10637215" cy="274320"/>
          </a:xfrm>
          <a:prstGeom prst="rect">
            <a:avLst/>
          </a:prstGeom>
          <a:noFill/>
        </p:spPr>
        <p:txBody>
          <a:bodyPr wrap="square" anchor="t" lIns="0" rIns="0" tIns="0" bIns="0">
            <a:spAutoFit/>
          </a:bodyPr>
          <a:lstStyle/>
          <a:p>
            <a:pPr algn="l">
              <a:lnSpc>
                <a:spcPct val="120000"/>
              </a:lnSpc>
            </a:pPr>
            <a:r>
              <a:rPr sz="900" b="0" i="1">
                <a:solidFill>
                  <a:srgbClr val="7C6F66"/>
                </a:solidFill>
                <a:latin typeface="Segoe UI"/>
              </a:rPr>
              <a:t>Assumptions stated deliberately: recruitment uplift, retention uplift and length-of-stay reduction are modelled projections to be validated against SFSPCA baselines captured before launch.</a:t>
            </a:r>
          </a:p>
        </p:txBody>
      </p:sp>
      <p:sp>
        <p:nvSpPr>
          <p:cNvPr id="25" name="TextBox 24"/>
          <p:cNvSpPr txBox="1"/>
          <p:nvPr/>
        </p:nvSpPr>
        <p:spPr>
          <a:xfrm>
            <a:off x="777240" y="6345936"/>
            <a:ext cx="7315200" cy="274320"/>
          </a:xfrm>
          <a:prstGeom prst="rect">
            <a:avLst/>
          </a:prstGeom>
          <a:noFill/>
        </p:spPr>
        <p:txBody>
          <a:bodyPr wrap="square" anchor="t" lIns="0" rIns="0" tIns="0" bIns="0">
            <a:spAutoFit/>
          </a:bodyPr>
          <a:lstStyle/>
          <a:p>
            <a:pPr algn="l">
              <a:lnSpc>
                <a:spcPct val="100000"/>
              </a:lnSpc>
            </a:pPr>
            <a:r>
              <a:rPr sz="900" b="0" i="0">
                <a:solidFill>
                  <a:srgbClr val="7C6F66"/>
                </a:solidFill>
                <a:latin typeface="Segoe UI"/>
              </a:rPr>
              <a:t>The Foster Pack  ·  Confidential</a:t>
            </a:r>
          </a:p>
        </p:txBody>
      </p:sp>
      <p:sp>
        <p:nvSpPr>
          <p:cNvPr id="26" name="TextBox 25"/>
          <p:cNvSpPr txBox="1"/>
          <p:nvPr/>
        </p:nvSpPr>
        <p:spPr>
          <a:xfrm>
            <a:off x="10515600" y="6345936"/>
            <a:ext cx="896112" cy="274320"/>
          </a:xfrm>
          <a:prstGeom prst="rect">
            <a:avLst/>
          </a:prstGeom>
          <a:noFill/>
        </p:spPr>
        <p:txBody>
          <a:bodyPr wrap="square" anchor="t" lIns="0" rIns="0" tIns="0" bIns="0">
            <a:spAutoFit/>
          </a:bodyPr>
          <a:lstStyle/>
          <a:p>
            <a:pPr algn="r">
              <a:lnSpc>
                <a:spcPct val="100000"/>
              </a:lnSpc>
            </a:pPr>
            <a:r>
              <a:rPr sz="900" b="1" i="0">
                <a:solidFill>
                  <a:srgbClr val="7C6F66"/>
                </a:solidFill>
                <a:latin typeface="Segoe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F6E63"/>
              </a:gs>
              <a:gs pos="100000">
                <a:srgbClr val="073B35"/>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371600"/>
            <a:ext cx="10637215" cy="274320"/>
          </a:xfrm>
          <a:prstGeom prst="rect">
            <a:avLst/>
          </a:prstGeom>
          <a:noFill/>
        </p:spPr>
        <p:txBody>
          <a:bodyPr wrap="square" anchor="t" lIns="0" rIns="0" tIns="0" bIns="0">
            <a:spAutoFit/>
          </a:bodyPr>
          <a:lstStyle/>
          <a:p>
            <a:pPr algn="l">
              <a:lnSpc>
                <a:spcPct val="100000"/>
              </a:lnSpc>
            </a:pPr>
            <a:r>
              <a:rPr sz="1050" b="1" i="0" spc="190">
                <a:solidFill>
                  <a:srgbClr val="F0A544"/>
                </a:solidFill>
                <a:latin typeface="Segoe UI"/>
              </a:rPr>
              <a:t>LIVES IMPACT AT SCALE</a:t>
            </a:r>
          </a:p>
        </p:txBody>
      </p:sp>
      <p:sp>
        <p:nvSpPr>
          <p:cNvPr id="4" name="TextBox 3"/>
          <p:cNvSpPr txBox="1"/>
          <p:nvPr/>
        </p:nvSpPr>
        <p:spPr>
          <a:xfrm>
            <a:off x="777240" y="1773936"/>
            <a:ext cx="10637215" cy="1188720"/>
          </a:xfrm>
          <a:prstGeom prst="rect">
            <a:avLst/>
          </a:prstGeom>
          <a:noFill/>
        </p:spPr>
        <p:txBody>
          <a:bodyPr wrap="square" anchor="t" lIns="0" rIns="0" tIns="0" bIns="0">
            <a:spAutoFit/>
          </a:bodyPr>
          <a:lstStyle/>
          <a:p>
            <a:pPr algn="l">
              <a:lnSpc>
                <a:spcPct val="100000"/>
              </a:lnSpc>
            </a:pPr>
            <a:r>
              <a:rPr sz="6200" b="1" i="0">
                <a:solidFill>
                  <a:srgbClr val="FFFFFF"/>
                </a:solidFill>
                <a:latin typeface="Segoe UI"/>
              </a:rPr>
              <a:t>~5,900 dogs a year</a:t>
            </a:r>
          </a:p>
        </p:txBody>
      </p:sp>
      <p:sp>
        <p:nvSpPr>
          <p:cNvPr id="5" name="TextBox 4"/>
          <p:cNvSpPr txBox="1"/>
          <p:nvPr/>
        </p:nvSpPr>
        <p:spPr>
          <a:xfrm>
            <a:off x="777240" y="2889504"/>
            <a:ext cx="8778240" cy="822960"/>
          </a:xfrm>
          <a:prstGeom prst="rect">
            <a:avLst/>
          </a:prstGeom>
          <a:noFill/>
        </p:spPr>
        <p:txBody>
          <a:bodyPr wrap="square" anchor="t" lIns="0" rIns="0" tIns="0" bIns="0">
            <a:spAutoFit/>
          </a:bodyPr>
          <a:lstStyle/>
          <a:p>
            <a:pPr algn="l">
              <a:lnSpc>
                <a:spcPct val="145000"/>
              </a:lnSpc>
            </a:pPr>
            <a:r>
              <a:rPr sz="1500" b="0" i="0">
                <a:solidFill>
                  <a:srgbClr val="D9EEEA"/>
                </a:solidFill>
                <a:latin typeface="Segoe UI"/>
              </a:rPr>
              <a:t>118 additional dogs per shelter, across the 50-tenant platform design target. Roughly 320,000 dogs are euthanised in US shelters annually, and space and length of stay are the leading drivers.</a:t>
            </a:r>
          </a:p>
        </p:txBody>
      </p:sp>
      <p:sp>
        <p:nvSpPr>
          <p:cNvPr id="6" name="Rectangle 5"/>
          <p:cNvSpPr/>
          <p:nvPr/>
        </p:nvSpPr>
        <p:spPr>
          <a:xfrm>
            <a:off x="777240" y="4114800"/>
            <a:ext cx="1920240" cy="38100"/>
          </a:xfrm>
          <a:prstGeom prst="rect">
            <a:avLst/>
          </a:prstGeom>
          <a:solidFill>
            <a:srgbClr val="F0A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443984"/>
            <a:ext cx="9509760" cy="1097280"/>
          </a:xfrm>
          <a:prstGeom prst="rect">
            <a:avLst/>
          </a:prstGeom>
          <a:noFill/>
        </p:spPr>
        <p:txBody>
          <a:bodyPr wrap="square" anchor="t" lIns="0" rIns="0" tIns="0" bIns="0">
            <a:spAutoFit/>
          </a:bodyPr>
          <a:lstStyle/>
          <a:p>
            <a:pPr algn="l">
              <a:lnSpc>
                <a:spcPct val="134000"/>
              </a:lnSpc>
            </a:pPr>
            <a:r>
              <a:rPr sz="2300" b="1" i="0">
                <a:solidFill>
                  <a:srgbClr val="FFFFFF"/>
                </a:solidFill>
                <a:latin typeface="Segoe UI"/>
              </a:rPr>
              <a:t>Every durable foster home is a kennel that never had to be built —</a:t>
            </a:r>
          </a:p>
          <a:p>
            <a:pPr algn="l">
              <a:lnSpc>
                <a:spcPct val="134000"/>
              </a:lnSpc>
            </a:pPr>
            <a:r>
              <a:rPr sz="2300" b="1" i="0">
                <a:solidFill>
                  <a:srgbClr val="FFFFFF"/>
                </a:solidFill>
                <a:latin typeface="Segoe UI"/>
              </a:rPr>
              <a:t>and a dog that never had to run out of time.</a:t>
            </a:r>
          </a:p>
        </p:txBody>
      </p:sp>
      <p:sp>
        <p:nvSpPr>
          <p:cNvPr id="8" name="TextBox 7"/>
          <p:cNvSpPr txBox="1"/>
          <p:nvPr/>
        </p:nvSpPr>
        <p:spPr>
          <a:xfrm>
            <a:off x="777240" y="6345936"/>
            <a:ext cx="7315200" cy="274320"/>
          </a:xfrm>
          <a:prstGeom prst="rect">
            <a:avLst/>
          </a:prstGeom>
          <a:noFill/>
        </p:spPr>
        <p:txBody>
          <a:bodyPr wrap="square" anchor="t" lIns="0" rIns="0" tIns="0" bIns="0">
            <a:spAutoFit/>
          </a:bodyPr>
          <a:lstStyle/>
          <a:p>
            <a:pPr algn="l">
              <a:lnSpc>
                <a:spcPct val="100000"/>
              </a:lnSpc>
            </a:pPr>
            <a:r>
              <a:rPr sz="900" b="0" i="0">
                <a:solidFill>
                  <a:srgbClr val="FFFFFF"/>
                </a:solidFill>
                <a:latin typeface="Segoe UI"/>
              </a:rPr>
              <a:t>The Foster Pack  ·  Confidential</a:t>
            </a:r>
          </a:p>
        </p:txBody>
      </p:sp>
      <p:sp>
        <p:nvSpPr>
          <p:cNvPr id="9" name="TextBox 8"/>
          <p:cNvSpPr txBox="1"/>
          <p:nvPr/>
        </p:nvSpPr>
        <p:spPr>
          <a:xfrm>
            <a:off x="10515600" y="6345936"/>
            <a:ext cx="896112" cy="274320"/>
          </a:xfrm>
          <a:prstGeom prst="rect">
            <a:avLst/>
          </a:prstGeom>
          <a:noFill/>
        </p:spPr>
        <p:txBody>
          <a:bodyPr wrap="square" anchor="t" lIns="0" rIns="0" tIns="0" bIns="0">
            <a:spAutoFit/>
          </a:bodyPr>
          <a:lstStyle/>
          <a:p>
            <a:pPr algn="r">
              <a:lnSpc>
                <a:spcPct val="100000"/>
              </a:lnSpc>
            </a:pPr>
            <a:r>
              <a:rPr sz="900" b="1" i="0">
                <a:solidFill>
                  <a:srgbClr val="FFFFFF"/>
                </a:solidFill>
                <a:latin typeface="Segoe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30352"/>
            <a:ext cx="10637215" cy="274320"/>
          </a:xfrm>
          <a:prstGeom prst="rect">
            <a:avLst/>
          </a:prstGeom>
          <a:noFill/>
        </p:spPr>
        <p:txBody>
          <a:bodyPr wrap="square" anchor="t" lIns="0" rIns="0" tIns="0" bIns="0">
            <a:spAutoFit/>
          </a:bodyPr>
          <a:lstStyle/>
          <a:p>
            <a:pPr algn="l">
              <a:lnSpc>
                <a:spcPct val="100000"/>
              </a:lnSpc>
            </a:pPr>
            <a:r>
              <a:rPr sz="1050" b="1" i="0" spc="190">
                <a:solidFill>
                  <a:srgbClr val="0F6E63"/>
                </a:solidFill>
                <a:latin typeface="Segoe UI"/>
              </a:rPr>
              <a:t>SEQUENCING</a:t>
            </a:r>
          </a:p>
        </p:txBody>
      </p:sp>
      <p:sp>
        <p:nvSpPr>
          <p:cNvPr id="4" name="TextBox 3"/>
          <p:cNvSpPr txBox="1"/>
          <p:nvPr/>
        </p:nvSpPr>
        <p:spPr>
          <a:xfrm>
            <a:off x="777240" y="841248"/>
            <a:ext cx="10637215" cy="1371600"/>
          </a:xfrm>
          <a:prstGeom prst="rect">
            <a:avLst/>
          </a:prstGeom>
          <a:noFill/>
        </p:spPr>
        <p:txBody>
          <a:bodyPr wrap="square" anchor="t" lIns="0" rIns="0" tIns="0" bIns="0">
            <a:spAutoFit/>
          </a:bodyPr>
          <a:lstStyle/>
          <a:p>
            <a:pPr algn="l">
              <a:lnSpc>
                <a:spcPct val="108000"/>
              </a:lnSpc>
            </a:pPr>
            <a:r>
              <a:rPr sz="3300" b="1" i="0">
                <a:solidFill>
                  <a:srgbClr val="1B1614"/>
                </a:solidFill>
                <a:latin typeface="Segoe UI"/>
              </a:rPr>
              <a:t>Eight milestones. Dependency-ordered, not scope-cut.</a:t>
            </a:r>
          </a:p>
        </p:txBody>
      </p:sp>
      <p:graphicFrame>
        <p:nvGraphicFramePr>
          <p:cNvPr id="5" name="Table 4"/>
          <p:cNvGraphicFramePr>
            <a:graphicFrameLocks noGrp="1"/>
          </p:cNvGraphicFramePr>
          <p:nvPr/>
        </p:nvGraphicFramePr>
        <p:xfrm>
          <a:off x="777240" y="1883664"/>
          <a:ext cx="10637215" cy="3675888"/>
        </p:xfrm>
        <a:graphic>
          <a:graphicData uri="http://schemas.openxmlformats.org/drawingml/2006/table">
            <a:tbl>
              <a:tblPr firstRow="0" bandRow="0">
                <a:tableStyleId>{2D5ABB26-0587-4C30-8999-92F81FD0307C}</a:tableStyleId>
              </a:tblPr>
              <a:tblGrid>
                <a:gridCol w="1188720"/>
                <a:gridCol w="2834640"/>
                <a:gridCol w="6613855"/>
              </a:tblGrid>
              <a:tr h="310896">
                <a:tc>
                  <a:txBody>
                    <a:bodyPr wrap="square"/>
                    <a:lstStyle/>
                    <a:p>
                      <a:pPr>
                        <a:lnSpc>
                          <a:spcPct val="120000"/>
                        </a:lnSpc>
                      </a:pPr>
                      <a:r>
                        <a:rPr sz="980" b="1">
                          <a:solidFill>
                            <a:srgbClr val="FFFFFF"/>
                          </a:solidFill>
                          <a:latin typeface="Segoe UI"/>
                        </a:rPr>
                        <a:t/>
                      </a:r>
                    </a:p>
                  </a:txBody>
                  <a:tcPr marL="118872" marR="118872" marT="64008" marB="64008" anchor="ctr">
                    <a:solidFill>
                      <a:srgbClr val="0F6E63"/>
                    </a:solidFill>
                  </a:tcPr>
                </a:tc>
                <a:tc>
                  <a:txBody>
                    <a:bodyPr wrap="square"/>
                    <a:lstStyle/>
                    <a:p>
                      <a:pPr>
                        <a:lnSpc>
                          <a:spcPct val="120000"/>
                        </a:lnSpc>
                      </a:pPr>
                      <a:r>
                        <a:rPr sz="980" b="1">
                          <a:solidFill>
                            <a:srgbClr val="FFFFFF"/>
                          </a:solidFill>
                          <a:latin typeface="Segoe UI"/>
                        </a:rPr>
                        <a:t>Milestone</a:t>
                      </a:r>
                    </a:p>
                  </a:txBody>
                  <a:tcPr marL="118872" marR="118872" marT="64008" marB="64008" anchor="ctr">
                    <a:solidFill>
                      <a:srgbClr val="0F6E63"/>
                    </a:solidFill>
                  </a:tcPr>
                </a:tc>
                <a:tc>
                  <a:txBody>
                    <a:bodyPr wrap="square"/>
                    <a:lstStyle/>
                    <a:p>
                      <a:pPr>
                        <a:lnSpc>
                          <a:spcPct val="120000"/>
                        </a:lnSpc>
                      </a:pPr>
                      <a:r>
                        <a:rPr sz="980" b="1">
                          <a:solidFill>
                            <a:srgbClr val="FFFFFF"/>
                          </a:solidFill>
                          <a:latin typeface="Segoe UI"/>
                        </a:rPr>
                        <a:t>Focus</a:t>
                      </a:r>
                    </a:p>
                  </a:txBody>
                  <a:tcPr marL="118872" marR="118872" marT="64008" marB="64008" anchor="ctr">
                    <a:solidFill>
                      <a:srgbClr val="0F6E63"/>
                    </a:solidFill>
                  </a:tcPr>
                </a:tc>
              </a:tr>
              <a:tr h="420624">
                <a:tc>
                  <a:txBody>
                    <a:bodyPr wrap="square"/>
                    <a:lstStyle/>
                    <a:p>
                      <a:pPr>
                        <a:lnSpc>
                          <a:spcPct val="120000"/>
                        </a:lnSpc>
                      </a:pPr>
                      <a:r>
                        <a:rPr sz="960" b="1">
                          <a:solidFill>
                            <a:srgbClr val="1B1614"/>
                          </a:solidFill>
                          <a:latin typeface="Segoe UI"/>
                        </a:rPr>
                        <a:t>M1</a:t>
                      </a:r>
                    </a:p>
                  </a:txBody>
                  <a:tcPr marL="118872" marR="118872" marT="64008" marB="64008" anchor="ctr">
                    <a:solidFill>
                      <a:srgbClr val="FFFFFF"/>
                    </a:solidFill>
                  </a:tcPr>
                </a:tc>
                <a:tc>
                  <a:txBody>
                    <a:bodyPr wrap="square"/>
                    <a:lstStyle/>
                    <a:p>
                      <a:pPr>
                        <a:lnSpc>
                          <a:spcPct val="120000"/>
                        </a:lnSpc>
                      </a:pPr>
                      <a:r>
                        <a:rPr sz="960" b="0">
                          <a:solidFill>
                            <a:srgbClr val="5A504A"/>
                          </a:solidFill>
                          <a:latin typeface="Segoe UI"/>
                        </a:rPr>
                        <a:t>Foundation</a:t>
                      </a:r>
                    </a:p>
                  </a:txBody>
                  <a:tcPr marL="118872" marR="118872" marT="64008" marB="64008" anchor="ctr">
                    <a:solidFill>
                      <a:srgbClr val="FFFFFF"/>
                    </a:solidFill>
                  </a:tcPr>
                </a:tc>
                <a:tc>
                  <a:txBody>
                    <a:bodyPr wrap="square"/>
                    <a:lstStyle/>
                    <a:p>
                      <a:pPr>
                        <a:lnSpc>
                          <a:spcPct val="120000"/>
                        </a:lnSpc>
                      </a:pPr>
                      <a:r>
                        <a:rPr sz="960" b="0">
                          <a:solidFill>
                            <a:srgbClr val="5A504A"/>
                          </a:solidFill>
                          <a:latin typeface="Segoe UI"/>
                        </a:rPr>
                        <a:t>Tenancy, identity, mobile shell, seed data, AI platform, analytics instrumented from day one</a:t>
                      </a:r>
                    </a:p>
                  </a:txBody>
                  <a:tcPr marL="118872" marR="118872" marT="64008" marB="64008" anchor="ctr">
                    <a:solidFill>
                      <a:srgbClr val="FFFFFF"/>
                    </a:solidFill>
                  </a:tcPr>
                </a:tc>
              </a:tr>
              <a:tr h="420624">
                <a:tc>
                  <a:txBody>
                    <a:bodyPr wrap="square"/>
                    <a:lstStyle/>
                    <a:p>
                      <a:pPr>
                        <a:lnSpc>
                          <a:spcPct val="120000"/>
                        </a:lnSpc>
                      </a:pPr>
                      <a:r>
                        <a:rPr sz="960" b="1">
                          <a:solidFill>
                            <a:srgbClr val="1B1614"/>
                          </a:solidFill>
                          <a:latin typeface="Segoe UI"/>
                        </a:rPr>
                        <a:t>M2</a:t>
                      </a:r>
                    </a:p>
                  </a:txBody>
                  <a:tcPr marL="118872" marR="118872" marT="64008" marB="64008" anchor="ctr">
                    <a:solidFill>
                      <a:srgbClr val="F6F1E9"/>
                    </a:solidFill>
                  </a:tcPr>
                </a:tc>
                <a:tc>
                  <a:txBody>
                    <a:bodyPr wrap="square"/>
                    <a:lstStyle/>
                    <a:p>
                      <a:pPr>
                        <a:lnSpc>
                          <a:spcPct val="120000"/>
                        </a:lnSpc>
                      </a:pPr>
                      <a:r>
                        <a:rPr sz="960" b="0">
                          <a:solidFill>
                            <a:srgbClr val="5A504A"/>
                          </a:solidFill>
                          <a:latin typeface="Segoe UI"/>
                        </a:rPr>
                        <a:t>Shelter core</a:t>
                      </a:r>
                    </a:p>
                  </a:txBody>
                  <a:tcPr marL="118872" marR="118872" marT="64008" marB="64008" anchor="ctr">
                    <a:solidFill>
                      <a:srgbClr val="F6F1E9"/>
                    </a:solidFill>
                  </a:tcPr>
                </a:tc>
                <a:tc>
                  <a:txBody>
                    <a:bodyPr wrap="square"/>
                    <a:lstStyle/>
                    <a:p>
                      <a:pPr>
                        <a:lnSpc>
                          <a:spcPct val="120000"/>
                        </a:lnSpc>
                      </a:pPr>
                      <a:r>
                        <a:rPr sz="960" b="0">
                          <a:solidFill>
                            <a:srgbClr val="5A504A"/>
                          </a:solidFill>
                          <a:latin typeface="Segoe UI"/>
                        </a:rPr>
                        <a:t>Intake → location → medical → outcomes → reporting. PetPoint importer built here, not at cutover</a:t>
                      </a:r>
                    </a:p>
                  </a:txBody>
                  <a:tcPr marL="118872" marR="118872" marT="64008" marB="64008" anchor="ctr">
                    <a:solidFill>
                      <a:srgbClr val="F6F1E9"/>
                    </a:solidFill>
                  </a:tcPr>
                </a:tc>
              </a:tr>
              <a:tr h="420624">
                <a:tc>
                  <a:txBody>
                    <a:bodyPr wrap="square"/>
                    <a:lstStyle/>
                    <a:p>
                      <a:pPr>
                        <a:lnSpc>
                          <a:spcPct val="120000"/>
                        </a:lnSpc>
                      </a:pPr>
                      <a:r>
                        <a:rPr sz="960" b="1">
                          <a:solidFill>
                            <a:srgbClr val="1B1614"/>
                          </a:solidFill>
                          <a:latin typeface="Segoe UI"/>
                        </a:rPr>
                        <a:t>M3</a:t>
                      </a:r>
                    </a:p>
                  </a:txBody>
                  <a:tcPr marL="118872" marR="118872" marT="64008" marB="64008" anchor="ctr">
                    <a:solidFill>
                      <a:srgbClr val="FFFFFF"/>
                    </a:solidFill>
                  </a:tcPr>
                </a:tc>
                <a:tc>
                  <a:txBody>
                    <a:bodyPr wrap="square"/>
                    <a:lstStyle/>
                    <a:p>
                      <a:pPr>
                        <a:lnSpc>
                          <a:spcPct val="120000"/>
                        </a:lnSpc>
                      </a:pPr>
                      <a:r>
                        <a:rPr sz="960" b="0">
                          <a:solidFill>
                            <a:srgbClr val="5A504A"/>
                          </a:solidFill>
                          <a:latin typeface="Segoe UI"/>
                        </a:rPr>
                        <a:t>Core bet</a:t>
                      </a:r>
                    </a:p>
                  </a:txBody>
                  <a:tcPr marL="118872" marR="118872" marT="64008" marB="64008" anchor="ctr">
                    <a:solidFill>
                      <a:srgbClr val="FFFFFF"/>
                    </a:solidFill>
                  </a:tcPr>
                </a:tc>
                <a:tc>
                  <a:txBody>
                    <a:bodyPr wrap="square"/>
                    <a:lstStyle/>
                    <a:p>
                      <a:pPr>
                        <a:lnSpc>
                          <a:spcPct val="120000"/>
                        </a:lnSpc>
                      </a:pPr>
                      <a:r>
                        <a:rPr sz="960" b="0">
                          <a:solidFill>
                            <a:srgbClr val="5A504A"/>
                          </a:solidFill>
                          <a:latin typeface="Segoe UI"/>
                        </a:rPr>
                        <a:t>Volunteer and foster database, task marketplace, inbox</a:t>
                      </a:r>
                    </a:p>
                  </a:txBody>
                  <a:tcPr marL="118872" marR="118872" marT="64008" marB="64008" anchor="ctr">
                    <a:solidFill>
                      <a:srgbClr val="FFFFFF"/>
                    </a:solidFill>
                  </a:tcPr>
                </a:tc>
              </a:tr>
              <a:tr h="420624">
                <a:tc>
                  <a:txBody>
                    <a:bodyPr wrap="square"/>
                    <a:lstStyle/>
                    <a:p>
                      <a:pPr>
                        <a:lnSpc>
                          <a:spcPct val="120000"/>
                        </a:lnSpc>
                      </a:pPr>
                      <a:r>
                        <a:rPr sz="960" b="1">
                          <a:solidFill>
                            <a:srgbClr val="1B1614"/>
                          </a:solidFill>
                          <a:latin typeface="Segoe UI"/>
                        </a:rPr>
                        <a:t>M4</a:t>
                      </a:r>
                    </a:p>
                  </a:txBody>
                  <a:tcPr marL="118872" marR="118872" marT="64008" marB="64008" anchor="ctr">
                    <a:solidFill>
                      <a:srgbClr val="F6F1E9"/>
                    </a:solidFill>
                  </a:tcPr>
                </a:tc>
                <a:tc>
                  <a:txBody>
                    <a:bodyPr wrap="square"/>
                    <a:lstStyle/>
                    <a:p>
                      <a:pPr>
                        <a:lnSpc>
                          <a:spcPct val="120000"/>
                        </a:lnSpc>
                      </a:pPr>
                      <a:r>
                        <a:rPr sz="960" b="0">
                          <a:solidFill>
                            <a:srgbClr val="5A504A"/>
                          </a:solidFill>
                          <a:latin typeface="Segoe UI"/>
                        </a:rPr>
                        <a:t>Journalling</a:t>
                      </a:r>
                    </a:p>
                  </a:txBody>
                  <a:tcPr marL="118872" marR="118872" marT="64008" marB="64008" anchor="ctr">
                    <a:solidFill>
                      <a:srgbClr val="F6F1E9"/>
                    </a:solidFill>
                  </a:tcPr>
                </a:tc>
                <a:tc>
                  <a:txBody>
                    <a:bodyPr wrap="square"/>
                    <a:lstStyle/>
                    <a:p>
                      <a:pPr>
                        <a:lnSpc>
                          <a:spcPct val="120000"/>
                        </a:lnSpc>
                      </a:pPr>
                      <a:r>
                        <a:rPr sz="960" b="0">
                          <a:solidFill>
                            <a:srgbClr val="5A504A"/>
                          </a:solidFill>
                          <a:latin typeface="Segoe UI"/>
                        </a:rPr>
                        <a:t>Voice-first capture, media pipeline, dynamic dog profile</a:t>
                      </a:r>
                    </a:p>
                  </a:txBody>
                  <a:tcPr marL="118872" marR="118872" marT="64008" marB="64008" anchor="ctr">
                    <a:solidFill>
                      <a:srgbClr val="F6F1E9"/>
                    </a:solidFill>
                  </a:tcPr>
                </a:tc>
              </a:tr>
              <a:tr h="420624">
                <a:tc>
                  <a:txBody>
                    <a:bodyPr wrap="square"/>
                    <a:lstStyle/>
                    <a:p>
                      <a:pPr>
                        <a:lnSpc>
                          <a:spcPct val="120000"/>
                        </a:lnSpc>
                      </a:pPr>
                      <a:r>
                        <a:rPr sz="960" b="1">
                          <a:solidFill>
                            <a:srgbClr val="1B1614"/>
                          </a:solidFill>
                          <a:latin typeface="Segoe UI"/>
                        </a:rPr>
                        <a:t>M5</a:t>
                      </a:r>
                    </a:p>
                  </a:txBody>
                  <a:tcPr marL="118872" marR="118872" marT="64008" marB="64008" anchor="ctr">
                    <a:solidFill>
                      <a:srgbClr val="FFFFFF"/>
                    </a:solidFill>
                  </a:tcPr>
                </a:tc>
                <a:tc>
                  <a:txBody>
                    <a:bodyPr wrap="square"/>
                    <a:lstStyle/>
                    <a:p>
                      <a:pPr>
                        <a:lnSpc>
                          <a:spcPct val="120000"/>
                        </a:lnSpc>
                      </a:pPr>
                      <a:r>
                        <a:rPr sz="960" b="0">
                          <a:solidFill>
                            <a:srgbClr val="5A504A"/>
                          </a:solidFill>
                          <a:latin typeface="Segoe UI"/>
                        </a:rPr>
                        <a:t>Intelligence &amp; ops</a:t>
                      </a:r>
                    </a:p>
                  </a:txBody>
                  <a:tcPr marL="118872" marR="118872" marT="64008" marB="64008" anchor="ctr">
                    <a:solidFill>
                      <a:srgbClr val="FFFFFF"/>
                    </a:solidFill>
                  </a:tcPr>
                </a:tc>
                <a:tc>
                  <a:txBody>
                    <a:bodyPr wrap="square"/>
                    <a:lstStyle/>
                    <a:p>
                      <a:pPr>
                        <a:lnSpc>
                          <a:spcPct val="120000"/>
                        </a:lnSpc>
                      </a:pPr>
                      <a:r>
                        <a:rPr sz="960" b="0">
                          <a:solidFill>
                            <a:srgbClr val="5A504A"/>
                          </a:solidFill>
                          <a:latin typeface="Segoe UI"/>
                        </a:rPr>
                        <a:t>AI matching, tiered Care Programs, admin dashboard</a:t>
                      </a:r>
                    </a:p>
                  </a:txBody>
                  <a:tcPr marL="118872" marR="118872" marT="64008" marB="64008" anchor="ctr">
                    <a:solidFill>
                      <a:srgbClr val="FFFFFF"/>
                    </a:solidFill>
                  </a:tcPr>
                </a:tc>
              </a:tr>
              <a:tr h="420624">
                <a:tc>
                  <a:txBody>
                    <a:bodyPr wrap="square"/>
                    <a:lstStyle/>
                    <a:p>
                      <a:pPr>
                        <a:lnSpc>
                          <a:spcPct val="120000"/>
                        </a:lnSpc>
                      </a:pPr>
                      <a:r>
                        <a:rPr sz="960" b="1">
                          <a:solidFill>
                            <a:srgbClr val="1B1614"/>
                          </a:solidFill>
                          <a:latin typeface="Segoe UI"/>
                        </a:rPr>
                        <a:t>M6</a:t>
                      </a:r>
                    </a:p>
                  </a:txBody>
                  <a:tcPr marL="118872" marR="118872" marT="64008" marB="64008" anchor="ctr">
                    <a:solidFill>
                      <a:srgbClr val="F6F1E9"/>
                    </a:solidFill>
                  </a:tcPr>
                </a:tc>
                <a:tc>
                  <a:txBody>
                    <a:bodyPr wrap="square"/>
                    <a:lstStyle/>
                    <a:p>
                      <a:pPr>
                        <a:lnSpc>
                          <a:spcPct val="120000"/>
                        </a:lnSpc>
                      </a:pPr>
                      <a:r>
                        <a:rPr sz="960" b="0">
                          <a:solidFill>
                            <a:srgbClr val="5A504A"/>
                          </a:solidFill>
                          <a:latin typeface="Segoe UI"/>
                        </a:rPr>
                        <a:t>Community</a:t>
                      </a:r>
                    </a:p>
                  </a:txBody>
                  <a:tcPr marL="118872" marR="118872" marT="64008" marB="64008" anchor="ctr">
                    <a:solidFill>
                      <a:srgbClr val="F6F1E9"/>
                    </a:solidFill>
                  </a:tcPr>
                </a:tc>
                <a:tc>
                  <a:txBody>
                    <a:bodyPr wrap="square"/>
                    <a:lstStyle/>
                    <a:p>
                      <a:pPr>
                        <a:lnSpc>
                          <a:spcPct val="120000"/>
                        </a:lnSpc>
                      </a:pPr>
                      <a:r>
                        <a:rPr sz="960" b="0">
                          <a:solidFill>
                            <a:srgbClr val="5A504A"/>
                          </a:solidFill>
                          <a:latin typeface="Segoe UI"/>
                        </a:rPr>
                        <a:t>Public forum, moderation and safety gate, Instagram sharing</a:t>
                      </a:r>
                    </a:p>
                  </a:txBody>
                  <a:tcPr marL="118872" marR="118872" marT="64008" marB="64008" anchor="ctr">
                    <a:solidFill>
                      <a:srgbClr val="F6F1E9"/>
                    </a:solidFill>
                  </a:tcPr>
                </a:tc>
              </a:tr>
              <a:tr h="420624">
                <a:tc>
                  <a:txBody>
                    <a:bodyPr wrap="square"/>
                    <a:lstStyle/>
                    <a:p>
                      <a:pPr>
                        <a:lnSpc>
                          <a:spcPct val="120000"/>
                        </a:lnSpc>
                      </a:pPr>
                      <a:r>
                        <a:rPr sz="960" b="1">
                          <a:solidFill>
                            <a:srgbClr val="1B1614"/>
                          </a:solidFill>
                          <a:latin typeface="Segoe UI"/>
                        </a:rPr>
                        <a:t>M7</a:t>
                      </a:r>
                    </a:p>
                  </a:txBody>
                  <a:tcPr marL="118872" marR="118872" marT="64008" marB="64008" anchor="ctr">
                    <a:solidFill>
                      <a:srgbClr val="FFFFFF"/>
                    </a:solidFill>
                  </a:tcPr>
                </a:tc>
                <a:tc>
                  <a:txBody>
                    <a:bodyPr wrap="square"/>
                    <a:lstStyle/>
                    <a:p>
                      <a:pPr>
                        <a:lnSpc>
                          <a:spcPct val="120000"/>
                        </a:lnSpc>
                      </a:pPr>
                      <a:r>
                        <a:rPr sz="960" b="0">
                          <a:solidFill>
                            <a:srgbClr val="5A504A"/>
                          </a:solidFill>
                          <a:latin typeface="Segoe UI"/>
                        </a:rPr>
                        <a:t>Migration &amp; pilot</a:t>
                      </a:r>
                    </a:p>
                  </a:txBody>
                  <a:tcPr marL="118872" marR="118872" marT="64008" marB="64008" anchor="ctr">
                    <a:solidFill>
                      <a:srgbClr val="FFFFFF"/>
                    </a:solidFill>
                  </a:tcPr>
                </a:tc>
                <a:tc>
                  <a:txBody>
                    <a:bodyPr wrap="square"/>
                    <a:lstStyle/>
                    <a:p>
                      <a:pPr>
                        <a:lnSpc>
                          <a:spcPct val="120000"/>
                        </a:lnSpc>
                      </a:pPr>
                      <a:r>
                        <a:rPr sz="960" b="0">
                          <a:solidFill>
                            <a:srgbClr val="5A504A"/>
                          </a:solidFill>
                          <a:latin typeface="Segoe UI"/>
                        </a:rPr>
                        <a:t>PetPoint historical import, parallel run, SFSPCA foster cohort</a:t>
                      </a:r>
                    </a:p>
                  </a:txBody>
                  <a:tcPr marL="118872" marR="118872" marT="64008" marB="64008" anchor="ctr">
                    <a:solidFill>
                      <a:srgbClr val="FFFFFF"/>
                    </a:solidFill>
                  </a:tcPr>
                </a:tc>
              </a:tr>
              <a:tr h="420624">
                <a:tc>
                  <a:txBody>
                    <a:bodyPr wrap="square"/>
                    <a:lstStyle/>
                    <a:p>
                      <a:pPr>
                        <a:lnSpc>
                          <a:spcPct val="120000"/>
                        </a:lnSpc>
                      </a:pPr>
                      <a:r>
                        <a:rPr sz="960" b="1">
                          <a:solidFill>
                            <a:srgbClr val="1B1614"/>
                          </a:solidFill>
                          <a:latin typeface="Segoe UI"/>
                        </a:rPr>
                        <a:t>M8</a:t>
                      </a:r>
                    </a:p>
                  </a:txBody>
                  <a:tcPr marL="118872" marR="118872" marT="64008" marB="64008" anchor="ctr">
                    <a:solidFill>
                      <a:srgbClr val="F6F1E9"/>
                    </a:solidFill>
                  </a:tcPr>
                </a:tc>
                <a:tc>
                  <a:txBody>
                    <a:bodyPr wrap="square"/>
                    <a:lstStyle/>
                    <a:p>
                      <a:pPr>
                        <a:lnSpc>
                          <a:spcPct val="120000"/>
                        </a:lnSpc>
                      </a:pPr>
                      <a:r>
                        <a:rPr sz="960" b="0">
                          <a:solidFill>
                            <a:srgbClr val="5A504A"/>
                          </a:solidFill>
                          <a:latin typeface="Segoe UI"/>
                        </a:rPr>
                        <a:t>GA</a:t>
                      </a:r>
                    </a:p>
                  </a:txBody>
                  <a:tcPr marL="118872" marR="118872" marT="64008" marB="64008" anchor="ctr">
                    <a:solidFill>
                      <a:srgbClr val="F6F1E9"/>
                    </a:solidFill>
                  </a:tcPr>
                </a:tc>
                <a:tc>
                  <a:txBody>
                    <a:bodyPr wrap="square"/>
                    <a:lstStyle/>
                    <a:p>
                      <a:pPr>
                        <a:lnSpc>
                          <a:spcPct val="120000"/>
                        </a:lnSpc>
                      </a:pPr>
                      <a:r>
                        <a:rPr sz="960" b="0">
                          <a:solidFill>
                            <a:srgbClr val="5A504A"/>
                          </a:solidFill>
                          <a:latin typeface="Segoe UI"/>
                        </a:rPr>
                        <a:t>Localisation (Spanish, Traditional Chinese), accessibility audit, moderation staffed</a:t>
                      </a:r>
                    </a:p>
                  </a:txBody>
                  <a:tcPr marL="118872" marR="118872" marT="64008" marB="64008" anchor="ctr">
                    <a:solidFill>
                      <a:srgbClr val="F6F1E9"/>
                    </a:solidFill>
                  </a:tcPr>
                </a:tc>
              </a:tr>
            </a:tbl>
          </a:graphicData>
        </a:graphic>
      </p:graphicFrame>
      <p:sp>
        <p:nvSpPr>
          <p:cNvPr id="6" name="TextBox 5"/>
          <p:cNvSpPr txBox="1"/>
          <p:nvPr/>
        </p:nvSpPr>
        <p:spPr>
          <a:xfrm>
            <a:off x="777240" y="5815584"/>
            <a:ext cx="10637215" cy="365760"/>
          </a:xfrm>
          <a:prstGeom prst="rect">
            <a:avLst/>
          </a:prstGeom>
          <a:noFill/>
        </p:spPr>
        <p:txBody>
          <a:bodyPr wrap="square" anchor="t" lIns="0" rIns="0" tIns="0" bIns="0">
            <a:spAutoFit/>
          </a:bodyPr>
          <a:lstStyle/>
          <a:p>
            <a:pPr algn="l">
              <a:lnSpc>
                <a:spcPct val="132000"/>
              </a:lnSpc>
            </a:pPr>
            <a:r>
              <a:rPr sz="1050" b="0" i="0">
                <a:solidFill>
                  <a:srgbClr val="7C6F66"/>
                </a:solidFill>
                <a:latin typeface="Segoe UI"/>
              </a:rPr>
              <a:t>Staff these first: WS-0 blocks everything and WS-17 (AI platform) blocks six streams. Under-resourcing either stalls the project regardless of headcount elsewhere.</a:t>
            </a:r>
          </a:p>
        </p:txBody>
      </p:sp>
      <p:sp>
        <p:nvSpPr>
          <p:cNvPr id="7" name="TextBox 6"/>
          <p:cNvSpPr txBox="1"/>
          <p:nvPr/>
        </p:nvSpPr>
        <p:spPr>
          <a:xfrm>
            <a:off x="777240" y="6345936"/>
            <a:ext cx="7315200" cy="274320"/>
          </a:xfrm>
          <a:prstGeom prst="rect">
            <a:avLst/>
          </a:prstGeom>
          <a:noFill/>
        </p:spPr>
        <p:txBody>
          <a:bodyPr wrap="square" anchor="t" lIns="0" rIns="0" tIns="0" bIns="0">
            <a:spAutoFit/>
          </a:bodyPr>
          <a:lstStyle/>
          <a:p>
            <a:pPr algn="l">
              <a:lnSpc>
                <a:spcPct val="100000"/>
              </a:lnSpc>
            </a:pPr>
            <a:r>
              <a:rPr sz="900" b="0" i="0">
                <a:solidFill>
                  <a:srgbClr val="7C6F66"/>
                </a:solidFill>
                <a:latin typeface="Segoe UI"/>
              </a:rPr>
              <a:t>The Foster Pack  ·  Confidential</a:t>
            </a:r>
          </a:p>
        </p:txBody>
      </p:sp>
      <p:sp>
        <p:nvSpPr>
          <p:cNvPr id="8" name="TextBox 7"/>
          <p:cNvSpPr txBox="1"/>
          <p:nvPr/>
        </p:nvSpPr>
        <p:spPr>
          <a:xfrm>
            <a:off x="10515600" y="6345936"/>
            <a:ext cx="896112" cy="274320"/>
          </a:xfrm>
          <a:prstGeom prst="rect">
            <a:avLst/>
          </a:prstGeom>
          <a:noFill/>
        </p:spPr>
        <p:txBody>
          <a:bodyPr wrap="square" anchor="t" lIns="0" rIns="0" tIns="0" bIns="0">
            <a:spAutoFit/>
          </a:bodyPr>
          <a:lstStyle/>
          <a:p>
            <a:pPr algn="r">
              <a:lnSpc>
                <a:spcPct val="100000"/>
              </a:lnSpc>
            </a:pPr>
            <a:r>
              <a:rPr sz="900" b="1" i="0">
                <a:solidFill>
                  <a:srgbClr val="7C6F66"/>
                </a:solidFill>
                <a:latin typeface="Segoe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30352"/>
            <a:ext cx="10637215" cy="274320"/>
          </a:xfrm>
          <a:prstGeom prst="rect">
            <a:avLst/>
          </a:prstGeom>
          <a:noFill/>
        </p:spPr>
        <p:txBody>
          <a:bodyPr wrap="square" anchor="t" lIns="0" rIns="0" tIns="0" bIns="0">
            <a:spAutoFit/>
          </a:bodyPr>
          <a:lstStyle/>
          <a:p>
            <a:pPr algn="l">
              <a:lnSpc>
                <a:spcPct val="100000"/>
              </a:lnSpc>
            </a:pPr>
            <a:r>
              <a:rPr sz="1050" b="1" i="0" spc="190">
                <a:solidFill>
                  <a:srgbClr val="C4553D"/>
                </a:solidFill>
                <a:latin typeface="Segoe UI"/>
              </a:rPr>
              <a:t>WHAT COULD BREAK THIS</a:t>
            </a:r>
          </a:p>
        </p:txBody>
      </p:sp>
      <p:sp>
        <p:nvSpPr>
          <p:cNvPr id="4" name="TextBox 3"/>
          <p:cNvSpPr txBox="1"/>
          <p:nvPr/>
        </p:nvSpPr>
        <p:spPr>
          <a:xfrm>
            <a:off x="777240" y="841248"/>
            <a:ext cx="10637215" cy="1371600"/>
          </a:xfrm>
          <a:prstGeom prst="rect">
            <a:avLst/>
          </a:prstGeom>
          <a:noFill/>
        </p:spPr>
        <p:txBody>
          <a:bodyPr wrap="square" anchor="t" lIns="0" rIns="0" tIns="0" bIns="0">
            <a:spAutoFit/>
          </a:bodyPr>
          <a:lstStyle/>
          <a:p>
            <a:pPr algn="l">
              <a:lnSpc>
                <a:spcPct val="108000"/>
              </a:lnSpc>
            </a:pPr>
            <a:r>
              <a:rPr sz="3500" b="1" i="0">
                <a:solidFill>
                  <a:srgbClr val="1B1614"/>
                </a:solidFill>
                <a:latin typeface="Segoe UI"/>
              </a:rPr>
              <a:t>Three critical risks, designed against.</a:t>
            </a:r>
          </a:p>
        </p:txBody>
      </p:sp>
      <p:sp>
        <p:nvSpPr>
          <p:cNvPr id="5" name="Rounded Rectangle 4"/>
          <p:cNvSpPr/>
          <p:nvPr/>
        </p:nvSpPr>
        <p:spPr>
          <a:xfrm>
            <a:off x="777240" y="2194560"/>
            <a:ext cx="10637215" cy="1060704"/>
          </a:xfrm>
          <a:prstGeom prst="roundRect">
            <a:avLst>
              <a:gd name="adj" fmla="val 5000"/>
            </a:avLst>
          </a:prstGeom>
          <a:solidFill>
            <a:srgbClr val="FFFFFF"/>
          </a:solidFill>
          <a:ln w="12700">
            <a:solidFill>
              <a:srgbClr val="E4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2194560"/>
            <a:ext cx="10637215" cy="40640"/>
          </a:xfrm>
          <a:prstGeom prst="rect">
            <a:avLst/>
          </a:prstGeom>
          <a:solidFill>
            <a:srgbClr val="C4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9848" y="2414016"/>
            <a:ext cx="2834640" cy="292608"/>
          </a:xfrm>
          <a:prstGeom prst="rect">
            <a:avLst/>
          </a:prstGeom>
          <a:noFill/>
        </p:spPr>
        <p:txBody>
          <a:bodyPr wrap="square" anchor="t" lIns="0" rIns="0" tIns="0" bIns="0">
            <a:spAutoFit/>
          </a:bodyPr>
          <a:lstStyle/>
          <a:p>
            <a:pPr algn="l">
              <a:lnSpc>
                <a:spcPct val="115000"/>
              </a:lnSpc>
            </a:pPr>
            <a:r>
              <a:rPr sz="1300" b="1" i="0">
                <a:solidFill>
                  <a:srgbClr val="1B1614"/>
                </a:solidFill>
                <a:latin typeface="Segoe UI"/>
              </a:rPr>
              <a:t>Fosters don't journal</a:t>
            </a:r>
          </a:p>
        </p:txBody>
      </p:sp>
      <p:sp>
        <p:nvSpPr>
          <p:cNvPr id="8" name="TextBox 7"/>
          <p:cNvSpPr txBox="1"/>
          <p:nvPr/>
        </p:nvSpPr>
        <p:spPr>
          <a:xfrm>
            <a:off x="1069848" y="2724912"/>
            <a:ext cx="2834640" cy="457200"/>
          </a:xfrm>
          <a:prstGeom prst="rect">
            <a:avLst/>
          </a:prstGeom>
          <a:noFill/>
        </p:spPr>
        <p:txBody>
          <a:bodyPr wrap="square" anchor="t" lIns="0" rIns="0" tIns="0" bIns="0">
            <a:spAutoFit/>
          </a:bodyPr>
          <a:lstStyle/>
          <a:p>
            <a:pPr algn="l">
              <a:lnSpc>
                <a:spcPct val="130000"/>
              </a:lnSpc>
            </a:pPr>
            <a:r>
              <a:rPr sz="950" b="0" i="0">
                <a:solidFill>
                  <a:srgbClr val="5A504A"/>
                </a:solidFill>
                <a:latin typeface="Segoe UI"/>
              </a:rPr>
              <a:t>The whole thesis collapses — the profile never materialises and the AI has nothing to reason over.</a:t>
            </a:r>
          </a:p>
        </p:txBody>
      </p:sp>
      <p:sp>
        <p:nvSpPr>
          <p:cNvPr id="9" name="TextBox 8"/>
          <p:cNvSpPr txBox="1"/>
          <p:nvPr/>
        </p:nvSpPr>
        <p:spPr>
          <a:xfrm>
            <a:off x="4123944" y="2414016"/>
            <a:ext cx="822960" cy="256032"/>
          </a:xfrm>
          <a:prstGeom prst="rect">
            <a:avLst/>
          </a:prstGeom>
          <a:noFill/>
        </p:spPr>
        <p:txBody>
          <a:bodyPr wrap="square" anchor="t" lIns="0" rIns="0" tIns="0" bIns="0">
            <a:spAutoFit/>
          </a:bodyPr>
          <a:lstStyle/>
          <a:p>
            <a:pPr algn="l">
              <a:lnSpc>
                <a:spcPct val="100000"/>
              </a:lnSpc>
            </a:pPr>
            <a:r>
              <a:rPr sz="850" b="1" i="0" spc="140">
                <a:solidFill>
                  <a:srgbClr val="C4553D"/>
                </a:solidFill>
                <a:latin typeface="Segoe UI"/>
              </a:rPr>
              <a:t>MITIGATION</a:t>
            </a:r>
          </a:p>
        </p:txBody>
      </p:sp>
      <p:sp>
        <p:nvSpPr>
          <p:cNvPr id="10" name="TextBox 9"/>
          <p:cNvSpPr txBox="1"/>
          <p:nvPr/>
        </p:nvSpPr>
        <p:spPr>
          <a:xfrm>
            <a:off x="5074920" y="2414016"/>
            <a:ext cx="6019495" cy="731520"/>
          </a:xfrm>
          <a:prstGeom prst="rect">
            <a:avLst/>
          </a:prstGeom>
          <a:noFill/>
        </p:spPr>
        <p:txBody>
          <a:bodyPr wrap="square" anchor="t" lIns="0" rIns="0" tIns="0" bIns="0">
            <a:spAutoFit/>
          </a:bodyPr>
          <a:lstStyle/>
          <a:p>
            <a:pPr algn="l">
              <a:lnSpc>
                <a:spcPct val="136000"/>
              </a:lnSpc>
            </a:pPr>
            <a:r>
              <a:rPr sz="1019" b="0" i="0">
                <a:solidFill>
                  <a:srgbClr val="5A504A"/>
                </a:solidFill>
                <a:latin typeface="Segoe UI"/>
              </a:rPr>
              <a:t>Extreme capture-friction reduction: zero required fields, voice-first, offline-first, prompted rather than blank-box. Measured weekly as launch KPI #1.</a:t>
            </a:r>
          </a:p>
        </p:txBody>
      </p:sp>
      <p:sp>
        <p:nvSpPr>
          <p:cNvPr id="11" name="Rounded Rectangle 10"/>
          <p:cNvSpPr/>
          <p:nvPr/>
        </p:nvSpPr>
        <p:spPr>
          <a:xfrm>
            <a:off x="777240" y="3401568"/>
            <a:ext cx="10637215" cy="1060704"/>
          </a:xfrm>
          <a:prstGeom prst="roundRect">
            <a:avLst>
              <a:gd name="adj" fmla="val 5000"/>
            </a:avLst>
          </a:prstGeom>
          <a:solidFill>
            <a:srgbClr val="FFFFFF"/>
          </a:solidFill>
          <a:ln w="12700">
            <a:solidFill>
              <a:srgbClr val="E4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01568"/>
            <a:ext cx="10637215" cy="40640"/>
          </a:xfrm>
          <a:prstGeom prst="rect">
            <a:avLst/>
          </a:prstGeom>
          <a:solidFill>
            <a:srgbClr val="F0A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9848" y="3621024"/>
            <a:ext cx="2834640" cy="292608"/>
          </a:xfrm>
          <a:prstGeom prst="rect">
            <a:avLst/>
          </a:prstGeom>
          <a:noFill/>
        </p:spPr>
        <p:txBody>
          <a:bodyPr wrap="square" anchor="t" lIns="0" rIns="0" tIns="0" bIns="0">
            <a:spAutoFit/>
          </a:bodyPr>
          <a:lstStyle/>
          <a:p>
            <a:pPr algn="l">
              <a:lnSpc>
                <a:spcPct val="115000"/>
              </a:lnSpc>
            </a:pPr>
            <a:r>
              <a:rPr sz="1300" b="1" i="0">
                <a:solidFill>
                  <a:srgbClr val="1B1614"/>
                </a:solidFill>
                <a:latin typeface="Segoe UI"/>
              </a:rPr>
              <a:t>The public forum causes harm</a:t>
            </a:r>
          </a:p>
        </p:txBody>
      </p:sp>
      <p:sp>
        <p:nvSpPr>
          <p:cNvPr id="14" name="TextBox 13"/>
          <p:cNvSpPr txBox="1"/>
          <p:nvPr/>
        </p:nvSpPr>
        <p:spPr>
          <a:xfrm>
            <a:off x="1069848" y="3931920"/>
            <a:ext cx="2834640" cy="457200"/>
          </a:xfrm>
          <a:prstGeom prst="rect">
            <a:avLst/>
          </a:prstGeom>
          <a:noFill/>
        </p:spPr>
        <p:txBody>
          <a:bodyPr wrap="square" anchor="t" lIns="0" rIns="0" tIns="0" bIns="0">
            <a:spAutoFit/>
          </a:bodyPr>
          <a:lstStyle/>
          <a:p>
            <a:pPr algn="l">
              <a:lnSpc>
                <a:spcPct val="130000"/>
              </a:lnSpc>
            </a:pPr>
            <a:r>
              <a:rPr sz="950" b="0" i="0">
                <a:solidFill>
                  <a:srgbClr val="5A504A"/>
                </a:solidFill>
                <a:latin typeface="Segoe UI"/>
              </a:rPr>
              <a:t>Medical advice at public scale is a genuine liability and a genuine safety risk.</a:t>
            </a:r>
          </a:p>
        </p:txBody>
      </p:sp>
      <p:sp>
        <p:nvSpPr>
          <p:cNvPr id="15" name="TextBox 14"/>
          <p:cNvSpPr txBox="1"/>
          <p:nvPr/>
        </p:nvSpPr>
        <p:spPr>
          <a:xfrm>
            <a:off x="4123944" y="3621024"/>
            <a:ext cx="822960" cy="256032"/>
          </a:xfrm>
          <a:prstGeom prst="rect">
            <a:avLst/>
          </a:prstGeom>
          <a:noFill/>
        </p:spPr>
        <p:txBody>
          <a:bodyPr wrap="square" anchor="t" lIns="0" rIns="0" tIns="0" bIns="0">
            <a:spAutoFit/>
          </a:bodyPr>
          <a:lstStyle/>
          <a:p>
            <a:pPr algn="l">
              <a:lnSpc>
                <a:spcPct val="100000"/>
              </a:lnSpc>
            </a:pPr>
            <a:r>
              <a:rPr sz="850" b="1" i="0" spc="140">
                <a:solidFill>
                  <a:srgbClr val="F0A544"/>
                </a:solidFill>
                <a:latin typeface="Segoe UI"/>
              </a:rPr>
              <a:t>MITIGATION</a:t>
            </a:r>
          </a:p>
        </p:txBody>
      </p:sp>
      <p:sp>
        <p:nvSpPr>
          <p:cNvPr id="16" name="TextBox 15"/>
          <p:cNvSpPr txBox="1"/>
          <p:nvPr/>
        </p:nvSpPr>
        <p:spPr>
          <a:xfrm>
            <a:off x="5074920" y="3621024"/>
            <a:ext cx="6019495" cy="731520"/>
          </a:xfrm>
          <a:prstGeom prst="rect">
            <a:avLst/>
          </a:prstGeom>
          <a:noFill/>
        </p:spPr>
        <p:txBody>
          <a:bodyPr wrap="square" anchor="t" lIns="0" rIns="0" tIns="0" bIns="0">
            <a:spAutoFit/>
          </a:bodyPr>
          <a:lstStyle/>
          <a:p>
            <a:pPr algn="l">
              <a:lnSpc>
                <a:spcPct val="136000"/>
              </a:lnSpc>
            </a:pPr>
            <a:r>
              <a:rPr sz="1019" b="0" i="0">
                <a:solidFill>
                  <a:srgbClr val="5A504A"/>
                </a:solidFill>
                <a:latin typeface="Segoe UI"/>
              </a:rPr>
              <a:t>Non-dismissible disclaimers, keyword emergency interception before publication, verified vet and staff badges, coordinator alerting, legal review before launch.</a:t>
            </a:r>
          </a:p>
        </p:txBody>
      </p:sp>
      <p:sp>
        <p:nvSpPr>
          <p:cNvPr id="17" name="Rounded Rectangle 16"/>
          <p:cNvSpPr/>
          <p:nvPr/>
        </p:nvSpPr>
        <p:spPr>
          <a:xfrm>
            <a:off x="777240" y="4608576"/>
            <a:ext cx="10637215" cy="1060704"/>
          </a:xfrm>
          <a:prstGeom prst="roundRect">
            <a:avLst>
              <a:gd name="adj" fmla="val 5000"/>
            </a:avLst>
          </a:prstGeom>
          <a:solidFill>
            <a:srgbClr val="FFFFFF"/>
          </a:solidFill>
          <a:ln w="12700">
            <a:solidFill>
              <a:srgbClr val="E4DA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608576"/>
            <a:ext cx="10637215" cy="40640"/>
          </a:xfrm>
          <a:prstGeom prst="rect">
            <a:avLst/>
          </a:prstGeom>
          <a:solidFill>
            <a:srgbClr val="0B55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9848" y="4828032"/>
            <a:ext cx="2834640" cy="292608"/>
          </a:xfrm>
          <a:prstGeom prst="rect">
            <a:avLst/>
          </a:prstGeom>
          <a:noFill/>
        </p:spPr>
        <p:txBody>
          <a:bodyPr wrap="square" anchor="t" lIns="0" rIns="0" tIns="0" bIns="0">
            <a:spAutoFit/>
          </a:bodyPr>
          <a:lstStyle/>
          <a:p>
            <a:pPr algn="l">
              <a:lnSpc>
                <a:spcPct val="115000"/>
              </a:lnSpc>
            </a:pPr>
            <a:r>
              <a:rPr sz="1300" b="1" i="0">
                <a:solidFill>
                  <a:srgbClr val="1B1614"/>
                </a:solidFill>
                <a:latin typeface="Segoe UI"/>
              </a:rPr>
              <a:t>Foster PII leaks</a:t>
            </a:r>
          </a:p>
        </p:txBody>
      </p:sp>
      <p:sp>
        <p:nvSpPr>
          <p:cNvPr id="20" name="TextBox 19"/>
          <p:cNvSpPr txBox="1"/>
          <p:nvPr/>
        </p:nvSpPr>
        <p:spPr>
          <a:xfrm>
            <a:off x="1069848" y="5138928"/>
            <a:ext cx="2834640" cy="457200"/>
          </a:xfrm>
          <a:prstGeom prst="rect">
            <a:avLst/>
          </a:prstGeom>
          <a:noFill/>
        </p:spPr>
        <p:txBody>
          <a:bodyPr wrap="square" anchor="t" lIns="0" rIns="0" tIns="0" bIns="0">
            <a:spAutoFit/>
          </a:bodyPr>
          <a:lstStyle/>
          <a:p>
            <a:pPr algn="l">
              <a:lnSpc>
                <a:spcPct val="130000"/>
              </a:lnSpc>
            </a:pPr>
            <a:r>
              <a:rPr sz="950" b="0" i="0">
                <a:solidFill>
                  <a:srgbClr val="5A504A"/>
                </a:solidFill>
                <a:latin typeface="Segoe UI"/>
              </a:rPr>
              <a:t>Home addresses exposed on a public forum is a personal-safety risk, not a compliance footnote.</a:t>
            </a:r>
          </a:p>
        </p:txBody>
      </p:sp>
      <p:sp>
        <p:nvSpPr>
          <p:cNvPr id="21" name="TextBox 20"/>
          <p:cNvSpPr txBox="1"/>
          <p:nvPr/>
        </p:nvSpPr>
        <p:spPr>
          <a:xfrm>
            <a:off x="4123944" y="4828032"/>
            <a:ext cx="822960" cy="256032"/>
          </a:xfrm>
          <a:prstGeom prst="rect">
            <a:avLst/>
          </a:prstGeom>
          <a:noFill/>
        </p:spPr>
        <p:txBody>
          <a:bodyPr wrap="square" anchor="t" lIns="0" rIns="0" tIns="0" bIns="0">
            <a:spAutoFit/>
          </a:bodyPr>
          <a:lstStyle/>
          <a:p>
            <a:pPr algn="l">
              <a:lnSpc>
                <a:spcPct val="100000"/>
              </a:lnSpc>
            </a:pPr>
            <a:r>
              <a:rPr sz="850" b="1" i="0" spc="140">
                <a:solidFill>
                  <a:srgbClr val="0B554D"/>
                </a:solidFill>
                <a:latin typeface="Segoe UI"/>
              </a:rPr>
              <a:t>MITIGATION</a:t>
            </a:r>
          </a:p>
        </p:txBody>
      </p:sp>
      <p:sp>
        <p:nvSpPr>
          <p:cNvPr id="22" name="TextBox 21"/>
          <p:cNvSpPr txBox="1"/>
          <p:nvPr/>
        </p:nvSpPr>
        <p:spPr>
          <a:xfrm>
            <a:off x="5074920" y="4828032"/>
            <a:ext cx="6019495" cy="731520"/>
          </a:xfrm>
          <a:prstGeom prst="rect">
            <a:avLst/>
          </a:prstGeom>
          <a:noFill/>
        </p:spPr>
        <p:txBody>
          <a:bodyPr wrap="square" anchor="t" lIns="0" rIns="0" tIns="0" bIns="0">
            <a:spAutoFit/>
          </a:bodyPr>
          <a:lstStyle/>
          <a:p>
            <a:pPr algn="l">
              <a:lnSpc>
                <a:spcPct val="136000"/>
              </a:lnSpc>
            </a:pPr>
            <a:r>
              <a:rPr sz="1019" b="0" i="0">
                <a:solidFill>
                  <a:srgbClr val="5A504A"/>
                </a:solidFill>
                <a:latin typeface="Segoe UI"/>
              </a:rPr>
              <a:t>Automatic PII scrubbing pre-publication, unconditional EXIF and geolocation stripping on ingest, addresses restricted to admins, foster education at onboarding.</a:t>
            </a:r>
          </a:p>
        </p:txBody>
      </p:sp>
      <p:sp>
        <p:nvSpPr>
          <p:cNvPr id="23" name="Rounded Rectangle 22"/>
          <p:cNvSpPr/>
          <p:nvPr/>
        </p:nvSpPr>
        <p:spPr>
          <a:xfrm>
            <a:off x="777240" y="5779008"/>
            <a:ext cx="10637215" cy="658368"/>
          </a:xfrm>
          <a:prstGeom prst="roundRect">
            <a:avLst>
              <a:gd name="adj" fmla="val 5000"/>
            </a:avLst>
          </a:prstGeom>
          <a:solidFill>
            <a:srgbClr val="F0E7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9848" y="5925312"/>
            <a:ext cx="10051999" cy="402336"/>
          </a:xfrm>
          <a:prstGeom prst="rect">
            <a:avLst/>
          </a:prstGeom>
          <a:noFill/>
        </p:spPr>
        <p:txBody>
          <a:bodyPr wrap="square" anchor="t" lIns="0" rIns="0" tIns="0" bIns="0">
            <a:spAutoFit/>
          </a:bodyPr>
          <a:lstStyle/>
          <a:p>
            <a:pPr algn="l">
              <a:lnSpc>
                <a:spcPct val="130000"/>
              </a:lnSpc>
            </a:pPr>
            <a:r>
              <a:rPr sz="1050" b="1" i="0">
                <a:solidFill>
                  <a:srgbClr val="1B1614"/>
                </a:solidFill>
                <a:latin typeface="Segoe UI"/>
              </a:rPr>
              <a:t>And one standing obligation: we are a system of record now. Soft-delete only, point-in-time reconstruction of any animal record, and restore drills rehearsed quarterly — not assumed.</a:t>
            </a:r>
          </a:p>
        </p:txBody>
      </p:sp>
      <p:sp>
        <p:nvSpPr>
          <p:cNvPr id="25" name="TextBox 24"/>
          <p:cNvSpPr txBox="1"/>
          <p:nvPr/>
        </p:nvSpPr>
        <p:spPr>
          <a:xfrm>
            <a:off x="777240" y="6345936"/>
            <a:ext cx="7315200" cy="274320"/>
          </a:xfrm>
          <a:prstGeom prst="rect">
            <a:avLst/>
          </a:prstGeom>
          <a:noFill/>
        </p:spPr>
        <p:txBody>
          <a:bodyPr wrap="square" anchor="t" lIns="0" rIns="0" tIns="0" bIns="0">
            <a:spAutoFit/>
          </a:bodyPr>
          <a:lstStyle/>
          <a:p>
            <a:pPr algn="l">
              <a:lnSpc>
                <a:spcPct val="100000"/>
              </a:lnSpc>
            </a:pPr>
            <a:r>
              <a:rPr sz="900" b="0" i="0">
                <a:solidFill>
                  <a:srgbClr val="7C6F66"/>
                </a:solidFill>
                <a:latin typeface="Segoe UI"/>
              </a:rPr>
              <a:t>The Foster Pack  ·  Confidential</a:t>
            </a:r>
          </a:p>
        </p:txBody>
      </p:sp>
      <p:sp>
        <p:nvSpPr>
          <p:cNvPr id="26" name="TextBox 25"/>
          <p:cNvSpPr txBox="1"/>
          <p:nvPr/>
        </p:nvSpPr>
        <p:spPr>
          <a:xfrm>
            <a:off x="10515600" y="6345936"/>
            <a:ext cx="896112" cy="274320"/>
          </a:xfrm>
          <a:prstGeom prst="rect">
            <a:avLst/>
          </a:prstGeom>
          <a:noFill/>
        </p:spPr>
        <p:txBody>
          <a:bodyPr wrap="square" anchor="t" lIns="0" rIns="0" tIns="0" bIns="0">
            <a:spAutoFit/>
          </a:bodyPr>
          <a:lstStyle/>
          <a:p>
            <a:pPr algn="r">
              <a:lnSpc>
                <a:spcPct val="100000"/>
              </a:lnSpc>
            </a:pPr>
            <a:r>
              <a:rPr sz="900" b="1" i="0">
                <a:solidFill>
                  <a:srgbClr val="7C6F66"/>
                </a:solidFill>
                <a:latin typeface="Segoe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554D"/>
              </a:gs>
              <a:gs pos="100000">
                <a:srgbClr val="0C0A09"/>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298448"/>
            <a:ext cx="10637215" cy="274320"/>
          </a:xfrm>
          <a:prstGeom prst="rect">
            <a:avLst/>
          </a:prstGeom>
          <a:noFill/>
        </p:spPr>
        <p:txBody>
          <a:bodyPr wrap="square" anchor="t" lIns="0" rIns="0" tIns="0" bIns="0">
            <a:spAutoFit/>
          </a:bodyPr>
          <a:lstStyle/>
          <a:p>
            <a:pPr algn="l">
              <a:lnSpc>
                <a:spcPct val="100000"/>
              </a:lnSpc>
            </a:pPr>
            <a:r>
              <a:rPr sz="1050" b="1" i="0" spc="190">
                <a:solidFill>
                  <a:srgbClr val="F0A544"/>
                </a:solidFill>
                <a:latin typeface="Segoe UI"/>
              </a:rPr>
              <a:t>THE ASK</a:t>
            </a:r>
          </a:p>
        </p:txBody>
      </p:sp>
      <p:sp>
        <p:nvSpPr>
          <p:cNvPr id="4" name="TextBox 3"/>
          <p:cNvSpPr txBox="1"/>
          <p:nvPr/>
        </p:nvSpPr>
        <p:spPr>
          <a:xfrm>
            <a:off x="777240" y="1664208"/>
            <a:ext cx="10637215" cy="1371600"/>
          </a:xfrm>
          <a:prstGeom prst="rect">
            <a:avLst/>
          </a:prstGeom>
          <a:noFill/>
        </p:spPr>
        <p:txBody>
          <a:bodyPr wrap="square" anchor="t" lIns="0" rIns="0" tIns="0" bIns="0">
            <a:spAutoFit/>
          </a:bodyPr>
          <a:lstStyle/>
          <a:p>
            <a:pPr algn="l">
              <a:lnSpc>
                <a:spcPct val="108000"/>
              </a:lnSpc>
            </a:pPr>
            <a:r>
              <a:rPr sz="4400" b="1" i="0">
                <a:solidFill>
                  <a:srgbClr val="FFFFFF"/>
                </a:solidFill>
                <a:latin typeface="Segoe UI"/>
              </a:rPr>
              <a:t>Fund the pilot. Prove the funnel.</a:t>
            </a:r>
          </a:p>
        </p:txBody>
      </p:sp>
      <p:sp>
        <p:nvSpPr>
          <p:cNvPr id="5" name="TextBox 4"/>
          <p:cNvSpPr txBox="1"/>
          <p:nvPr/>
        </p:nvSpPr>
        <p:spPr>
          <a:xfrm>
            <a:off x="777240" y="2743200"/>
            <a:ext cx="502920" cy="320040"/>
          </a:xfrm>
          <a:prstGeom prst="rect">
            <a:avLst/>
          </a:prstGeom>
          <a:noFill/>
        </p:spPr>
        <p:txBody>
          <a:bodyPr wrap="square" anchor="t" lIns="0" rIns="0" tIns="0" bIns="0">
            <a:spAutoFit/>
          </a:bodyPr>
          <a:lstStyle/>
          <a:p>
            <a:pPr algn="l">
              <a:lnSpc>
                <a:spcPct val="100000"/>
              </a:lnSpc>
            </a:pPr>
            <a:r>
              <a:rPr sz="1300" b="1" i="0">
                <a:solidFill>
                  <a:srgbClr val="F0A544"/>
                </a:solidFill>
                <a:latin typeface="Segoe UI"/>
              </a:rPr>
              <a:t>01</a:t>
            </a:r>
          </a:p>
        </p:txBody>
      </p:sp>
      <p:sp>
        <p:nvSpPr>
          <p:cNvPr id="6" name="TextBox 5"/>
          <p:cNvSpPr txBox="1"/>
          <p:nvPr/>
        </p:nvSpPr>
        <p:spPr>
          <a:xfrm>
            <a:off x="1344168" y="2715768"/>
            <a:ext cx="8942832" cy="320040"/>
          </a:xfrm>
          <a:prstGeom prst="rect">
            <a:avLst/>
          </a:prstGeom>
          <a:noFill/>
        </p:spPr>
        <p:txBody>
          <a:bodyPr wrap="square" anchor="t" lIns="0" rIns="0" tIns="0" bIns="0">
            <a:spAutoFit/>
          </a:bodyPr>
          <a:lstStyle/>
          <a:p>
            <a:pPr algn="l">
              <a:lnSpc>
                <a:spcPct val="120000"/>
              </a:lnSpc>
            </a:pPr>
            <a:r>
              <a:rPr sz="1400" b="1" i="0">
                <a:solidFill>
                  <a:srgbClr val="FFFFFF"/>
                </a:solidFill>
                <a:latin typeface="Segoe UI"/>
              </a:rPr>
              <a:t>Approve the SFSPCA pilot cohort — and capture baselines first.</a:t>
            </a:r>
          </a:p>
        </p:txBody>
      </p:sp>
      <p:sp>
        <p:nvSpPr>
          <p:cNvPr id="7" name="TextBox 6"/>
          <p:cNvSpPr txBox="1"/>
          <p:nvPr/>
        </p:nvSpPr>
        <p:spPr>
          <a:xfrm>
            <a:off x="1344168" y="2980944"/>
            <a:ext cx="8942832" cy="457200"/>
          </a:xfrm>
          <a:prstGeom prst="rect">
            <a:avLst/>
          </a:prstGeom>
          <a:noFill/>
        </p:spPr>
        <p:txBody>
          <a:bodyPr wrap="square" anchor="t" lIns="0" rIns="0" tIns="0" bIns="0">
            <a:spAutoFit/>
          </a:bodyPr>
          <a:lstStyle/>
          <a:p>
            <a:pPr algn="l">
              <a:lnSpc>
                <a:spcPct val="134000"/>
              </a:lnSpc>
            </a:pPr>
            <a:r>
              <a:rPr sz="1050" b="0" i="0">
                <a:solidFill>
                  <a:srgbClr val="A89F97"/>
                </a:solidFill>
                <a:latin typeface="Segoe UI"/>
              </a:rPr>
              <a:t>Coordinator hours, foster retention and length of stay cannot be measured retroactively. Baseline capture is a prerequisite, not a phase.</a:t>
            </a:r>
          </a:p>
        </p:txBody>
      </p:sp>
      <p:sp>
        <p:nvSpPr>
          <p:cNvPr id="8" name="TextBox 7"/>
          <p:cNvSpPr txBox="1"/>
          <p:nvPr/>
        </p:nvSpPr>
        <p:spPr>
          <a:xfrm>
            <a:off x="777240" y="3712464"/>
            <a:ext cx="502920" cy="320040"/>
          </a:xfrm>
          <a:prstGeom prst="rect">
            <a:avLst/>
          </a:prstGeom>
          <a:noFill/>
        </p:spPr>
        <p:txBody>
          <a:bodyPr wrap="square" anchor="t" lIns="0" rIns="0" tIns="0" bIns="0">
            <a:spAutoFit/>
          </a:bodyPr>
          <a:lstStyle/>
          <a:p>
            <a:pPr algn="l">
              <a:lnSpc>
                <a:spcPct val="100000"/>
              </a:lnSpc>
            </a:pPr>
            <a:r>
              <a:rPr sz="1300" b="1" i="0">
                <a:solidFill>
                  <a:srgbClr val="F0A544"/>
                </a:solidFill>
                <a:latin typeface="Segoe UI"/>
              </a:rPr>
              <a:t>02</a:t>
            </a:r>
          </a:p>
        </p:txBody>
      </p:sp>
      <p:sp>
        <p:nvSpPr>
          <p:cNvPr id="9" name="TextBox 8"/>
          <p:cNvSpPr txBox="1"/>
          <p:nvPr/>
        </p:nvSpPr>
        <p:spPr>
          <a:xfrm>
            <a:off x="1344168" y="3685032"/>
            <a:ext cx="8942832" cy="320040"/>
          </a:xfrm>
          <a:prstGeom prst="rect">
            <a:avLst/>
          </a:prstGeom>
          <a:noFill/>
        </p:spPr>
        <p:txBody>
          <a:bodyPr wrap="square" anchor="t" lIns="0" rIns="0" tIns="0" bIns="0">
            <a:spAutoFit/>
          </a:bodyPr>
          <a:lstStyle/>
          <a:p>
            <a:pPr algn="l">
              <a:lnSpc>
                <a:spcPct val="120000"/>
              </a:lnSpc>
            </a:pPr>
            <a:r>
              <a:rPr sz="1400" b="1" i="0">
                <a:solidFill>
                  <a:srgbClr val="FFFFFF"/>
                </a:solidFill>
                <a:latin typeface="Segoe UI"/>
              </a:rPr>
              <a:t>Settle the seven blocking decisions.</a:t>
            </a:r>
          </a:p>
        </p:txBody>
      </p:sp>
      <p:sp>
        <p:nvSpPr>
          <p:cNvPr id="10" name="TextBox 9"/>
          <p:cNvSpPr txBox="1"/>
          <p:nvPr/>
        </p:nvSpPr>
        <p:spPr>
          <a:xfrm>
            <a:off x="1344168" y="3950208"/>
            <a:ext cx="8942832" cy="457200"/>
          </a:xfrm>
          <a:prstGeom prst="rect">
            <a:avLst/>
          </a:prstGeom>
          <a:noFill/>
        </p:spPr>
        <p:txBody>
          <a:bodyPr wrap="square" anchor="t" lIns="0" rIns="0" tIns="0" bIns="0">
            <a:spAutoFit/>
          </a:bodyPr>
          <a:lstStyle/>
          <a:p>
            <a:pPr algn="l">
              <a:lnSpc>
                <a:spcPct val="134000"/>
              </a:lnSpc>
            </a:pPr>
            <a:r>
              <a:rPr sz="1050" b="0" i="0">
                <a:solidFill>
                  <a:srgbClr val="A89F97"/>
                </a:solidFill>
                <a:latin typeface="Segoe UI"/>
              </a:rPr>
              <a:t>Stack, hosting, model provider and self-hosting posture, PetPoint cutover and parallel-run exit criteria.</a:t>
            </a:r>
          </a:p>
        </p:txBody>
      </p:sp>
      <p:sp>
        <p:nvSpPr>
          <p:cNvPr id="11" name="TextBox 10"/>
          <p:cNvSpPr txBox="1"/>
          <p:nvPr/>
        </p:nvSpPr>
        <p:spPr>
          <a:xfrm>
            <a:off x="777240" y="4681728"/>
            <a:ext cx="502920" cy="320040"/>
          </a:xfrm>
          <a:prstGeom prst="rect">
            <a:avLst/>
          </a:prstGeom>
          <a:noFill/>
        </p:spPr>
        <p:txBody>
          <a:bodyPr wrap="square" anchor="t" lIns="0" rIns="0" tIns="0" bIns="0">
            <a:spAutoFit/>
          </a:bodyPr>
          <a:lstStyle/>
          <a:p>
            <a:pPr algn="l">
              <a:lnSpc>
                <a:spcPct val="100000"/>
              </a:lnSpc>
            </a:pPr>
            <a:r>
              <a:rPr sz="1300" b="1" i="0">
                <a:solidFill>
                  <a:srgbClr val="F0A544"/>
                </a:solidFill>
                <a:latin typeface="Segoe UI"/>
              </a:rPr>
              <a:t>03</a:t>
            </a:r>
          </a:p>
        </p:txBody>
      </p:sp>
      <p:sp>
        <p:nvSpPr>
          <p:cNvPr id="12" name="TextBox 11"/>
          <p:cNvSpPr txBox="1"/>
          <p:nvPr/>
        </p:nvSpPr>
        <p:spPr>
          <a:xfrm>
            <a:off x="1344168" y="4654296"/>
            <a:ext cx="8942832" cy="320040"/>
          </a:xfrm>
          <a:prstGeom prst="rect">
            <a:avLst/>
          </a:prstGeom>
          <a:noFill/>
        </p:spPr>
        <p:txBody>
          <a:bodyPr wrap="square" anchor="t" lIns="0" rIns="0" tIns="0" bIns="0">
            <a:spAutoFit/>
          </a:bodyPr>
          <a:lstStyle/>
          <a:p>
            <a:pPr algn="l">
              <a:lnSpc>
                <a:spcPct val="120000"/>
              </a:lnSpc>
            </a:pPr>
            <a:r>
              <a:rPr sz="1400" b="1" i="0">
                <a:solidFill>
                  <a:srgbClr val="FFFFFF"/>
                </a:solidFill>
                <a:latin typeface="Segoe UI"/>
              </a:rPr>
              <a:t>Staff platform and shelter operations properly, and start the forum legal track on day one.</a:t>
            </a:r>
          </a:p>
        </p:txBody>
      </p:sp>
      <p:sp>
        <p:nvSpPr>
          <p:cNvPr id="13" name="TextBox 12"/>
          <p:cNvSpPr txBox="1"/>
          <p:nvPr/>
        </p:nvSpPr>
        <p:spPr>
          <a:xfrm>
            <a:off x="1344168" y="4919472"/>
            <a:ext cx="8942832" cy="457200"/>
          </a:xfrm>
          <a:prstGeom prst="rect">
            <a:avLst/>
          </a:prstGeom>
          <a:noFill/>
        </p:spPr>
        <p:txBody>
          <a:bodyPr wrap="square" anchor="t" lIns="0" rIns="0" tIns="0" bIns="0">
            <a:spAutoFit/>
          </a:bodyPr>
          <a:lstStyle/>
          <a:p>
            <a:pPr algn="l">
              <a:lnSpc>
                <a:spcPct val="134000"/>
              </a:lnSpc>
            </a:pPr>
            <a:r>
              <a:rPr sz="1050" b="0" i="0">
                <a:solidFill>
                  <a:srgbClr val="A89F97"/>
                </a:solidFill>
                <a:latin typeface="Segoe UI"/>
              </a:rPr>
              <a:t>Never under-staff T1 or T4. The forum's policy work begins at M1 regardless of when its engineering does.</a:t>
            </a:r>
          </a:p>
        </p:txBody>
      </p:sp>
      <p:sp>
        <p:nvSpPr>
          <p:cNvPr id="14" name="Rectangle 13"/>
          <p:cNvSpPr/>
          <p:nvPr/>
        </p:nvSpPr>
        <p:spPr>
          <a:xfrm>
            <a:off x="777240" y="5522976"/>
            <a:ext cx="1920240" cy="38100"/>
          </a:xfrm>
          <a:prstGeom prst="rect">
            <a:avLst/>
          </a:prstGeom>
          <a:solidFill>
            <a:srgbClr val="F0A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760720"/>
            <a:ext cx="9509760" cy="457200"/>
          </a:xfrm>
          <a:prstGeom prst="rect">
            <a:avLst/>
          </a:prstGeom>
          <a:noFill/>
        </p:spPr>
        <p:txBody>
          <a:bodyPr wrap="square" anchor="t" lIns="0" rIns="0" tIns="0" bIns="0">
            <a:spAutoFit/>
          </a:bodyPr>
          <a:lstStyle/>
          <a:p>
            <a:pPr algn="l">
              <a:lnSpc>
                <a:spcPct val="120000"/>
              </a:lnSpc>
            </a:pPr>
            <a:r>
              <a:rPr sz="1700" b="1" i="0">
                <a:solidFill>
                  <a:srgbClr val="FFFFFF"/>
                </a:solidFill>
                <a:latin typeface="Segoe UI"/>
              </a:rPr>
              <a:t>Every dog's story, written by everyone who cares for them.</a:t>
            </a:r>
          </a:p>
        </p:txBody>
      </p:sp>
      <p:sp>
        <p:nvSpPr>
          <p:cNvPr id="16" name="TextBox 15"/>
          <p:cNvSpPr txBox="1"/>
          <p:nvPr/>
        </p:nvSpPr>
        <p:spPr>
          <a:xfrm>
            <a:off x="777240" y="6345936"/>
            <a:ext cx="7315200" cy="274320"/>
          </a:xfrm>
          <a:prstGeom prst="rect">
            <a:avLst/>
          </a:prstGeom>
          <a:noFill/>
        </p:spPr>
        <p:txBody>
          <a:bodyPr wrap="square" anchor="t" lIns="0" rIns="0" tIns="0" bIns="0">
            <a:spAutoFit/>
          </a:bodyPr>
          <a:lstStyle/>
          <a:p>
            <a:pPr algn="l">
              <a:lnSpc>
                <a:spcPct val="100000"/>
              </a:lnSpc>
            </a:pPr>
            <a:r>
              <a:rPr sz="900" b="0" i="0">
                <a:solidFill>
                  <a:srgbClr val="FFFFFF"/>
                </a:solidFill>
                <a:latin typeface="Segoe UI"/>
              </a:rPr>
              <a:t>The Foster Pack  ·  Confidential</a:t>
            </a:r>
          </a:p>
        </p:txBody>
      </p:sp>
      <p:sp>
        <p:nvSpPr>
          <p:cNvPr id="17" name="TextBox 16"/>
          <p:cNvSpPr txBox="1"/>
          <p:nvPr/>
        </p:nvSpPr>
        <p:spPr>
          <a:xfrm>
            <a:off x="10515600" y="6345936"/>
            <a:ext cx="896112" cy="274320"/>
          </a:xfrm>
          <a:prstGeom prst="rect">
            <a:avLst/>
          </a:prstGeom>
          <a:noFill/>
        </p:spPr>
        <p:txBody>
          <a:bodyPr wrap="square" anchor="t" lIns="0" rIns="0" tIns="0" bIns="0">
            <a:spAutoFit/>
          </a:bodyPr>
          <a:lstStyle/>
          <a:p>
            <a:pPr algn="r">
              <a:lnSpc>
                <a:spcPct val="100000"/>
              </a:lnSpc>
            </a:pPr>
            <a:r>
              <a:rPr sz="900" b="1" i="0">
                <a:solidFill>
                  <a:srgbClr val="FFFFFF"/>
                </a:solidFill>
                <a:latin typeface="Segoe UI"/>
              </a:rPr>
              <a:t>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